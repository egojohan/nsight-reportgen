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2.xml" ContentType="application/vnd.openxmlformats-officedocument.drawingml.chartshape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2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3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4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notesSlides/notesSlide7.xml" ContentType="application/vnd.openxmlformats-officedocument.presentationml.notesSlid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notesSlides/notesSlide8.xml" ContentType="application/vnd.openxmlformats-officedocument.presentationml.notesSlid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36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37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notesSlides/notesSlide9.xml" ContentType="application/vnd.openxmlformats-officedocument.presentationml.notesSlide+xml"/>
  <Override PartName="/ppt/charts/chart38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notesSlides/notesSlide10.xml" ContentType="application/vnd.openxmlformats-officedocument.presentationml.notesSlide+xml"/>
  <Override PartName="/ppt/charts/chart3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charts/chart40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charts/chart41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charts/chart42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charts/chart43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charts/chart44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charts/chart45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577" r:id="rId5"/>
    <p:sldId id="578" r:id="rId6"/>
    <p:sldId id="579" r:id="rId7"/>
    <p:sldId id="587" r:id="rId8"/>
    <p:sldId id="588" r:id="rId9"/>
    <p:sldId id="719" r:id="rId10"/>
    <p:sldId id="706" r:id="rId11"/>
    <p:sldId id="693" r:id="rId12"/>
    <p:sldId id="694" r:id="rId13"/>
    <p:sldId id="653" r:id="rId14"/>
    <p:sldId id="629" r:id="rId15"/>
    <p:sldId id="704" r:id="rId16"/>
    <p:sldId id="695" r:id="rId17"/>
    <p:sldId id="715" r:id="rId18"/>
    <p:sldId id="633" r:id="rId19"/>
    <p:sldId id="634" r:id="rId20"/>
    <p:sldId id="696" r:id="rId21"/>
    <p:sldId id="707" r:id="rId22"/>
    <p:sldId id="708" r:id="rId23"/>
    <p:sldId id="709" r:id="rId24"/>
    <p:sldId id="711" r:id="rId25"/>
    <p:sldId id="710" r:id="rId26"/>
    <p:sldId id="730" r:id="rId27"/>
    <p:sldId id="697" r:id="rId28"/>
    <p:sldId id="610" r:id="rId29"/>
    <p:sldId id="699" r:id="rId30"/>
    <p:sldId id="701" r:id="rId31"/>
    <p:sldId id="700" r:id="rId32"/>
    <p:sldId id="703" r:id="rId33"/>
    <p:sldId id="729" r:id="rId34"/>
    <p:sldId id="732" r:id="rId35"/>
    <p:sldId id="731" r:id="rId36"/>
    <p:sldId id="728" r:id="rId37"/>
    <p:sldId id="713" r:id="rId38"/>
    <p:sldId id="733" r:id="rId39"/>
    <p:sldId id="727" r:id="rId40"/>
    <p:sldId id="718" r:id="rId41"/>
    <p:sldId id="714" r:id="rId42"/>
    <p:sldId id="734" r:id="rId43"/>
    <p:sldId id="720" r:id="rId44"/>
    <p:sldId id="735" r:id="rId45"/>
    <p:sldId id="721" r:id="rId46"/>
    <p:sldId id="736" r:id="rId47"/>
    <p:sldId id="722" r:id="rId48"/>
    <p:sldId id="737" r:id="rId49"/>
    <p:sldId id="723" r:id="rId50"/>
    <p:sldId id="738" r:id="rId51"/>
    <p:sldId id="725" r:id="rId52"/>
    <p:sldId id="739" r:id="rId53"/>
    <p:sldId id="724" r:id="rId54"/>
    <p:sldId id="740" r:id="rId55"/>
    <p:sldId id="698" r:id="rId56"/>
    <p:sldId id="652" r:id="rId57"/>
    <p:sldId id="643" r:id="rId58"/>
    <p:sldId id="644" r:id="rId59"/>
    <p:sldId id="581" r:id="rId60"/>
  </p:sldIdLst>
  <p:sldSz cx="12192000" cy="6858000"/>
  <p:notesSz cx="6858000" cy="9144000"/>
  <p:custDataLst>
    <p:tags r:id="rId63"/>
  </p:custDataLst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81D898-F26A-4EA2-5F55-097CC1857F9F}" name="Anna Sirkiä" initials="AS" userId="S::anna.sirkia@nsight.fi::4054ca7b-9f1f-4d43-92c6-5d1840df0dd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A09B"/>
    <a:srgbClr val="55A0A5"/>
    <a:srgbClr val="FAD7AF"/>
    <a:srgbClr val="FC9090"/>
    <a:srgbClr val="122D49"/>
    <a:srgbClr val="F9CD9D"/>
    <a:srgbClr val="FFFFFF"/>
    <a:srgbClr val="BA5C91"/>
    <a:srgbClr val="BA4F96"/>
    <a:srgbClr val="1437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254B1-C90C-40D6-BCDA-F08A149F2607}" v="1313" dt="2025-12-11T12:35:03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llanmörkt format 2 - Dekorfärg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llanmörkt format 2 - Dekorfärg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51" d="100"/>
          <a:sy n="51" d="100"/>
        </p:scale>
        <p:origin x="11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tags" Target="tags/tag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7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lma Nurmela" userId="497a2336-e277-4563-b263-10e00b39d937" providerId="ADAL" clId="{C4885F4D-F8A7-4CA6-83F7-3C910913C309}"/>
    <pc:docChg chg="undo redo custSel addSld delSld modSld sldOrd">
      <pc:chgData name="Vilma Nurmela" userId="497a2336-e277-4563-b263-10e00b39d937" providerId="ADAL" clId="{C4885F4D-F8A7-4CA6-83F7-3C910913C309}" dt="2025-12-11T12:35:03.942" v="18929"/>
      <pc:docMkLst>
        <pc:docMk/>
      </pc:docMkLst>
      <pc:sldChg chg="modSp mod">
        <pc:chgData name="Vilma Nurmela" userId="497a2336-e277-4563-b263-10e00b39d937" providerId="ADAL" clId="{C4885F4D-F8A7-4CA6-83F7-3C910913C309}" dt="2025-11-22T11:49:07.054" v="6032" actId="20577"/>
        <pc:sldMkLst>
          <pc:docMk/>
          <pc:sldMk cId="261689377" sldId="577"/>
        </pc:sldMkLst>
        <pc:spChg chg="mod">
          <ac:chgData name="Vilma Nurmela" userId="497a2336-e277-4563-b263-10e00b39d937" providerId="ADAL" clId="{C4885F4D-F8A7-4CA6-83F7-3C910913C309}" dt="2025-11-22T11:49:07.054" v="6032" actId="20577"/>
          <ac:spMkLst>
            <pc:docMk/>
            <pc:sldMk cId="261689377" sldId="577"/>
            <ac:spMk id="7" creationId="{EAA5C435-3BB6-4B03-89F4-A59D3B42EDB7}"/>
          </ac:spMkLst>
        </pc:spChg>
      </pc:sldChg>
      <pc:sldChg chg="modSp mod">
        <pc:chgData name="Vilma Nurmela" userId="497a2336-e277-4563-b263-10e00b39d937" providerId="ADAL" clId="{C4885F4D-F8A7-4CA6-83F7-3C910913C309}" dt="2025-11-18T11:01:41.004" v="131" actId="20577"/>
        <pc:sldMkLst>
          <pc:docMk/>
          <pc:sldMk cId="3026858822" sldId="587"/>
        </pc:sldMkLst>
        <pc:spChg chg="mod">
          <ac:chgData name="Vilma Nurmela" userId="497a2336-e277-4563-b263-10e00b39d937" providerId="ADAL" clId="{C4885F4D-F8A7-4CA6-83F7-3C910913C309}" dt="2025-11-18T11:01:41.004" v="131" actId="20577"/>
          <ac:spMkLst>
            <pc:docMk/>
            <pc:sldMk cId="3026858822" sldId="587"/>
            <ac:spMk id="8" creationId="{FCA425E2-0304-43D5-0112-F1B8C4FAB1DE}"/>
          </ac:spMkLst>
        </pc:spChg>
      </pc:sldChg>
      <pc:sldChg chg="addSp delSp modSp mod">
        <pc:chgData name="Vilma Nurmela" userId="497a2336-e277-4563-b263-10e00b39d937" providerId="ADAL" clId="{C4885F4D-F8A7-4CA6-83F7-3C910913C309}" dt="2025-12-11T12:28:47.980" v="18926" actId="20577"/>
        <pc:sldMkLst>
          <pc:docMk/>
          <pc:sldMk cId="3230502018" sldId="610"/>
        </pc:sldMkLst>
        <pc:spChg chg="add mod">
          <ac:chgData name="Vilma Nurmela" userId="497a2336-e277-4563-b263-10e00b39d937" providerId="ADAL" clId="{C4885F4D-F8A7-4CA6-83F7-3C910913C309}" dt="2025-11-22T11:55:28.601" v="6289" actId="404"/>
          <ac:spMkLst>
            <pc:docMk/>
            <pc:sldMk cId="3230502018" sldId="610"/>
            <ac:spMk id="2" creationId="{0DC8CC82-B73B-92DB-2D2D-1BF8948EDA3B}"/>
          </ac:spMkLst>
        </pc:spChg>
        <pc:spChg chg="add mod">
          <ac:chgData name="Vilma Nurmela" userId="497a2336-e277-4563-b263-10e00b39d937" providerId="ADAL" clId="{C4885F4D-F8A7-4CA6-83F7-3C910913C309}" dt="2025-11-22T11:55:28.601" v="6289" actId="404"/>
          <ac:spMkLst>
            <pc:docMk/>
            <pc:sldMk cId="3230502018" sldId="610"/>
            <ac:spMk id="6" creationId="{269F833A-BE98-F2B9-A6AA-AC26DF78581D}"/>
          </ac:spMkLst>
        </pc:spChg>
        <pc:spChg chg="add mod">
          <ac:chgData name="Vilma Nurmela" userId="497a2336-e277-4563-b263-10e00b39d937" providerId="ADAL" clId="{C4885F4D-F8A7-4CA6-83F7-3C910913C309}" dt="2025-11-22T11:55:28.601" v="6289" actId="404"/>
          <ac:spMkLst>
            <pc:docMk/>
            <pc:sldMk cId="3230502018" sldId="610"/>
            <ac:spMk id="7" creationId="{E9D6F8C3-4D26-11A1-2257-59E9C665F403}"/>
          </ac:spMkLst>
        </pc:spChg>
        <pc:spChg chg="add mod">
          <ac:chgData name="Vilma Nurmela" userId="497a2336-e277-4563-b263-10e00b39d937" providerId="ADAL" clId="{C4885F4D-F8A7-4CA6-83F7-3C910913C309}" dt="2025-11-22T13:13:04.730" v="6852" actId="20577"/>
          <ac:spMkLst>
            <pc:docMk/>
            <pc:sldMk cId="3230502018" sldId="610"/>
            <ac:spMk id="8" creationId="{2FB9EC3D-C3F9-094B-3EB0-FAC9EDA46B05}"/>
          </ac:spMkLst>
        </pc:spChg>
        <pc:spChg chg="mod">
          <ac:chgData name="Vilma Nurmela" userId="497a2336-e277-4563-b263-10e00b39d937" providerId="ADAL" clId="{C4885F4D-F8A7-4CA6-83F7-3C910913C309}" dt="2025-12-11T12:28:47.980" v="18926" actId="20577"/>
          <ac:spMkLst>
            <pc:docMk/>
            <pc:sldMk cId="3230502018" sldId="610"/>
            <ac:spMk id="9" creationId="{C4CAF5C7-4B43-D65E-4067-1FCDC6E72116}"/>
          </ac:spMkLst>
        </pc:spChg>
        <pc:picChg chg="add mod">
          <ac:chgData name="Vilma Nurmela" userId="497a2336-e277-4563-b263-10e00b39d937" providerId="ADAL" clId="{C4885F4D-F8A7-4CA6-83F7-3C910913C309}" dt="2025-11-22T14:28:35.302" v="8492" actId="14100"/>
          <ac:picMkLst>
            <pc:docMk/>
            <pc:sldMk cId="3230502018" sldId="610"/>
            <ac:picMk id="1028" creationId="{82F4BEFF-B3F4-11A6-473A-C9986D0DE8E5}"/>
          </ac:picMkLst>
        </pc:picChg>
      </pc:sldChg>
      <pc:sldChg chg="addSp delSp modSp mod">
        <pc:chgData name="Vilma Nurmela" userId="497a2336-e277-4563-b263-10e00b39d937" providerId="ADAL" clId="{C4885F4D-F8A7-4CA6-83F7-3C910913C309}" dt="2025-11-18T14:34:44.628" v="4133" actId="478"/>
        <pc:sldMkLst>
          <pc:docMk/>
          <pc:sldMk cId="1198625878" sldId="629"/>
        </pc:sldMkLst>
      </pc:sldChg>
      <pc:sldChg chg="addSp delSp modSp mod">
        <pc:chgData name="Vilma Nurmela" userId="497a2336-e277-4563-b263-10e00b39d937" providerId="ADAL" clId="{C4885F4D-F8A7-4CA6-83F7-3C910913C309}" dt="2025-12-10T07:23:15.308" v="18215" actId="27918"/>
        <pc:sldMkLst>
          <pc:docMk/>
          <pc:sldMk cId="136654575" sldId="633"/>
        </pc:sldMkLst>
        <pc:spChg chg="mod">
          <ac:chgData name="Vilma Nurmela" userId="497a2336-e277-4563-b263-10e00b39d937" providerId="ADAL" clId="{C4885F4D-F8A7-4CA6-83F7-3C910913C309}" dt="2025-11-25T13:10:53.669" v="8775" actId="20577"/>
          <ac:spMkLst>
            <pc:docMk/>
            <pc:sldMk cId="136654575" sldId="633"/>
            <ac:spMk id="3" creationId="{5EDCBAF3-9722-1ABD-FC73-350A2194F549}"/>
          </ac:spMkLst>
        </pc:spChg>
        <pc:spChg chg="mod">
          <ac:chgData name="Vilma Nurmela" userId="497a2336-e277-4563-b263-10e00b39d937" providerId="ADAL" clId="{C4885F4D-F8A7-4CA6-83F7-3C910913C309}" dt="2025-11-22T12:34:26.604" v="6295" actId="20577"/>
          <ac:spMkLst>
            <pc:docMk/>
            <pc:sldMk cId="136654575" sldId="633"/>
            <ac:spMk id="6" creationId="{B0F4D39B-3C7D-632C-4097-B5550116A15A}"/>
          </ac:spMkLst>
        </pc:spChg>
        <pc:graphicFrameChg chg="mod">
          <ac:chgData name="Vilma Nurmela" userId="497a2336-e277-4563-b263-10e00b39d937" providerId="ADAL" clId="{C4885F4D-F8A7-4CA6-83F7-3C910913C309}" dt="2025-11-18T11:12:29.205" v="292" actId="207"/>
          <ac:graphicFrameMkLst>
            <pc:docMk/>
            <pc:sldMk cId="136654575" sldId="633"/>
            <ac:graphicFrameMk id="10" creationId="{A08158F3-8087-B54E-807B-99CDC5D90B63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10T07:24:21.553" v="18232" actId="20577"/>
        <pc:sldMkLst>
          <pc:docMk/>
          <pc:sldMk cId="136961380" sldId="634"/>
        </pc:sldMkLst>
        <pc:spChg chg="add mod">
          <ac:chgData name="Vilma Nurmela" userId="497a2336-e277-4563-b263-10e00b39d937" providerId="ADAL" clId="{C4885F4D-F8A7-4CA6-83F7-3C910913C309}" dt="2025-11-18T11:54:25.587" v="1029" actId="1038"/>
          <ac:spMkLst>
            <pc:docMk/>
            <pc:sldMk cId="136961380" sldId="634"/>
            <ac:spMk id="4" creationId="{0E0CCFF9-5F92-6384-36EF-58CC584C7264}"/>
          </ac:spMkLst>
        </pc:spChg>
        <pc:spChg chg="mod">
          <ac:chgData name="Vilma Nurmela" userId="497a2336-e277-4563-b263-10e00b39d937" providerId="ADAL" clId="{C4885F4D-F8A7-4CA6-83F7-3C910913C309}" dt="2025-11-18T11:14:25.608" v="464" actId="1038"/>
          <ac:spMkLst>
            <pc:docMk/>
            <pc:sldMk cId="136961380" sldId="634"/>
            <ac:spMk id="7" creationId="{1743F4BF-1031-BB49-77FB-621A265547D2}"/>
          </ac:spMkLst>
        </pc:spChg>
        <pc:spChg chg="mod">
          <ac:chgData name="Vilma Nurmela" userId="497a2336-e277-4563-b263-10e00b39d937" providerId="ADAL" clId="{C4885F4D-F8A7-4CA6-83F7-3C910913C309}" dt="2025-11-18T11:41:29.205" v="967" actId="1038"/>
          <ac:spMkLst>
            <pc:docMk/>
            <pc:sldMk cId="136961380" sldId="634"/>
            <ac:spMk id="9" creationId="{2A0FE507-C7C5-CF25-51F8-780CE1FF8B5B}"/>
          </ac:spMkLst>
        </pc:spChg>
        <pc:spChg chg="mod">
          <ac:chgData name="Vilma Nurmela" userId="497a2336-e277-4563-b263-10e00b39d937" providerId="ADAL" clId="{C4885F4D-F8A7-4CA6-83F7-3C910913C309}" dt="2025-12-10T07:24:21.553" v="18232" actId="20577"/>
          <ac:spMkLst>
            <pc:docMk/>
            <pc:sldMk cId="136961380" sldId="634"/>
            <ac:spMk id="10" creationId="{5415BFAE-3EA8-A3AC-1793-7B43B13B47ED}"/>
          </ac:spMkLst>
        </pc:spChg>
        <pc:spChg chg="mod">
          <ac:chgData name="Vilma Nurmela" userId="497a2336-e277-4563-b263-10e00b39d937" providerId="ADAL" clId="{C4885F4D-F8A7-4CA6-83F7-3C910913C309}" dt="2025-11-18T11:54:22.821" v="1026" actId="1038"/>
          <ac:spMkLst>
            <pc:docMk/>
            <pc:sldMk cId="136961380" sldId="634"/>
            <ac:spMk id="11" creationId="{367E406E-0E22-437E-BAC1-5DA84CE4A995}"/>
          </ac:spMkLst>
        </pc:spChg>
        <pc:graphicFrameChg chg="mod">
          <ac:chgData name="Vilma Nurmela" userId="497a2336-e277-4563-b263-10e00b39d937" providerId="ADAL" clId="{C4885F4D-F8A7-4CA6-83F7-3C910913C309}" dt="2025-11-18T11:41:11.385" v="920" actId="1038"/>
          <ac:graphicFrameMkLst>
            <pc:docMk/>
            <pc:sldMk cId="136961380" sldId="634"/>
            <ac:graphicFrameMk id="2" creationId="{865F612A-AAEC-0C4A-2E16-3CBCD910C26C}"/>
          </ac:graphicFrameMkLst>
        </pc:graphicFrameChg>
        <pc:graphicFrameChg chg="add mod">
          <ac:chgData name="Vilma Nurmela" userId="497a2336-e277-4563-b263-10e00b39d937" providerId="ADAL" clId="{C4885F4D-F8A7-4CA6-83F7-3C910913C309}" dt="2025-11-18T11:41:48.198" v="970"/>
          <ac:graphicFrameMkLst>
            <pc:docMk/>
            <pc:sldMk cId="136961380" sldId="634"/>
            <ac:graphicFrameMk id="3" creationId="{33AEA46A-4B1E-9D72-5D7C-9A04A4B3182B}"/>
          </ac:graphicFrameMkLst>
        </pc:graphicFrameChg>
        <pc:graphicFrameChg chg="mod">
          <ac:chgData name="Vilma Nurmela" userId="497a2336-e277-4563-b263-10e00b39d937" providerId="ADAL" clId="{C4885F4D-F8A7-4CA6-83F7-3C910913C309}" dt="2025-11-18T11:41:25.741" v="960" actId="1038"/>
          <ac:graphicFrameMkLst>
            <pc:docMk/>
            <pc:sldMk cId="136961380" sldId="634"/>
            <ac:graphicFrameMk id="5" creationId="{BB267521-EB35-398D-56E7-20DF29644564}"/>
          </ac:graphicFrameMkLst>
        </pc:graphicFrameChg>
        <pc:graphicFrameChg chg="mod">
          <ac:chgData name="Vilma Nurmela" userId="497a2336-e277-4563-b263-10e00b39d937" providerId="ADAL" clId="{C4885F4D-F8A7-4CA6-83F7-3C910913C309}" dt="2025-11-18T11:15:33.932" v="561" actId="1038"/>
          <ac:graphicFrameMkLst>
            <pc:docMk/>
            <pc:sldMk cId="136961380" sldId="634"/>
            <ac:graphicFrameMk id="12" creationId="{7823AA78-0874-5CB3-726A-109980333F58}"/>
          </ac:graphicFrameMkLst>
        </pc:graphicFrameChg>
      </pc:sldChg>
      <pc:sldChg chg="addSp delSp modSp mod ord">
        <pc:chgData name="Vilma Nurmela" userId="497a2336-e277-4563-b263-10e00b39d937" providerId="ADAL" clId="{C4885F4D-F8A7-4CA6-83F7-3C910913C309}" dt="2025-12-11T12:35:03.942" v="18929"/>
        <pc:sldMkLst>
          <pc:docMk/>
          <pc:sldMk cId="1489537163" sldId="643"/>
        </pc:sldMkLst>
        <pc:spChg chg="add mod">
          <ac:chgData name="Vilma Nurmela" userId="497a2336-e277-4563-b263-10e00b39d937" providerId="ADAL" clId="{C4885F4D-F8A7-4CA6-83F7-3C910913C309}" dt="2025-11-18T14:28:21.762" v="3961" actId="1038"/>
          <ac:spMkLst>
            <pc:docMk/>
            <pc:sldMk cId="1489537163" sldId="643"/>
            <ac:spMk id="5" creationId="{D6574181-624F-DDE4-E944-D52994BF7E1A}"/>
          </ac:spMkLst>
        </pc:spChg>
        <pc:spChg chg="mod">
          <ac:chgData name="Vilma Nurmela" userId="497a2336-e277-4563-b263-10e00b39d937" providerId="ADAL" clId="{C4885F4D-F8A7-4CA6-83F7-3C910913C309}" dt="2025-11-18T14:28:12.800" v="3937" actId="1037"/>
          <ac:spMkLst>
            <pc:docMk/>
            <pc:sldMk cId="1489537163" sldId="643"/>
            <ac:spMk id="6" creationId="{1A38F463-BDF8-AA9E-A7DB-5D1411D658C1}"/>
          </ac:spMkLst>
        </pc:spChg>
        <pc:spChg chg="mod">
          <ac:chgData name="Vilma Nurmela" userId="497a2336-e277-4563-b263-10e00b39d937" providerId="ADAL" clId="{C4885F4D-F8A7-4CA6-83F7-3C910913C309}" dt="2025-11-18T14:25:03.498" v="3753" actId="1037"/>
          <ac:spMkLst>
            <pc:docMk/>
            <pc:sldMk cId="1489537163" sldId="643"/>
            <ac:spMk id="8" creationId="{219C0C68-5D47-B706-1B8C-9FA49D914058}"/>
          </ac:spMkLst>
        </pc:spChg>
        <pc:spChg chg="mod">
          <ac:chgData name="Vilma Nurmela" userId="497a2336-e277-4563-b263-10e00b39d937" providerId="ADAL" clId="{C4885F4D-F8A7-4CA6-83F7-3C910913C309}" dt="2025-12-02T14:08:07.132" v="18135" actId="20577"/>
          <ac:spMkLst>
            <pc:docMk/>
            <pc:sldMk cId="1489537163" sldId="643"/>
            <ac:spMk id="11" creationId="{177A24B0-F956-82D8-D86C-9743C091661C}"/>
          </ac:spMkLst>
        </pc:spChg>
        <pc:spChg chg="mod">
          <ac:chgData name="Vilma Nurmela" userId="497a2336-e277-4563-b263-10e00b39d937" providerId="ADAL" clId="{C4885F4D-F8A7-4CA6-83F7-3C910913C309}" dt="2025-11-18T14:28:08.848" v="3927" actId="1038"/>
          <ac:spMkLst>
            <pc:docMk/>
            <pc:sldMk cId="1489537163" sldId="643"/>
            <ac:spMk id="12" creationId="{0E5318ED-2557-4CD6-0485-E63D90B497CE}"/>
          </ac:spMkLst>
        </pc:spChg>
        <pc:spChg chg="mod">
          <ac:chgData name="Vilma Nurmela" userId="497a2336-e277-4563-b263-10e00b39d937" providerId="ADAL" clId="{C4885F4D-F8A7-4CA6-83F7-3C910913C309}" dt="2025-11-18T14:28:17.474" v="3958" actId="1037"/>
          <ac:spMkLst>
            <pc:docMk/>
            <pc:sldMk cId="1489537163" sldId="643"/>
            <ac:spMk id="13" creationId="{34C4C5D7-8869-70C7-9ACE-316351E40AAE}"/>
          </ac:spMkLst>
        </pc:spChg>
        <pc:graphicFrameChg chg="add mod">
          <ac:chgData name="Vilma Nurmela" userId="497a2336-e277-4563-b263-10e00b39d937" providerId="ADAL" clId="{C4885F4D-F8A7-4CA6-83F7-3C910913C309}" dt="2025-11-18T14:27:57.200" v="3925" actId="1076"/>
          <ac:graphicFrameMkLst>
            <pc:docMk/>
            <pc:sldMk cId="1489537163" sldId="643"/>
            <ac:graphicFrameMk id="2" creationId="{29F94A8B-6F0F-1479-68B4-438C496E770A}"/>
          </ac:graphicFrameMkLst>
        </pc:graphicFrameChg>
        <pc:graphicFrameChg chg="mod">
          <ac:chgData name="Vilma Nurmela" userId="497a2336-e277-4563-b263-10e00b39d937" providerId="ADAL" clId="{C4885F4D-F8A7-4CA6-83F7-3C910913C309}" dt="2025-11-18T14:27:28.705" v="3920" actId="1037"/>
          <ac:graphicFrameMkLst>
            <pc:docMk/>
            <pc:sldMk cId="1489537163" sldId="643"/>
            <ac:graphicFrameMk id="3" creationId="{2837AACC-5117-DC21-F336-D51289BC7402}"/>
          </ac:graphicFrameMkLst>
        </pc:graphicFrameChg>
        <pc:graphicFrameChg chg="mod">
          <ac:chgData name="Vilma Nurmela" userId="497a2336-e277-4563-b263-10e00b39d937" providerId="ADAL" clId="{C4885F4D-F8A7-4CA6-83F7-3C910913C309}" dt="2025-11-18T14:26:53.095" v="3896" actId="1076"/>
          <ac:graphicFrameMkLst>
            <pc:docMk/>
            <pc:sldMk cId="1489537163" sldId="643"/>
            <ac:graphicFrameMk id="7" creationId="{854EEF91-ADA1-296A-88DA-AEA3F4DB81C3}"/>
          </ac:graphicFrameMkLst>
        </pc:graphicFrameChg>
        <pc:graphicFrameChg chg="mod">
          <ac:chgData name="Vilma Nurmela" userId="497a2336-e277-4563-b263-10e00b39d937" providerId="ADAL" clId="{C4885F4D-F8A7-4CA6-83F7-3C910913C309}" dt="2025-12-11T12:35:03.942" v="18929"/>
          <ac:graphicFrameMkLst>
            <pc:docMk/>
            <pc:sldMk cId="1489537163" sldId="643"/>
            <ac:graphicFrameMk id="14" creationId="{9294015D-FFA6-4EEB-AE83-29F8B07C4E53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02T13:47:06.794" v="16837" actId="478"/>
        <pc:sldMkLst>
          <pc:docMk/>
          <pc:sldMk cId="2766965235" sldId="644"/>
        </pc:sldMkLst>
        <pc:spChg chg="mod">
          <ac:chgData name="Vilma Nurmela" userId="497a2336-e277-4563-b263-10e00b39d937" providerId="ADAL" clId="{C4885F4D-F8A7-4CA6-83F7-3C910913C309}" dt="2025-11-18T14:20:00.644" v="3528" actId="20577"/>
          <ac:spMkLst>
            <pc:docMk/>
            <pc:sldMk cId="2766965235" sldId="644"/>
            <ac:spMk id="5" creationId="{196EE0B7-D86E-CA23-EBE1-41CBBD4CBE1C}"/>
          </ac:spMkLst>
        </pc:spChg>
        <pc:spChg chg="mod">
          <ac:chgData name="Vilma Nurmela" userId="497a2336-e277-4563-b263-10e00b39d937" providerId="ADAL" clId="{C4885F4D-F8A7-4CA6-83F7-3C910913C309}" dt="2025-11-18T14:22:57.480" v="3643" actId="14100"/>
          <ac:spMkLst>
            <pc:docMk/>
            <pc:sldMk cId="2766965235" sldId="644"/>
            <ac:spMk id="6" creationId="{D0764C6D-A03E-1344-51B0-83CCE737C9A3}"/>
          </ac:spMkLst>
        </pc:spChg>
        <pc:graphicFrameChg chg="mod">
          <ac:chgData name="Vilma Nurmela" userId="497a2336-e277-4563-b263-10e00b39d937" providerId="ADAL" clId="{C4885F4D-F8A7-4CA6-83F7-3C910913C309}" dt="2025-11-18T14:21:55.600" v="3547" actId="207"/>
          <ac:graphicFrameMkLst>
            <pc:docMk/>
            <pc:sldMk cId="2766965235" sldId="644"/>
            <ac:graphicFrameMk id="10" creationId="{47FF1527-776D-E2F9-B0E0-FB8102326950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02T13:46:15.061" v="16681" actId="478"/>
        <pc:sldMkLst>
          <pc:docMk/>
          <pc:sldMk cId="3109995016" sldId="652"/>
        </pc:sldMkLst>
        <pc:spChg chg="mod">
          <ac:chgData name="Vilma Nurmela" userId="497a2336-e277-4563-b263-10e00b39d937" providerId="ADAL" clId="{C4885F4D-F8A7-4CA6-83F7-3C910913C309}" dt="2025-11-18T14:19:33.758" v="3522" actId="20577"/>
          <ac:spMkLst>
            <pc:docMk/>
            <pc:sldMk cId="3109995016" sldId="652"/>
            <ac:spMk id="5" creationId="{5FBBE9DA-4A51-8048-2E3F-041DA244AB40}"/>
          </ac:spMkLst>
        </pc:spChg>
        <pc:spChg chg="mod">
          <ac:chgData name="Vilma Nurmela" userId="497a2336-e277-4563-b263-10e00b39d937" providerId="ADAL" clId="{C4885F4D-F8A7-4CA6-83F7-3C910913C309}" dt="2025-11-18T14:16:51.324" v="3515" actId="20577"/>
          <ac:spMkLst>
            <pc:docMk/>
            <pc:sldMk cId="3109995016" sldId="652"/>
            <ac:spMk id="7" creationId="{E6313674-C47B-5959-B447-57AE3D7029D4}"/>
          </ac:spMkLst>
        </pc:spChg>
        <pc:graphicFrameChg chg="mod">
          <ac:chgData name="Vilma Nurmela" userId="497a2336-e277-4563-b263-10e00b39d937" providerId="ADAL" clId="{C4885F4D-F8A7-4CA6-83F7-3C910913C309}" dt="2025-11-18T14:16:27.871" v="3461" actId="207"/>
          <ac:graphicFrameMkLst>
            <pc:docMk/>
            <pc:sldMk cId="3109995016" sldId="652"/>
            <ac:graphicFrameMk id="9" creationId="{85CEA397-95F3-729C-1918-40D9EDFC3139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1-18T14:34:41.730" v="4132" actId="478"/>
        <pc:sldMkLst>
          <pc:docMk/>
          <pc:sldMk cId="2490865732" sldId="653"/>
        </pc:sldMkLst>
      </pc:sldChg>
      <pc:sldChg chg="addSp delSp modSp mod">
        <pc:chgData name="Vilma Nurmela" userId="497a2336-e277-4563-b263-10e00b39d937" providerId="ADAL" clId="{C4885F4D-F8A7-4CA6-83F7-3C910913C309}" dt="2025-12-02T13:28:56.074" v="15114" actId="478"/>
        <pc:sldMkLst>
          <pc:docMk/>
          <pc:sldMk cId="1381796275" sldId="694"/>
        </pc:sldMkLst>
      </pc:sldChg>
      <pc:sldChg chg="addSp delSp modSp mod">
        <pc:chgData name="Vilma Nurmela" userId="497a2336-e277-4563-b263-10e00b39d937" providerId="ADAL" clId="{C4885F4D-F8A7-4CA6-83F7-3C910913C309}" dt="2025-12-02T13:28:21.431" v="15104" actId="478"/>
        <pc:sldMkLst>
          <pc:docMk/>
          <pc:sldMk cId="256331779" sldId="697"/>
        </pc:sldMkLst>
      </pc:sldChg>
      <pc:sldChg chg="addSp delSp modSp mod">
        <pc:chgData name="Vilma Nurmela" userId="497a2336-e277-4563-b263-10e00b39d937" providerId="ADAL" clId="{C4885F4D-F8A7-4CA6-83F7-3C910913C309}" dt="2025-12-02T13:27:04.921" v="15082" actId="478"/>
        <pc:sldMkLst>
          <pc:docMk/>
          <pc:sldMk cId="844124307" sldId="698"/>
        </pc:sldMkLst>
      </pc:sldChg>
      <pc:sldChg chg="addSp delSp modSp mod">
        <pc:chgData name="Vilma Nurmela" userId="497a2336-e277-4563-b263-10e00b39d937" providerId="ADAL" clId="{C4885F4D-F8A7-4CA6-83F7-3C910913C309}" dt="2025-11-22T14:17:01.366" v="8222" actId="20577"/>
        <pc:sldMkLst>
          <pc:docMk/>
          <pc:sldMk cId="3795023961" sldId="699"/>
        </pc:sldMkLst>
        <pc:spChg chg="add mod">
          <ac:chgData name="Vilma Nurmela" userId="497a2336-e277-4563-b263-10e00b39d937" providerId="ADAL" clId="{C4885F4D-F8A7-4CA6-83F7-3C910913C309}" dt="2025-11-22T11:54:41.376" v="6245" actId="404"/>
          <ac:spMkLst>
            <pc:docMk/>
            <pc:sldMk cId="3795023961" sldId="699"/>
            <ac:spMk id="2" creationId="{1DB2A1AC-8ACD-FFCA-4CA0-CEC3B1357186}"/>
          </ac:spMkLst>
        </pc:spChg>
        <pc:spChg chg="mod">
          <ac:chgData name="Vilma Nurmela" userId="497a2336-e277-4563-b263-10e00b39d937" providerId="ADAL" clId="{C4885F4D-F8A7-4CA6-83F7-3C910913C309}" dt="2025-11-22T13:14:43.236" v="6908" actId="20577"/>
          <ac:spMkLst>
            <pc:docMk/>
            <pc:sldMk cId="3795023961" sldId="699"/>
            <ac:spMk id="3" creationId="{27FC01AF-62F0-60C2-2CB1-8429B506C52C}"/>
          </ac:spMkLst>
        </pc:spChg>
        <pc:spChg chg="add mod">
          <ac:chgData name="Vilma Nurmela" userId="497a2336-e277-4563-b263-10e00b39d937" providerId="ADAL" clId="{C4885F4D-F8A7-4CA6-83F7-3C910913C309}" dt="2025-11-22T11:54:41.376" v="6245" actId="404"/>
          <ac:spMkLst>
            <pc:docMk/>
            <pc:sldMk cId="3795023961" sldId="699"/>
            <ac:spMk id="5" creationId="{8CA4DBEC-691B-D990-58C4-584EA2CFE645}"/>
          </ac:spMkLst>
        </pc:spChg>
        <pc:spChg chg="add mod">
          <ac:chgData name="Vilma Nurmela" userId="497a2336-e277-4563-b263-10e00b39d937" providerId="ADAL" clId="{C4885F4D-F8A7-4CA6-83F7-3C910913C309}" dt="2025-11-22T11:54:41.376" v="6245" actId="404"/>
          <ac:spMkLst>
            <pc:docMk/>
            <pc:sldMk cId="3795023961" sldId="699"/>
            <ac:spMk id="6" creationId="{6FF01C66-F49C-1E93-36DD-A962DA3942B1}"/>
          </ac:spMkLst>
        </pc:spChg>
        <pc:spChg chg="add mod">
          <ac:chgData name="Vilma Nurmela" userId="497a2336-e277-4563-b263-10e00b39d937" providerId="ADAL" clId="{C4885F4D-F8A7-4CA6-83F7-3C910913C309}" dt="2025-11-22T13:43:42.379" v="7194" actId="20577"/>
          <ac:spMkLst>
            <pc:docMk/>
            <pc:sldMk cId="3795023961" sldId="699"/>
            <ac:spMk id="7" creationId="{F28FC615-A79D-9B21-974B-3637322B5F13}"/>
          </ac:spMkLst>
        </pc:spChg>
        <pc:spChg chg="mod">
          <ac:chgData name="Vilma Nurmela" userId="497a2336-e277-4563-b263-10e00b39d937" providerId="ADAL" clId="{C4885F4D-F8A7-4CA6-83F7-3C910913C309}" dt="2025-11-22T14:17:01.366" v="8222" actId="20577"/>
          <ac:spMkLst>
            <pc:docMk/>
            <pc:sldMk cId="3795023961" sldId="699"/>
            <ac:spMk id="9" creationId="{13C16C9E-066C-F0C8-84C3-B98798A6AF93}"/>
          </ac:spMkLst>
        </pc:spChg>
        <pc:picChg chg="add mod">
          <ac:chgData name="Vilma Nurmela" userId="497a2336-e277-4563-b263-10e00b39d937" providerId="ADAL" clId="{C4885F4D-F8A7-4CA6-83F7-3C910913C309}" dt="2025-11-22T13:51:33.982" v="7364" actId="1037"/>
          <ac:picMkLst>
            <pc:docMk/>
            <pc:sldMk cId="3795023961" sldId="699"/>
            <ac:picMk id="2052" creationId="{A776B0DA-194E-A12F-EA5C-5154E9B15C73}"/>
          </ac:picMkLst>
        </pc:picChg>
      </pc:sldChg>
      <pc:sldChg chg="addSp delSp modSp mod">
        <pc:chgData name="Vilma Nurmela" userId="497a2336-e277-4563-b263-10e00b39d937" providerId="ADAL" clId="{C4885F4D-F8A7-4CA6-83F7-3C910913C309}" dt="2025-11-22T14:12:22.972" v="8030" actId="20577"/>
        <pc:sldMkLst>
          <pc:docMk/>
          <pc:sldMk cId="3783172065" sldId="700"/>
        </pc:sldMkLst>
        <pc:spChg chg="mod">
          <ac:chgData name="Vilma Nurmela" userId="497a2336-e277-4563-b263-10e00b39d937" providerId="ADAL" clId="{C4885F4D-F8A7-4CA6-83F7-3C910913C309}" dt="2025-11-22T13:15:10.718" v="6928" actId="20577"/>
          <ac:spMkLst>
            <pc:docMk/>
            <pc:sldMk cId="3783172065" sldId="700"/>
            <ac:spMk id="2" creationId="{79936288-0BEC-FF3F-8545-D205CD6CD764}"/>
          </ac:spMkLst>
        </pc:spChg>
        <pc:spChg chg="add mod">
          <ac:chgData name="Vilma Nurmela" userId="497a2336-e277-4563-b263-10e00b39d937" providerId="ADAL" clId="{C4885F4D-F8A7-4CA6-83F7-3C910913C309}" dt="2025-11-22T11:52:14.521" v="6141" actId="404"/>
          <ac:spMkLst>
            <pc:docMk/>
            <pc:sldMk cId="3783172065" sldId="700"/>
            <ac:spMk id="3" creationId="{3EBF8D8B-6E42-7E4F-9107-89D7E72B73D9}"/>
          </ac:spMkLst>
        </pc:spChg>
        <pc:spChg chg="add mod">
          <ac:chgData name="Vilma Nurmela" userId="497a2336-e277-4563-b263-10e00b39d937" providerId="ADAL" clId="{C4885F4D-F8A7-4CA6-83F7-3C910913C309}" dt="2025-11-22T11:52:14.521" v="6141" actId="404"/>
          <ac:spMkLst>
            <pc:docMk/>
            <pc:sldMk cId="3783172065" sldId="700"/>
            <ac:spMk id="5" creationId="{1FA74A69-892C-24CE-2DFE-D12B46F4206B}"/>
          </ac:spMkLst>
        </pc:spChg>
        <pc:spChg chg="add mod">
          <ac:chgData name="Vilma Nurmela" userId="497a2336-e277-4563-b263-10e00b39d937" providerId="ADAL" clId="{C4885F4D-F8A7-4CA6-83F7-3C910913C309}" dt="2025-11-22T11:52:14.521" v="6141" actId="404"/>
          <ac:spMkLst>
            <pc:docMk/>
            <pc:sldMk cId="3783172065" sldId="700"/>
            <ac:spMk id="6" creationId="{6CCC09C4-2370-2F4A-D5F5-8393831A14A4}"/>
          </ac:spMkLst>
        </pc:spChg>
        <pc:spChg chg="add mod">
          <ac:chgData name="Vilma Nurmela" userId="497a2336-e277-4563-b263-10e00b39d937" providerId="ADAL" clId="{C4885F4D-F8A7-4CA6-83F7-3C910913C309}" dt="2025-11-22T14:11:05.945" v="7878" actId="404"/>
          <ac:spMkLst>
            <pc:docMk/>
            <pc:sldMk cId="3783172065" sldId="700"/>
            <ac:spMk id="8" creationId="{1D674124-54EC-D42D-0974-B9AB3D37DC19}"/>
          </ac:spMkLst>
        </pc:spChg>
        <pc:spChg chg="mod">
          <ac:chgData name="Vilma Nurmela" userId="497a2336-e277-4563-b263-10e00b39d937" providerId="ADAL" clId="{C4885F4D-F8A7-4CA6-83F7-3C910913C309}" dt="2025-11-22T14:12:22.972" v="8030" actId="20577"/>
          <ac:spMkLst>
            <pc:docMk/>
            <pc:sldMk cId="3783172065" sldId="700"/>
            <ac:spMk id="9" creationId="{FF57229D-EC36-50A2-95BB-44C53A9FD9C9}"/>
          </ac:spMkLst>
        </pc:spChg>
        <pc:picChg chg="add mod">
          <ac:chgData name="Vilma Nurmela" userId="497a2336-e277-4563-b263-10e00b39d937" providerId="ADAL" clId="{C4885F4D-F8A7-4CA6-83F7-3C910913C309}" dt="2025-11-22T14:10:55.640" v="7876"/>
          <ac:picMkLst>
            <pc:docMk/>
            <pc:sldMk cId="3783172065" sldId="700"/>
            <ac:picMk id="12" creationId="{A25A6C3D-FA5D-0F93-0F77-6E8B4DE1D043}"/>
          </ac:picMkLst>
        </pc:picChg>
      </pc:sldChg>
      <pc:sldChg chg="addSp delSp modSp mod">
        <pc:chgData name="Vilma Nurmela" userId="497a2336-e277-4563-b263-10e00b39d937" providerId="ADAL" clId="{C4885F4D-F8A7-4CA6-83F7-3C910913C309}" dt="2025-12-11T09:09:48.868" v="18585" actId="20577"/>
        <pc:sldMkLst>
          <pc:docMk/>
          <pc:sldMk cId="2716488367" sldId="701"/>
        </pc:sldMkLst>
        <pc:spChg chg="mod">
          <ac:chgData name="Vilma Nurmela" userId="497a2336-e277-4563-b263-10e00b39d937" providerId="ADAL" clId="{C4885F4D-F8A7-4CA6-83F7-3C910913C309}" dt="2025-11-22T13:14:49.947" v="6914" actId="20577"/>
          <ac:spMkLst>
            <pc:docMk/>
            <pc:sldMk cId="2716488367" sldId="701"/>
            <ac:spMk id="2" creationId="{222697E1-8969-7FA0-B56C-FDE517604D2D}"/>
          </ac:spMkLst>
        </pc:spChg>
        <pc:spChg chg="add mod">
          <ac:chgData name="Vilma Nurmela" userId="497a2336-e277-4563-b263-10e00b39d937" providerId="ADAL" clId="{C4885F4D-F8A7-4CA6-83F7-3C910913C309}" dt="2025-11-22T11:53:18.311" v="6193" actId="404"/>
          <ac:spMkLst>
            <pc:docMk/>
            <pc:sldMk cId="2716488367" sldId="701"/>
            <ac:spMk id="3" creationId="{BCA32FE2-D78E-40A7-D56B-847B97C1D66C}"/>
          </ac:spMkLst>
        </pc:spChg>
        <pc:spChg chg="add mod">
          <ac:chgData name="Vilma Nurmela" userId="497a2336-e277-4563-b263-10e00b39d937" providerId="ADAL" clId="{C4885F4D-F8A7-4CA6-83F7-3C910913C309}" dt="2025-11-22T11:53:18.311" v="6193" actId="404"/>
          <ac:spMkLst>
            <pc:docMk/>
            <pc:sldMk cId="2716488367" sldId="701"/>
            <ac:spMk id="5" creationId="{ED2E9AD0-A518-8DF5-5BEB-9D0D43ED13FD}"/>
          </ac:spMkLst>
        </pc:spChg>
        <pc:spChg chg="add mod">
          <ac:chgData name="Vilma Nurmela" userId="497a2336-e277-4563-b263-10e00b39d937" providerId="ADAL" clId="{C4885F4D-F8A7-4CA6-83F7-3C910913C309}" dt="2025-11-22T11:53:18.311" v="6193" actId="404"/>
          <ac:spMkLst>
            <pc:docMk/>
            <pc:sldMk cId="2716488367" sldId="701"/>
            <ac:spMk id="6" creationId="{998E0135-C704-4B0E-1D80-7A9E1A4F8F10}"/>
          </ac:spMkLst>
        </pc:spChg>
        <pc:spChg chg="add mod">
          <ac:chgData name="Vilma Nurmela" userId="497a2336-e277-4563-b263-10e00b39d937" providerId="ADAL" clId="{C4885F4D-F8A7-4CA6-83F7-3C910913C309}" dt="2025-11-22T14:16:24.116" v="8168" actId="403"/>
          <ac:spMkLst>
            <pc:docMk/>
            <pc:sldMk cId="2716488367" sldId="701"/>
            <ac:spMk id="8" creationId="{9BBED15E-D18A-38D0-A4A2-8C4D20135276}"/>
          </ac:spMkLst>
        </pc:spChg>
        <pc:spChg chg="mod">
          <ac:chgData name="Vilma Nurmela" userId="497a2336-e277-4563-b263-10e00b39d937" providerId="ADAL" clId="{C4885F4D-F8A7-4CA6-83F7-3C910913C309}" dt="2025-12-11T09:09:48.868" v="18585" actId="20577"/>
          <ac:spMkLst>
            <pc:docMk/>
            <pc:sldMk cId="2716488367" sldId="701"/>
            <ac:spMk id="9" creationId="{EB9EBC77-5677-7839-B890-66A2A91B9A52}"/>
          </ac:spMkLst>
        </pc:spChg>
        <pc:picChg chg="add mod">
          <ac:chgData name="Vilma Nurmela" userId="497a2336-e277-4563-b263-10e00b39d937" providerId="ADAL" clId="{C4885F4D-F8A7-4CA6-83F7-3C910913C309}" dt="2025-11-22T14:21:34.254" v="8336" actId="1036"/>
          <ac:picMkLst>
            <pc:docMk/>
            <pc:sldMk cId="2716488367" sldId="701"/>
            <ac:picMk id="3078" creationId="{FE550797-A747-BF34-82D7-9D2E9F08E565}"/>
          </ac:picMkLst>
        </pc:picChg>
      </pc:sldChg>
      <pc:sldChg chg="addSp delSp modSp mod">
        <pc:chgData name="Vilma Nurmela" userId="497a2336-e277-4563-b263-10e00b39d937" providerId="ADAL" clId="{C4885F4D-F8A7-4CA6-83F7-3C910913C309}" dt="2025-12-02T13:40:38.314" v="16170" actId="114"/>
        <pc:sldMkLst>
          <pc:docMk/>
          <pc:sldMk cId="1702619839" sldId="703"/>
        </pc:sldMkLst>
        <pc:spChg chg="mod">
          <ac:chgData name="Vilma Nurmela" userId="497a2336-e277-4563-b263-10e00b39d937" providerId="ADAL" clId="{C4885F4D-F8A7-4CA6-83F7-3C910913C309}" dt="2025-11-22T13:15:14.454" v="6930" actId="20577"/>
          <ac:spMkLst>
            <pc:docMk/>
            <pc:sldMk cId="1702619839" sldId="703"/>
            <ac:spMk id="2" creationId="{D630C292-A0CE-6753-E350-2F0B39F75DEE}"/>
          </ac:spMkLst>
        </pc:spChg>
        <pc:spChg chg="add mod">
          <ac:chgData name="Vilma Nurmela" userId="497a2336-e277-4563-b263-10e00b39d937" providerId="ADAL" clId="{C4885F4D-F8A7-4CA6-83F7-3C910913C309}" dt="2025-11-22T14:26:39.137" v="8489" actId="20577"/>
          <ac:spMkLst>
            <pc:docMk/>
            <pc:sldMk cId="1702619839" sldId="703"/>
            <ac:spMk id="3" creationId="{7C7C4E1D-66C5-16EC-75B2-A55B89448E17}"/>
          </ac:spMkLst>
        </pc:spChg>
        <pc:spChg chg="mod">
          <ac:chgData name="Vilma Nurmela" userId="497a2336-e277-4563-b263-10e00b39d937" providerId="ADAL" clId="{C4885F4D-F8A7-4CA6-83F7-3C910913C309}" dt="2025-11-22T11:50:36.357" v="6034" actId="14100"/>
          <ac:spMkLst>
            <pc:docMk/>
            <pc:sldMk cId="1702619839" sldId="703"/>
            <ac:spMk id="9" creationId="{BD7733E6-BA7B-ACC2-A334-E08D6CF5AFE8}"/>
          </ac:spMkLst>
        </pc:spChg>
        <pc:spChg chg="mod">
          <ac:chgData name="Vilma Nurmela" userId="497a2336-e277-4563-b263-10e00b39d937" providerId="ADAL" clId="{C4885F4D-F8A7-4CA6-83F7-3C910913C309}" dt="2025-11-22T11:50:42.211" v="6049" actId="1038"/>
          <ac:spMkLst>
            <pc:docMk/>
            <pc:sldMk cId="1702619839" sldId="703"/>
            <ac:spMk id="12" creationId="{BF02C6A8-01E4-2D06-4BDC-133A7DFF489D}"/>
          </ac:spMkLst>
        </pc:spChg>
        <pc:spChg chg="mod">
          <ac:chgData name="Vilma Nurmela" userId="497a2336-e277-4563-b263-10e00b39d937" providerId="ADAL" clId="{C4885F4D-F8A7-4CA6-83F7-3C910913C309}" dt="2025-11-22T11:50:48.986" v="6079" actId="1038"/>
          <ac:spMkLst>
            <pc:docMk/>
            <pc:sldMk cId="1702619839" sldId="703"/>
            <ac:spMk id="13" creationId="{D092389A-CF6B-50C0-4C06-B727D6FCEA6E}"/>
          </ac:spMkLst>
        </pc:spChg>
        <pc:spChg chg="mod">
          <ac:chgData name="Vilma Nurmela" userId="497a2336-e277-4563-b263-10e00b39d937" providerId="ADAL" clId="{C4885F4D-F8A7-4CA6-83F7-3C910913C309}" dt="2025-12-02T13:40:38.314" v="16170" actId="114"/>
          <ac:spMkLst>
            <pc:docMk/>
            <pc:sldMk cId="1702619839" sldId="703"/>
            <ac:spMk id="19" creationId="{427FE228-44F3-6D98-F8E2-EE6ACDE04FE5}"/>
          </ac:spMkLst>
        </pc:spChg>
        <pc:picChg chg="add mod">
          <ac:chgData name="Vilma Nurmela" userId="497a2336-e277-4563-b263-10e00b39d937" providerId="ADAL" clId="{C4885F4D-F8A7-4CA6-83F7-3C910913C309}" dt="2025-11-22T14:21:45.203" v="8337" actId="1076"/>
          <ac:picMkLst>
            <pc:docMk/>
            <pc:sldMk cId="1702619839" sldId="703"/>
            <ac:picMk id="5122" creationId="{7053C967-289C-6A2D-8B8F-D54893C1739F}"/>
          </ac:picMkLst>
        </pc:picChg>
      </pc:sldChg>
      <pc:sldChg chg="addSp delSp modSp mod">
        <pc:chgData name="Vilma Nurmela" userId="497a2336-e277-4563-b263-10e00b39d937" providerId="ADAL" clId="{C4885F4D-F8A7-4CA6-83F7-3C910913C309}" dt="2025-11-18T14:34:47.044" v="4134" actId="478"/>
        <pc:sldMkLst>
          <pc:docMk/>
          <pc:sldMk cId="2125308786" sldId="704"/>
        </pc:sldMkLst>
        <pc:spChg chg="mod">
          <ac:chgData name="Vilma Nurmela" userId="497a2336-e277-4563-b263-10e00b39d937" providerId="ADAL" clId="{C4885F4D-F8A7-4CA6-83F7-3C910913C309}" dt="2025-11-18T11:10:40.817" v="270" actId="20577"/>
          <ac:spMkLst>
            <pc:docMk/>
            <pc:sldMk cId="2125308786" sldId="704"/>
            <ac:spMk id="4" creationId="{AFCA62B7-0BDC-4CF5-0C5B-4161583F8180}"/>
          </ac:spMkLst>
        </pc:spChg>
        <pc:spChg chg="mod">
          <ac:chgData name="Vilma Nurmela" userId="497a2336-e277-4563-b263-10e00b39d937" providerId="ADAL" clId="{C4885F4D-F8A7-4CA6-83F7-3C910913C309}" dt="2025-11-18T11:09:30.036" v="248" actId="20577"/>
          <ac:spMkLst>
            <pc:docMk/>
            <pc:sldMk cId="2125308786" sldId="704"/>
            <ac:spMk id="6" creationId="{1113204A-7F53-4E53-12D2-2FF8607643A5}"/>
          </ac:spMkLst>
        </pc:spChg>
        <pc:spChg chg="mod">
          <ac:chgData name="Vilma Nurmela" userId="497a2336-e277-4563-b263-10e00b39d937" providerId="ADAL" clId="{C4885F4D-F8A7-4CA6-83F7-3C910913C309}" dt="2025-11-18T11:09:36.423" v="254" actId="20577"/>
          <ac:spMkLst>
            <pc:docMk/>
            <pc:sldMk cId="2125308786" sldId="704"/>
            <ac:spMk id="8" creationId="{9E70167F-F3EA-A2E4-8F36-20CF97D94EAE}"/>
          </ac:spMkLst>
        </pc:spChg>
        <pc:spChg chg="mod">
          <ac:chgData name="Vilma Nurmela" userId="497a2336-e277-4563-b263-10e00b39d937" providerId="ADAL" clId="{C4885F4D-F8A7-4CA6-83F7-3C910913C309}" dt="2025-11-18T11:09:40.585" v="260" actId="20577"/>
          <ac:spMkLst>
            <pc:docMk/>
            <pc:sldMk cId="2125308786" sldId="704"/>
            <ac:spMk id="13" creationId="{DF096042-BAFE-2F54-6A77-E02B1F3CA284}"/>
          </ac:spMkLst>
        </pc:spChg>
      </pc:sldChg>
      <pc:sldChg chg="addSp delSp modSp mod">
        <pc:chgData name="Vilma Nurmela" userId="497a2336-e277-4563-b263-10e00b39d937" providerId="ADAL" clId="{C4885F4D-F8A7-4CA6-83F7-3C910913C309}" dt="2025-12-11T12:18:47.568" v="18918"/>
        <pc:sldMkLst>
          <pc:docMk/>
          <pc:sldMk cId="3978491251" sldId="706"/>
        </pc:sldMkLst>
        <pc:spChg chg="mod">
          <ac:chgData name="Vilma Nurmela" userId="497a2336-e277-4563-b263-10e00b39d937" providerId="ADAL" clId="{C4885F4D-F8A7-4CA6-83F7-3C910913C309}" dt="2025-12-11T08:52:15.853" v="18520" actId="1036"/>
          <ac:spMkLst>
            <pc:docMk/>
            <pc:sldMk cId="3978491251" sldId="706"/>
            <ac:spMk id="3" creationId="{D6B471A2-5CE5-7689-C3FF-47BC3C0761F8}"/>
          </ac:spMkLst>
        </pc:spChg>
        <pc:spChg chg="mod">
          <ac:chgData name="Vilma Nurmela" userId="497a2336-e277-4563-b263-10e00b39d937" providerId="ADAL" clId="{C4885F4D-F8A7-4CA6-83F7-3C910913C309}" dt="2025-12-11T08:52:15.853" v="18520" actId="1036"/>
          <ac:spMkLst>
            <pc:docMk/>
            <pc:sldMk cId="3978491251" sldId="706"/>
            <ac:spMk id="14" creationId="{D3451305-DC7D-11B6-08C0-536DD9FCEFF5}"/>
          </ac:spMkLst>
        </pc:spChg>
        <pc:graphicFrameChg chg="mod">
          <ac:chgData name="Vilma Nurmela" userId="497a2336-e277-4563-b263-10e00b39d937" providerId="ADAL" clId="{C4885F4D-F8A7-4CA6-83F7-3C910913C309}" dt="2025-12-11T12:18:47.568" v="18918"/>
          <ac:graphicFrameMkLst>
            <pc:docMk/>
            <pc:sldMk cId="3978491251" sldId="706"/>
            <ac:graphicFrameMk id="8" creationId="{E22D180A-8CAC-9257-E689-660B0BBC6DAA}"/>
          </ac:graphicFrameMkLst>
        </pc:graphicFrameChg>
        <pc:graphicFrameChg chg="mod">
          <ac:chgData name="Vilma Nurmela" userId="497a2336-e277-4563-b263-10e00b39d937" providerId="ADAL" clId="{C4885F4D-F8A7-4CA6-83F7-3C910913C309}" dt="2025-11-25T13:10:22.146" v="8748" actId="207"/>
          <ac:graphicFrameMkLst>
            <pc:docMk/>
            <pc:sldMk cId="3978491251" sldId="706"/>
            <ac:graphicFrameMk id="13" creationId="{947625B0-1E85-975C-6A20-6B5CF2A0BEAF}"/>
          </ac:graphicFrameMkLst>
        </pc:graphicFrameChg>
        <pc:graphicFrameChg chg="mod">
          <ac:chgData name="Vilma Nurmela" userId="497a2336-e277-4563-b263-10e00b39d937" providerId="ADAL" clId="{C4885F4D-F8A7-4CA6-83F7-3C910913C309}" dt="2025-11-25T13:38:57.710" v="8870" actId="14100"/>
          <ac:graphicFrameMkLst>
            <pc:docMk/>
            <pc:sldMk cId="3978491251" sldId="706"/>
            <ac:graphicFrameMk id="16" creationId="{C28B4858-0053-6134-AFD0-A1BB2D612D7B}"/>
          </ac:graphicFrameMkLst>
        </pc:graphicFrameChg>
        <pc:graphicFrameChg chg="mod">
          <ac:chgData name="Vilma Nurmela" userId="497a2336-e277-4563-b263-10e00b39d937" providerId="ADAL" clId="{C4885F4D-F8A7-4CA6-83F7-3C910913C309}" dt="2025-12-10T07:05:37.493" v="18138"/>
          <ac:graphicFrameMkLst>
            <pc:docMk/>
            <pc:sldMk cId="3978491251" sldId="706"/>
            <ac:graphicFrameMk id="19" creationId="{E7C6A209-E927-373D-4D84-21F1D45C5ADD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02T13:34:21.224" v="15292" actId="478"/>
        <pc:sldMkLst>
          <pc:docMk/>
          <pc:sldMk cId="1226783376" sldId="707"/>
        </pc:sldMkLst>
        <pc:spChg chg="mod">
          <ac:chgData name="Vilma Nurmela" userId="497a2336-e277-4563-b263-10e00b39d937" providerId="ADAL" clId="{C4885F4D-F8A7-4CA6-83F7-3C910913C309}" dt="2025-11-18T12:37:02.626" v="1447" actId="20577"/>
          <ac:spMkLst>
            <pc:docMk/>
            <pc:sldMk cId="1226783376" sldId="707"/>
            <ac:spMk id="3" creationId="{CDCE43B6-AF79-7C83-F3E9-DE9882874BB8}"/>
          </ac:spMkLst>
        </pc:spChg>
        <pc:spChg chg="mod">
          <ac:chgData name="Vilma Nurmela" userId="497a2336-e277-4563-b263-10e00b39d937" providerId="ADAL" clId="{C4885F4D-F8A7-4CA6-83F7-3C910913C309}" dt="2025-11-18T12:13:53.678" v="1234" actId="20577"/>
          <ac:spMkLst>
            <pc:docMk/>
            <pc:sldMk cId="1226783376" sldId="707"/>
            <ac:spMk id="5" creationId="{D22D0DF1-1D1A-1344-25D2-0CE9A83DCA82}"/>
          </ac:spMkLst>
        </pc:spChg>
        <pc:spChg chg="mod">
          <ac:chgData name="Vilma Nurmela" userId="497a2336-e277-4563-b263-10e00b39d937" providerId="ADAL" clId="{C4885F4D-F8A7-4CA6-83F7-3C910913C309}" dt="2025-11-18T12:12:32.758" v="1190" actId="1037"/>
          <ac:spMkLst>
            <pc:docMk/>
            <pc:sldMk cId="1226783376" sldId="707"/>
            <ac:spMk id="6" creationId="{A9078D3A-568A-B7B7-B3CB-09E6D634E8FD}"/>
          </ac:spMkLst>
        </pc:spChg>
        <pc:spChg chg="mod">
          <ac:chgData name="Vilma Nurmela" userId="497a2336-e277-4563-b263-10e00b39d937" providerId="ADAL" clId="{C4885F4D-F8A7-4CA6-83F7-3C910913C309}" dt="2025-11-18T12:12:38.530" v="1215" actId="1038"/>
          <ac:spMkLst>
            <pc:docMk/>
            <pc:sldMk cId="1226783376" sldId="707"/>
            <ac:spMk id="7" creationId="{2283EA0D-0678-A42D-B51B-5958ED2F58A1}"/>
          </ac:spMkLst>
        </pc:spChg>
        <pc:spChg chg="mod">
          <ac:chgData name="Vilma Nurmela" userId="497a2336-e277-4563-b263-10e00b39d937" providerId="ADAL" clId="{C4885F4D-F8A7-4CA6-83F7-3C910913C309}" dt="2025-11-18T12:12:28.853" v="1184" actId="1037"/>
          <ac:spMkLst>
            <pc:docMk/>
            <pc:sldMk cId="1226783376" sldId="707"/>
            <ac:spMk id="8" creationId="{43841AF5-99FE-E8E6-8575-AAB414F5ADFB}"/>
          </ac:spMkLst>
        </pc:spChg>
        <pc:spChg chg="mod">
          <ac:chgData name="Vilma Nurmela" userId="497a2336-e277-4563-b263-10e00b39d937" providerId="ADAL" clId="{C4885F4D-F8A7-4CA6-83F7-3C910913C309}" dt="2025-11-18T12:12:44.749" v="1232" actId="1038"/>
          <ac:spMkLst>
            <pc:docMk/>
            <pc:sldMk cId="1226783376" sldId="707"/>
            <ac:spMk id="9" creationId="{15FF2CA8-49F7-167A-57D4-2892D9C415CC}"/>
          </ac:spMkLst>
        </pc:spChg>
        <pc:spChg chg="mod">
          <ac:chgData name="Vilma Nurmela" userId="497a2336-e277-4563-b263-10e00b39d937" providerId="ADAL" clId="{C4885F4D-F8A7-4CA6-83F7-3C910913C309}" dt="2025-11-18T11:59:42.994" v="1061" actId="6549"/>
          <ac:spMkLst>
            <pc:docMk/>
            <pc:sldMk cId="1226783376" sldId="707"/>
            <ac:spMk id="10" creationId="{F8F86096-6658-DC73-6A7B-82966E0D60E7}"/>
          </ac:spMkLst>
        </pc:spChg>
        <pc:spChg chg="mod">
          <ac:chgData name="Vilma Nurmela" userId="497a2336-e277-4563-b263-10e00b39d937" providerId="ADAL" clId="{C4885F4D-F8A7-4CA6-83F7-3C910913C309}" dt="2025-11-18T12:39:12.267" v="1451" actId="20577"/>
          <ac:spMkLst>
            <pc:docMk/>
            <pc:sldMk cId="1226783376" sldId="707"/>
            <ac:spMk id="11" creationId="{39EB539A-827B-C711-5E48-89E4D83DF0D4}"/>
          </ac:spMkLst>
        </pc:spChg>
        <pc:spChg chg="mod">
          <ac:chgData name="Vilma Nurmela" userId="497a2336-e277-4563-b263-10e00b39d937" providerId="ADAL" clId="{C4885F4D-F8A7-4CA6-83F7-3C910913C309}" dt="2025-11-18T12:18:57.056" v="1420" actId="20577"/>
          <ac:spMkLst>
            <pc:docMk/>
            <pc:sldMk cId="1226783376" sldId="707"/>
            <ac:spMk id="18" creationId="{C782E681-9CDC-3AC8-0C04-0266764B129D}"/>
          </ac:spMkLst>
        </pc:spChg>
      </pc:sldChg>
      <pc:sldChg chg="addSp delSp modSp mod">
        <pc:chgData name="Vilma Nurmela" userId="497a2336-e277-4563-b263-10e00b39d937" providerId="ADAL" clId="{C4885F4D-F8A7-4CA6-83F7-3C910913C309}" dt="2025-12-11T09:02:34.334" v="18521"/>
        <pc:sldMkLst>
          <pc:docMk/>
          <pc:sldMk cId="2252413450" sldId="708"/>
        </pc:sldMkLst>
        <pc:spChg chg="mod">
          <ac:chgData name="Vilma Nurmela" userId="497a2336-e277-4563-b263-10e00b39d937" providerId="ADAL" clId="{C4885F4D-F8A7-4CA6-83F7-3C910913C309}" dt="2025-11-18T12:39:42.660" v="1462" actId="20577"/>
          <ac:spMkLst>
            <pc:docMk/>
            <pc:sldMk cId="2252413450" sldId="708"/>
            <ac:spMk id="2" creationId="{C749DE00-C41C-91D7-BC01-669967A5709A}"/>
          </ac:spMkLst>
        </pc:spChg>
        <pc:spChg chg="mod">
          <ac:chgData name="Vilma Nurmela" userId="497a2336-e277-4563-b263-10e00b39d937" providerId="ADAL" clId="{C4885F4D-F8A7-4CA6-83F7-3C910913C309}" dt="2025-11-18T12:42:55.296" v="1516" actId="20577"/>
          <ac:spMkLst>
            <pc:docMk/>
            <pc:sldMk cId="2252413450" sldId="708"/>
            <ac:spMk id="5" creationId="{96640CAF-18D0-821A-C3DE-C03EED087853}"/>
          </ac:spMkLst>
        </pc:spChg>
        <pc:spChg chg="mod">
          <ac:chgData name="Vilma Nurmela" userId="497a2336-e277-4563-b263-10e00b39d937" providerId="ADAL" clId="{C4885F4D-F8A7-4CA6-83F7-3C910913C309}" dt="2025-11-18T12:46:31.674" v="1590" actId="20577"/>
          <ac:spMkLst>
            <pc:docMk/>
            <pc:sldMk cId="2252413450" sldId="708"/>
            <ac:spMk id="6" creationId="{DCA27EB6-05A2-A747-DB47-46AC3C7A4A4E}"/>
          </ac:spMkLst>
        </pc:spChg>
        <pc:spChg chg="mod">
          <ac:chgData name="Vilma Nurmela" userId="497a2336-e277-4563-b263-10e00b39d937" providerId="ADAL" clId="{C4885F4D-F8A7-4CA6-83F7-3C910913C309}" dt="2025-11-18T12:44:27.848" v="1562" actId="20577"/>
          <ac:spMkLst>
            <pc:docMk/>
            <pc:sldMk cId="2252413450" sldId="708"/>
            <ac:spMk id="10" creationId="{6058FDB1-6296-09CC-8171-3708F9300CF0}"/>
          </ac:spMkLst>
        </pc:spChg>
        <pc:spChg chg="mod">
          <ac:chgData name="Vilma Nurmela" userId="497a2336-e277-4563-b263-10e00b39d937" providerId="ADAL" clId="{C4885F4D-F8A7-4CA6-83F7-3C910913C309}" dt="2025-11-18T12:45:21.158" v="1588" actId="20577"/>
          <ac:spMkLst>
            <pc:docMk/>
            <pc:sldMk cId="2252413450" sldId="708"/>
            <ac:spMk id="11" creationId="{1F47FAAA-5467-EC3F-6874-21649D82A93B}"/>
          </ac:spMkLst>
        </pc:spChg>
        <pc:spChg chg="mod">
          <ac:chgData name="Vilma Nurmela" userId="497a2336-e277-4563-b263-10e00b39d937" providerId="ADAL" clId="{C4885F4D-F8A7-4CA6-83F7-3C910913C309}" dt="2025-11-18T13:03:03.635" v="1997" actId="20577"/>
          <ac:spMkLst>
            <pc:docMk/>
            <pc:sldMk cId="2252413450" sldId="708"/>
            <ac:spMk id="15" creationId="{97DFA389-F7B9-019A-059A-EAD105267D2D}"/>
          </ac:spMkLst>
        </pc:spChg>
        <pc:spChg chg="mod">
          <ac:chgData name="Vilma Nurmela" userId="497a2336-e277-4563-b263-10e00b39d937" providerId="ADAL" clId="{C4885F4D-F8A7-4CA6-83F7-3C910913C309}" dt="2025-11-18T12:47:07.165" v="1613" actId="20577"/>
          <ac:spMkLst>
            <pc:docMk/>
            <pc:sldMk cId="2252413450" sldId="708"/>
            <ac:spMk id="17" creationId="{5C194A06-EC3B-5BDE-9F1A-7978109DFB27}"/>
          </ac:spMkLst>
        </pc:spChg>
        <pc:spChg chg="mod">
          <ac:chgData name="Vilma Nurmela" userId="497a2336-e277-4563-b263-10e00b39d937" providerId="ADAL" clId="{C4885F4D-F8A7-4CA6-83F7-3C910913C309}" dt="2025-11-18T12:47:45.711" v="1667" actId="1036"/>
          <ac:spMkLst>
            <pc:docMk/>
            <pc:sldMk cId="2252413450" sldId="708"/>
            <ac:spMk id="18" creationId="{22E20664-6C84-53D3-9EAB-98B728BDDE33}"/>
          </ac:spMkLst>
        </pc:spChg>
        <pc:spChg chg="mod">
          <ac:chgData name="Vilma Nurmela" userId="497a2336-e277-4563-b263-10e00b39d937" providerId="ADAL" clId="{C4885F4D-F8A7-4CA6-83F7-3C910913C309}" dt="2025-11-18T12:47:40.767" v="1662" actId="1036"/>
          <ac:spMkLst>
            <pc:docMk/>
            <pc:sldMk cId="2252413450" sldId="708"/>
            <ac:spMk id="19" creationId="{27762866-0591-E2E1-3120-9B8E4BB912C0}"/>
          </ac:spMkLst>
        </pc:spChg>
        <pc:spChg chg="mod">
          <ac:chgData name="Vilma Nurmela" userId="497a2336-e277-4563-b263-10e00b39d937" providerId="ADAL" clId="{C4885F4D-F8A7-4CA6-83F7-3C910913C309}" dt="2025-11-18T12:47:36.395" v="1659" actId="1038"/>
          <ac:spMkLst>
            <pc:docMk/>
            <pc:sldMk cId="2252413450" sldId="708"/>
            <ac:spMk id="20" creationId="{4759AE47-0843-C699-D6B0-3F6E2F9A0E87}"/>
          </ac:spMkLst>
        </pc:spChg>
        <pc:spChg chg="mod">
          <ac:chgData name="Vilma Nurmela" userId="497a2336-e277-4563-b263-10e00b39d937" providerId="ADAL" clId="{C4885F4D-F8A7-4CA6-83F7-3C910913C309}" dt="2025-11-18T12:47:24.030" v="1649" actId="1038"/>
          <ac:spMkLst>
            <pc:docMk/>
            <pc:sldMk cId="2252413450" sldId="708"/>
            <ac:spMk id="21" creationId="{061DDE37-9B6C-E444-CD0B-63803B7B2ABE}"/>
          </ac:spMkLst>
        </pc:spChg>
        <pc:spChg chg="mod">
          <ac:chgData name="Vilma Nurmela" userId="497a2336-e277-4563-b263-10e00b39d937" providerId="ADAL" clId="{C4885F4D-F8A7-4CA6-83F7-3C910913C309}" dt="2025-11-18T12:48:25.391" v="1716" actId="20577"/>
          <ac:spMkLst>
            <pc:docMk/>
            <pc:sldMk cId="2252413450" sldId="708"/>
            <ac:spMk id="24" creationId="{D2859856-D382-A3DB-17E2-E83C74DB5D39}"/>
          </ac:spMkLst>
        </pc:spChg>
        <pc:graphicFrameChg chg="mod">
          <ac:chgData name="Vilma Nurmela" userId="497a2336-e277-4563-b263-10e00b39d937" providerId="ADAL" clId="{C4885F4D-F8A7-4CA6-83F7-3C910913C309}" dt="2025-12-11T09:02:34.334" v="18521"/>
          <ac:graphicFrameMkLst>
            <pc:docMk/>
            <pc:sldMk cId="2252413450" sldId="708"/>
            <ac:graphicFrameMk id="7" creationId="{FD1CA5CE-C9CD-43EA-FB80-59F06FCF53BB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10T07:27:50.114" v="18237" actId="20577"/>
        <pc:sldMkLst>
          <pc:docMk/>
          <pc:sldMk cId="919846323" sldId="709"/>
        </pc:sldMkLst>
        <pc:spChg chg="mod">
          <ac:chgData name="Vilma Nurmela" userId="497a2336-e277-4563-b263-10e00b39d937" providerId="ADAL" clId="{C4885F4D-F8A7-4CA6-83F7-3C910913C309}" dt="2025-11-18T13:01:33.194" v="1965" actId="20577"/>
          <ac:spMkLst>
            <pc:docMk/>
            <pc:sldMk cId="919846323" sldId="709"/>
            <ac:spMk id="2" creationId="{5E4F01D2-49C7-2D75-71E0-9E88E34A459E}"/>
          </ac:spMkLst>
        </pc:spChg>
        <pc:spChg chg="mod">
          <ac:chgData name="Vilma Nurmela" userId="497a2336-e277-4563-b263-10e00b39d937" providerId="ADAL" clId="{C4885F4D-F8A7-4CA6-83F7-3C910913C309}" dt="2025-11-18T13:02:14.212" v="1977" actId="20577"/>
          <ac:spMkLst>
            <pc:docMk/>
            <pc:sldMk cId="919846323" sldId="709"/>
            <ac:spMk id="3" creationId="{D126843A-B0FA-2DF5-EC6C-32020F481833}"/>
          </ac:spMkLst>
        </pc:spChg>
        <pc:spChg chg="mod">
          <ac:chgData name="Vilma Nurmela" userId="497a2336-e277-4563-b263-10e00b39d937" providerId="ADAL" clId="{C4885F4D-F8A7-4CA6-83F7-3C910913C309}" dt="2025-11-18T13:02:32.088" v="1996" actId="20577"/>
          <ac:spMkLst>
            <pc:docMk/>
            <pc:sldMk cId="919846323" sldId="709"/>
            <ac:spMk id="5" creationId="{CC7E4D99-0F47-EE90-64DC-FA980AD7A9E7}"/>
          </ac:spMkLst>
        </pc:spChg>
        <pc:spChg chg="mod">
          <ac:chgData name="Vilma Nurmela" userId="497a2336-e277-4563-b263-10e00b39d937" providerId="ADAL" clId="{C4885F4D-F8A7-4CA6-83F7-3C910913C309}" dt="2025-11-18T13:01:18.915" v="1961" actId="20577"/>
          <ac:spMkLst>
            <pc:docMk/>
            <pc:sldMk cId="919846323" sldId="709"/>
            <ac:spMk id="7" creationId="{99AE2C44-7A99-A1AA-8C06-921979748FE6}"/>
          </ac:spMkLst>
        </pc:spChg>
        <pc:spChg chg="mod">
          <ac:chgData name="Vilma Nurmela" userId="497a2336-e277-4563-b263-10e00b39d937" providerId="ADAL" clId="{C4885F4D-F8A7-4CA6-83F7-3C910913C309}" dt="2025-11-18T13:01:36.180" v="1967" actId="20577"/>
          <ac:spMkLst>
            <pc:docMk/>
            <pc:sldMk cId="919846323" sldId="709"/>
            <ac:spMk id="10" creationId="{E7BEB760-7150-4FA4-24F5-56C2824392C1}"/>
          </ac:spMkLst>
        </pc:spChg>
        <pc:spChg chg="mod">
          <ac:chgData name="Vilma Nurmela" userId="497a2336-e277-4563-b263-10e00b39d937" providerId="ADAL" clId="{C4885F4D-F8A7-4CA6-83F7-3C910913C309}" dt="2025-11-18T13:01:49.853" v="1975" actId="20577"/>
          <ac:spMkLst>
            <pc:docMk/>
            <pc:sldMk cId="919846323" sldId="709"/>
            <ac:spMk id="16" creationId="{207E5906-1D4C-12F7-3570-39B30984FD5C}"/>
          </ac:spMkLst>
        </pc:spChg>
        <pc:spChg chg="mod">
          <ac:chgData name="Vilma Nurmela" userId="497a2336-e277-4563-b263-10e00b39d937" providerId="ADAL" clId="{C4885F4D-F8A7-4CA6-83F7-3C910913C309}" dt="2025-11-18T13:02:28.515" v="1985" actId="20577"/>
          <ac:spMkLst>
            <pc:docMk/>
            <pc:sldMk cId="919846323" sldId="709"/>
            <ac:spMk id="17" creationId="{27B204F7-DCE0-0141-02C7-7A50D3C7FDFF}"/>
          </ac:spMkLst>
        </pc:spChg>
        <pc:spChg chg="mod">
          <ac:chgData name="Vilma Nurmela" userId="497a2336-e277-4563-b263-10e00b39d937" providerId="ADAL" clId="{C4885F4D-F8A7-4CA6-83F7-3C910913C309}" dt="2025-12-10T07:27:50.114" v="18237" actId="20577"/>
          <ac:spMkLst>
            <pc:docMk/>
            <pc:sldMk cId="919846323" sldId="709"/>
            <ac:spMk id="19" creationId="{DC54CCCA-8F39-DAF4-BE78-ABCD45AB5338}"/>
          </ac:spMkLst>
        </pc:spChg>
        <pc:spChg chg="mod">
          <ac:chgData name="Vilma Nurmela" userId="497a2336-e277-4563-b263-10e00b39d937" providerId="ADAL" clId="{C4885F4D-F8A7-4CA6-83F7-3C910913C309}" dt="2025-11-18T13:01:45.200" v="1971" actId="20577"/>
          <ac:spMkLst>
            <pc:docMk/>
            <pc:sldMk cId="919846323" sldId="709"/>
            <ac:spMk id="21" creationId="{CCB8B821-75CC-14DB-5898-613ADC3FE8BD}"/>
          </ac:spMkLst>
        </pc:spChg>
        <pc:spChg chg="mod">
          <ac:chgData name="Vilma Nurmela" userId="497a2336-e277-4563-b263-10e00b39d937" providerId="ADAL" clId="{C4885F4D-F8A7-4CA6-83F7-3C910913C309}" dt="2025-11-18T13:02:26.140" v="1983" actId="20577"/>
          <ac:spMkLst>
            <pc:docMk/>
            <pc:sldMk cId="919846323" sldId="709"/>
            <ac:spMk id="22" creationId="{1F8CA7FB-4EFF-3E13-D977-34143368A0AA}"/>
          </ac:spMkLst>
        </pc:spChg>
        <pc:spChg chg="mod">
          <ac:chgData name="Vilma Nurmela" userId="497a2336-e277-4563-b263-10e00b39d937" providerId="ADAL" clId="{C4885F4D-F8A7-4CA6-83F7-3C910913C309}" dt="2025-11-18T13:02:17.766" v="1981" actId="20577"/>
          <ac:spMkLst>
            <pc:docMk/>
            <pc:sldMk cId="919846323" sldId="709"/>
            <ac:spMk id="23" creationId="{67440459-E1EE-D4A6-9429-A3AFDAA7DE1E}"/>
          </ac:spMkLst>
        </pc:spChg>
        <pc:spChg chg="mod">
          <ac:chgData name="Vilma Nurmela" userId="497a2336-e277-4563-b263-10e00b39d937" providerId="ADAL" clId="{C4885F4D-F8A7-4CA6-83F7-3C910913C309}" dt="2025-11-18T13:05:54.718" v="2384" actId="20577"/>
          <ac:spMkLst>
            <pc:docMk/>
            <pc:sldMk cId="919846323" sldId="709"/>
            <ac:spMk id="24" creationId="{35BBAC23-CC69-6E13-01BE-D2A22AD1CF97}"/>
          </ac:spMkLst>
        </pc:spChg>
      </pc:sldChg>
      <pc:sldChg chg="addSp delSp modSp mod">
        <pc:chgData name="Vilma Nurmela" userId="497a2336-e277-4563-b263-10e00b39d937" providerId="ADAL" clId="{C4885F4D-F8A7-4CA6-83F7-3C910913C309}" dt="2025-12-10T07:30:24.515" v="18241" actId="20577"/>
        <pc:sldMkLst>
          <pc:docMk/>
          <pc:sldMk cId="3858868684" sldId="710"/>
        </pc:sldMkLst>
        <pc:spChg chg="mod">
          <ac:chgData name="Vilma Nurmela" userId="497a2336-e277-4563-b263-10e00b39d937" providerId="ADAL" clId="{C4885F4D-F8A7-4CA6-83F7-3C910913C309}" dt="2025-12-02T14:04:05.358" v="17936" actId="20577"/>
          <ac:spMkLst>
            <pc:docMk/>
            <pc:sldMk cId="3858868684" sldId="710"/>
            <ac:spMk id="2" creationId="{95CC1807-4557-FAF2-FABD-23E4D6A3A45C}"/>
          </ac:spMkLst>
        </pc:spChg>
        <pc:spChg chg="mod">
          <ac:chgData name="Vilma Nurmela" userId="497a2336-e277-4563-b263-10e00b39d937" providerId="ADAL" clId="{C4885F4D-F8A7-4CA6-83F7-3C910913C309}" dt="2025-11-18T14:10:18.197" v="3239" actId="20577"/>
          <ac:spMkLst>
            <pc:docMk/>
            <pc:sldMk cId="3858868684" sldId="710"/>
            <ac:spMk id="3" creationId="{6FED1681-C89B-FE15-B38E-23AFEC95F0B7}"/>
          </ac:spMkLst>
        </pc:spChg>
        <pc:spChg chg="mod">
          <ac:chgData name="Vilma Nurmela" userId="497a2336-e277-4563-b263-10e00b39d937" providerId="ADAL" clId="{C4885F4D-F8A7-4CA6-83F7-3C910913C309}" dt="2025-11-18T14:10:51.984" v="3255" actId="20577"/>
          <ac:spMkLst>
            <pc:docMk/>
            <pc:sldMk cId="3858868684" sldId="710"/>
            <ac:spMk id="5" creationId="{00182F05-F834-723C-6480-DDBDCD76E3E6}"/>
          </ac:spMkLst>
        </pc:spChg>
        <pc:spChg chg="mod">
          <ac:chgData name="Vilma Nurmela" userId="497a2336-e277-4563-b263-10e00b39d937" providerId="ADAL" clId="{C4885F4D-F8A7-4CA6-83F7-3C910913C309}" dt="2025-11-18T14:10:11.092" v="3233" actId="20577"/>
          <ac:spMkLst>
            <pc:docMk/>
            <pc:sldMk cId="3858868684" sldId="710"/>
            <ac:spMk id="12" creationId="{8A36F56F-174E-97B4-B546-ABE73628F2A7}"/>
          </ac:spMkLst>
        </pc:spChg>
        <pc:spChg chg="mod">
          <ac:chgData name="Vilma Nurmela" userId="497a2336-e277-4563-b263-10e00b39d937" providerId="ADAL" clId="{C4885F4D-F8A7-4CA6-83F7-3C910913C309}" dt="2025-12-10T07:30:24.515" v="18241" actId="20577"/>
          <ac:spMkLst>
            <pc:docMk/>
            <pc:sldMk cId="3858868684" sldId="710"/>
            <ac:spMk id="13" creationId="{C0EAD7E8-B4A7-2ABA-7231-35405E3825B6}"/>
          </ac:spMkLst>
        </pc:spChg>
        <pc:spChg chg="mod">
          <ac:chgData name="Vilma Nurmela" userId="497a2336-e277-4563-b263-10e00b39d937" providerId="ADAL" clId="{C4885F4D-F8A7-4CA6-83F7-3C910913C309}" dt="2025-11-18T14:04:00.366" v="3155" actId="20577"/>
          <ac:spMkLst>
            <pc:docMk/>
            <pc:sldMk cId="3858868684" sldId="710"/>
            <ac:spMk id="14" creationId="{D3D482AA-C409-7986-1478-712F4FA66F28}"/>
          </ac:spMkLst>
        </pc:spChg>
        <pc:spChg chg="mod">
          <ac:chgData name="Vilma Nurmela" userId="497a2336-e277-4563-b263-10e00b39d937" providerId="ADAL" clId="{C4885F4D-F8A7-4CA6-83F7-3C910913C309}" dt="2025-11-18T14:11:20.945" v="3262" actId="20577"/>
          <ac:spMkLst>
            <pc:docMk/>
            <pc:sldMk cId="3858868684" sldId="710"/>
            <ac:spMk id="15" creationId="{4D08B37D-F3B6-D7CF-CB97-813E4EA5298C}"/>
          </ac:spMkLst>
        </pc:spChg>
        <pc:spChg chg="mod">
          <ac:chgData name="Vilma Nurmela" userId="497a2336-e277-4563-b263-10e00b39d937" providerId="ADAL" clId="{C4885F4D-F8A7-4CA6-83F7-3C910913C309}" dt="2025-11-18T14:11:33.892" v="3266" actId="20577"/>
          <ac:spMkLst>
            <pc:docMk/>
            <pc:sldMk cId="3858868684" sldId="710"/>
            <ac:spMk id="17" creationId="{818020E4-7611-7F3F-59D5-251190C48681}"/>
          </ac:spMkLst>
        </pc:spChg>
        <pc:spChg chg="mod">
          <ac:chgData name="Vilma Nurmela" userId="497a2336-e277-4563-b263-10e00b39d937" providerId="ADAL" clId="{C4885F4D-F8A7-4CA6-83F7-3C910913C309}" dt="2025-11-18T14:11:07.244" v="3258" actId="20577"/>
          <ac:spMkLst>
            <pc:docMk/>
            <pc:sldMk cId="3858868684" sldId="710"/>
            <ac:spMk id="18" creationId="{ADC540E4-2DD1-5F79-CB25-B722A679C069}"/>
          </ac:spMkLst>
        </pc:spChg>
        <pc:spChg chg="mod">
          <ac:chgData name="Vilma Nurmela" userId="497a2336-e277-4563-b263-10e00b39d937" providerId="ADAL" clId="{C4885F4D-F8A7-4CA6-83F7-3C910913C309}" dt="2025-11-18T14:11:23.594" v="3264" actId="20577"/>
          <ac:spMkLst>
            <pc:docMk/>
            <pc:sldMk cId="3858868684" sldId="710"/>
            <ac:spMk id="19" creationId="{8FCB38D0-AC82-5DE4-5B67-A3F685F68A3A}"/>
          </ac:spMkLst>
        </pc:spChg>
        <pc:spChg chg="mod">
          <ac:chgData name="Vilma Nurmela" userId="497a2336-e277-4563-b263-10e00b39d937" providerId="ADAL" clId="{C4885F4D-F8A7-4CA6-83F7-3C910913C309}" dt="2025-11-18T14:11:38.057" v="3273" actId="20577"/>
          <ac:spMkLst>
            <pc:docMk/>
            <pc:sldMk cId="3858868684" sldId="710"/>
            <ac:spMk id="20" creationId="{FD6D7AD8-766C-FCFE-4526-8DF7E893DFEE}"/>
          </ac:spMkLst>
        </pc:spChg>
        <pc:spChg chg="mod">
          <ac:chgData name="Vilma Nurmela" userId="497a2336-e277-4563-b263-10e00b39d937" providerId="ADAL" clId="{C4885F4D-F8A7-4CA6-83F7-3C910913C309}" dt="2025-11-18T14:12:27.306" v="3446" actId="20577"/>
          <ac:spMkLst>
            <pc:docMk/>
            <pc:sldMk cId="3858868684" sldId="710"/>
            <ac:spMk id="24" creationId="{56F3C673-6B78-D9F2-338D-E0DB4EFAB98A}"/>
          </ac:spMkLst>
        </pc:spChg>
      </pc:sldChg>
      <pc:sldChg chg="addSp delSp modSp mod">
        <pc:chgData name="Vilma Nurmela" userId="497a2336-e277-4563-b263-10e00b39d937" providerId="ADAL" clId="{C4885F4D-F8A7-4CA6-83F7-3C910913C309}" dt="2025-12-11T09:04:26.168" v="18578" actId="20577"/>
        <pc:sldMkLst>
          <pc:docMk/>
          <pc:sldMk cId="2185555517" sldId="711"/>
        </pc:sldMkLst>
        <pc:spChg chg="mod">
          <ac:chgData name="Vilma Nurmela" userId="497a2336-e277-4563-b263-10e00b39d937" providerId="ADAL" clId="{C4885F4D-F8A7-4CA6-83F7-3C910913C309}" dt="2025-11-18T13:46:13.225" v="2631" actId="1038"/>
          <ac:spMkLst>
            <pc:docMk/>
            <pc:sldMk cId="2185555517" sldId="711"/>
            <ac:spMk id="3" creationId="{188DFCE6-517A-A76B-A580-FA9618A53E49}"/>
          </ac:spMkLst>
        </pc:spChg>
        <pc:spChg chg="mod">
          <ac:chgData name="Vilma Nurmela" userId="497a2336-e277-4563-b263-10e00b39d937" providerId="ADAL" clId="{C4885F4D-F8A7-4CA6-83F7-3C910913C309}" dt="2025-12-11T09:04:26.168" v="18578" actId="20577"/>
          <ac:spMkLst>
            <pc:docMk/>
            <pc:sldMk cId="2185555517" sldId="711"/>
            <ac:spMk id="6" creationId="{1E24A9BD-1C57-5D64-27B0-22418DC6711D}"/>
          </ac:spMkLst>
        </pc:spChg>
        <pc:spChg chg="mod">
          <ac:chgData name="Vilma Nurmela" userId="497a2336-e277-4563-b263-10e00b39d937" providerId="ADAL" clId="{C4885F4D-F8A7-4CA6-83F7-3C910913C309}" dt="2025-11-18T13:48:42.452" v="2700" actId="1036"/>
          <ac:spMkLst>
            <pc:docMk/>
            <pc:sldMk cId="2185555517" sldId="711"/>
            <ac:spMk id="7" creationId="{657FF57B-061B-866E-E24F-929B7C0E58D9}"/>
          </ac:spMkLst>
        </pc:spChg>
        <pc:spChg chg="mod">
          <ac:chgData name="Vilma Nurmela" userId="497a2336-e277-4563-b263-10e00b39d937" providerId="ADAL" clId="{C4885F4D-F8A7-4CA6-83F7-3C910913C309}" dt="2025-11-18T13:48:17.531" v="2699" actId="1036"/>
          <ac:spMkLst>
            <pc:docMk/>
            <pc:sldMk cId="2185555517" sldId="711"/>
            <ac:spMk id="9" creationId="{51EF009D-9338-8650-B1D1-9B8AC74B0C30}"/>
          </ac:spMkLst>
        </pc:spChg>
        <pc:spChg chg="mod">
          <ac:chgData name="Vilma Nurmela" userId="497a2336-e277-4563-b263-10e00b39d937" providerId="ADAL" clId="{C4885F4D-F8A7-4CA6-83F7-3C910913C309}" dt="2025-11-18T13:41:47.840" v="2581" actId="20577"/>
          <ac:spMkLst>
            <pc:docMk/>
            <pc:sldMk cId="2185555517" sldId="711"/>
            <ac:spMk id="10" creationId="{C99C3F34-6708-DD15-B85B-CB5898426286}"/>
          </ac:spMkLst>
        </pc:spChg>
        <pc:spChg chg="mod">
          <ac:chgData name="Vilma Nurmela" userId="497a2336-e277-4563-b263-10e00b39d937" providerId="ADAL" clId="{C4885F4D-F8A7-4CA6-83F7-3C910913C309}" dt="2025-11-18T13:47:45.297" v="2691" actId="1038"/>
          <ac:spMkLst>
            <pc:docMk/>
            <pc:sldMk cId="2185555517" sldId="711"/>
            <ac:spMk id="11" creationId="{5045ACFA-E737-6341-60F6-DFD8A8DA8BC7}"/>
          </ac:spMkLst>
        </pc:spChg>
        <pc:spChg chg="mod">
          <ac:chgData name="Vilma Nurmela" userId="497a2336-e277-4563-b263-10e00b39d937" providerId="ADAL" clId="{C4885F4D-F8A7-4CA6-83F7-3C910913C309}" dt="2025-11-18T13:40:27.956" v="2569" actId="20577"/>
          <ac:spMkLst>
            <pc:docMk/>
            <pc:sldMk cId="2185555517" sldId="711"/>
            <ac:spMk id="12" creationId="{537DB256-8ED9-4022-906F-CF0A5C479284}"/>
          </ac:spMkLst>
        </pc:spChg>
        <pc:spChg chg="mod">
          <ac:chgData name="Vilma Nurmela" userId="497a2336-e277-4563-b263-10e00b39d937" providerId="ADAL" clId="{C4885F4D-F8A7-4CA6-83F7-3C910913C309}" dt="2025-11-18T13:40:15.404" v="2567" actId="20577"/>
          <ac:spMkLst>
            <pc:docMk/>
            <pc:sldMk cId="2185555517" sldId="711"/>
            <ac:spMk id="13" creationId="{7B54F56B-1B1B-C767-4E63-14F87959C5A6}"/>
          </ac:spMkLst>
        </pc:spChg>
        <pc:spChg chg="mod">
          <ac:chgData name="Vilma Nurmela" userId="497a2336-e277-4563-b263-10e00b39d937" providerId="ADAL" clId="{C4885F4D-F8A7-4CA6-83F7-3C910913C309}" dt="2025-11-18T13:40:12.212" v="2563" actId="20577"/>
          <ac:spMkLst>
            <pc:docMk/>
            <pc:sldMk cId="2185555517" sldId="711"/>
            <ac:spMk id="14" creationId="{762FD2D0-7F68-C837-85F8-F5210120C474}"/>
          </ac:spMkLst>
        </pc:spChg>
        <pc:graphicFrameChg chg="modGraphic">
          <ac:chgData name="Vilma Nurmela" userId="497a2336-e277-4563-b263-10e00b39d937" providerId="ADAL" clId="{C4885F4D-F8A7-4CA6-83F7-3C910913C309}" dt="2025-12-10T07:28:32.813" v="18240" actId="20577"/>
          <ac:graphicFrameMkLst>
            <pc:docMk/>
            <pc:sldMk cId="2185555517" sldId="711"/>
            <ac:graphicFrameMk id="23" creationId="{9FEB5265-E6AD-2732-1E33-B7E58E1E7DA4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11T09:16:32.556" v="18586"/>
        <pc:sldMkLst>
          <pc:docMk/>
          <pc:sldMk cId="3005228092" sldId="713"/>
        </pc:sldMkLst>
        <pc:spChg chg="mod">
          <ac:chgData name="Vilma Nurmela" userId="497a2336-e277-4563-b263-10e00b39d937" providerId="ADAL" clId="{C4885F4D-F8A7-4CA6-83F7-3C910913C309}" dt="2025-12-10T07:40:59.652" v="18349" actId="20577"/>
          <ac:spMkLst>
            <pc:docMk/>
            <pc:sldMk cId="3005228092" sldId="713"/>
            <ac:spMk id="5" creationId="{31636C09-6181-FE25-3B7B-2A483A7A5676}"/>
          </ac:spMkLst>
        </pc:spChg>
        <pc:spChg chg="mod">
          <ac:chgData name="Vilma Nurmela" userId="497a2336-e277-4563-b263-10e00b39d937" providerId="ADAL" clId="{C4885F4D-F8A7-4CA6-83F7-3C910913C309}" dt="2025-11-20T14:08:09.479" v="4526" actId="20577"/>
          <ac:spMkLst>
            <pc:docMk/>
            <pc:sldMk cId="3005228092" sldId="713"/>
            <ac:spMk id="12" creationId="{771D6E85-1EFF-5E07-4952-D53269A88138}"/>
          </ac:spMkLst>
        </pc:spChg>
        <pc:graphicFrameChg chg="modGraphic">
          <ac:chgData name="Vilma Nurmela" userId="497a2336-e277-4563-b263-10e00b39d937" providerId="ADAL" clId="{C4885F4D-F8A7-4CA6-83F7-3C910913C309}" dt="2025-11-20T14:07:26.588" v="4461" actId="20577"/>
          <ac:graphicFrameMkLst>
            <pc:docMk/>
            <pc:sldMk cId="3005228092" sldId="713"/>
            <ac:graphicFrameMk id="6" creationId="{9879A2F9-A62D-DEC4-D73B-C6B45E8947BC}"/>
          </ac:graphicFrameMkLst>
        </pc:graphicFrameChg>
        <pc:graphicFrameChg chg="mod">
          <ac:chgData name="Vilma Nurmela" userId="497a2336-e277-4563-b263-10e00b39d937" providerId="ADAL" clId="{C4885F4D-F8A7-4CA6-83F7-3C910913C309}" dt="2025-12-11T09:16:32.556" v="18586"/>
          <ac:graphicFrameMkLst>
            <pc:docMk/>
            <pc:sldMk cId="3005228092" sldId="713"/>
            <ac:graphicFrameMk id="8" creationId="{4066AB8A-C514-3B35-2290-E90E02C02365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02T13:27:51.457" v="15096" actId="478"/>
        <pc:sldMkLst>
          <pc:docMk/>
          <pc:sldMk cId="1255380432" sldId="714"/>
        </pc:sldMkLst>
        <pc:spChg chg="mod">
          <ac:chgData name="Vilma Nurmela" userId="497a2336-e277-4563-b263-10e00b39d937" providerId="ADAL" clId="{C4885F4D-F8A7-4CA6-83F7-3C910913C309}" dt="2025-11-20T14:20:34.905" v="4640" actId="20577"/>
          <ac:spMkLst>
            <pc:docMk/>
            <pc:sldMk cId="1255380432" sldId="714"/>
            <ac:spMk id="2" creationId="{FE6582B6-E146-016E-2CB9-E66553AE88A0}"/>
          </ac:spMkLst>
        </pc:spChg>
        <pc:spChg chg="mod">
          <ac:chgData name="Vilma Nurmela" userId="497a2336-e277-4563-b263-10e00b39d937" providerId="ADAL" clId="{C4885F4D-F8A7-4CA6-83F7-3C910913C309}" dt="2025-11-20T14:15:42.187" v="4535" actId="20577"/>
          <ac:spMkLst>
            <pc:docMk/>
            <pc:sldMk cId="1255380432" sldId="714"/>
            <ac:spMk id="5" creationId="{3D9D9E1C-6DF5-E490-8B58-087A584CD2CE}"/>
          </ac:spMkLst>
        </pc:spChg>
        <pc:graphicFrameChg chg="mod">
          <ac:chgData name="Vilma Nurmela" userId="497a2336-e277-4563-b263-10e00b39d937" providerId="ADAL" clId="{C4885F4D-F8A7-4CA6-83F7-3C910913C309}" dt="2025-11-20T14:19:18.939" v="4556" actId="207"/>
          <ac:graphicFrameMkLst>
            <pc:docMk/>
            <pc:sldMk cId="1255380432" sldId="714"/>
            <ac:graphicFrameMk id="13" creationId="{4D98AF33-A8B9-BD8D-D2DC-E1CED75A66E4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02T13:33:03.947" v="15129" actId="478"/>
        <pc:sldMkLst>
          <pc:docMk/>
          <pc:sldMk cId="1621769321" sldId="715"/>
        </pc:sldMkLst>
        <pc:spChg chg="mod">
          <ac:chgData name="Vilma Nurmela" userId="497a2336-e277-4563-b263-10e00b39d937" providerId="ADAL" clId="{C4885F4D-F8A7-4CA6-83F7-3C910913C309}" dt="2025-11-22T12:57:04.395" v="6703" actId="20577"/>
          <ac:spMkLst>
            <pc:docMk/>
            <pc:sldMk cId="1621769321" sldId="715"/>
            <ac:spMk id="5" creationId="{1C2B24E7-7DF1-378F-6638-58BA5D5BFCEF}"/>
          </ac:spMkLst>
        </pc:spChg>
        <pc:spChg chg="mod">
          <ac:chgData name="Vilma Nurmela" userId="497a2336-e277-4563-b263-10e00b39d937" providerId="ADAL" clId="{C4885F4D-F8A7-4CA6-83F7-3C910913C309}" dt="2025-11-22T12:34:21.585" v="6293" actId="20577"/>
          <ac:spMkLst>
            <pc:docMk/>
            <pc:sldMk cId="1621769321" sldId="715"/>
            <ac:spMk id="6" creationId="{F00766B7-7DC8-92AE-199F-D87C3D47A01F}"/>
          </ac:spMkLst>
        </pc:spChg>
        <pc:graphicFrameChg chg="modGraphic">
          <ac:chgData name="Vilma Nurmela" userId="497a2336-e277-4563-b263-10e00b39d937" providerId="ADAL" clId="{C4885F4D-F8A7-4CA6-83F7-3C910913C309}" dt="2025-11-22T12:55:19.831" v="6408" actId="20577"/>
          <ac:graphicFrameMkLst>
            <pc:docMk/>
            <pc:sldMk cId="1621769321" sldId="715"/>
            <ac:graphicFrameMk id="10" creationId="{41FB637F-3A77-2828-3D73-0EDE4B3E39A3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10T07:44:00.382" v="18352"/>
        <pc:sldMkLst>
          <pc:docMk/>
          <pc:sldMk cId="4149691895" sldId="718"/>
        </pc:sldMkLst>
        <pc:spChg chg="del mod">
          <ac:chgData name="Vilma Nurmela" userId="497a2336-e277-4563-b263-10e00b39d937" providerId="ADAL" clId="{C4885F4D-F8A7-4CA6-83F7-3C910913C309}" dt="2025-12-10T07:43:59.454" v="18351" actId="478"/>
          <ac:spMkLst>
            <pc:docMk/>
            <pc:sldMk cId="4149691895" sldId="718"/>
            <ac:spMk id="5" creationId="{22B97AA1-54A2-3CC6-DDB8-74C82E3D9130}"/>
          </ac:spMkLst>
        </pc:spChg>
        <pc:spChg chg="mod">
          <ac:chgData name="Vilma Nurmela" userId="497a2336-e277-4563-b263-10e00b39d937" providerId="ADAL" clId="{C4885F4D-F8A7-4CA6-83F7-3C910913C309}" dt="2025-11-25T13:01:05.918" v="8672" actId="1037"/>
          <ac:spMkLst>
            <pc:docMk/>
            <pc:sldMk cId="4149691895" sldId="718"/>
            <ac:spMk id="7" creationId="{BDC65CAC-D092-3AB5-3EE4-1BA05988E34D}"/>
          </ac:spMkLst>
        </pc:spChg>
        <pc:spChg chg="mod">
          <ac:chgData name="Vilma Nurmela" userId="497a2336-e277-4563-b263-10e00b39d937" providerId="ADAL" clId="{C4885F4D-F8A7-4CA6-83F7-3C910913C309}" dt="2025-11-25T13:01:05.918" v="8672" actId="1037"/>
          <ac:spMkLst>
            <pc:docMk/>
            <pc:sldMk cId="4149691895" sldId="718"/>
            <ac:spMk id="8" creationId="{D40910F0-046D-06BE-0807-AB7816B3AD9D}"/>
          </ac:spMkLst>
        </pc:spChg>
        <pc:spChg chg="add mod">
          <ac:chgData name="Vilma Nurmela" userId="497a2336-e277-4563-b263-10e00b39d937" providerId="ADAL" clId="{C4885F4D-F8A7-4CA6-83F7-3C910913C309}" dt="2025-11-25T13:01:05.918" v="8672" actId="1037"/>
          <ac:spMkLst>
            <pc:docMk/>
            <pc:sldMk cId="4149691895" sldId="718"/>
            <ac:spMk id="9" creationId="{8EDFDE3C-99E6-D31E-0D4C-35DB66A1986C}"/>
          </ac:spMkLst>
        </pc:spChg>
        <pc:spChg chg="add mod">
          <ac:chgData name="Vilma Nurmela" userId="497a2336-e277-4563-b263-10e00b39d937" providerId="ADAL" clId="{C4885F4D-F8A7-4CA6-83F7-3C910913C309}" dt="2025-12-10T07:44:00.382" v="18352"/>
          <ac:spMkLst>
            <pc:docMk/>
            <pc:sldMk cId="4149691895" sldId="718"/>
            <ac:spMk id="10" creationId="{BC29BBFB-D509-78DC-CF7A-28D72E5ABC31}"/>
          </ac:spMkLst>
        </pc:spChg>
        <pc:graphicFrameChg chg="add mod">
          <ac:chgData name="Vilma Nurmela" userId="497a2336-e277-4563-b263-10e00b39d937" providerId="ADAL" clId="{C4885F4D-F8A7-4CA6-83F7-3C910913C309}" dt="2025-11-25T13:01:37.361" v="8707"/>
          <ac:graphicFrameMkLst>
            <pc:docMk/>
            <pc:sldMk cId="4149691895" sldId="718"/>
            <ac:graphicFrameMk id="2" creationId="{E8B71BC0-17BF-348E-DEF2-56FC3448187C}"/>
          </ac:graphicFrameMkLst>
        </pc:graphicFrameChg>
        <pc:graphicFrameChg chg="mod">
          <ac:chgData name="Vilma Nurmela" userId="497a2336-e277-4563-b263-10e00b39d937" providerId="ADAL" clId="{C4885F4D-F8A7-4CA6-83F7-3C910913C309}" dt="2025-11-25T13:01:41.957" v="8708"/>
          <ac:graphicFrameMkLst>
            <pc:docMk/>
            <pc:sldMk cId="4149691895" sldId="718"/>
            <ac:graphicFrameMk id="3" creationId="{52DFD9FD-7DC6-5A7C-B6AE-E92156A8D112}"/>
          </ac:graphicFrameMkLst>
        </pc:graphicFrameChg>
        <pc:graphicFrameChg chg="mod">
          <ac:chgData name="Vilma Nurmela" userId="497a2336-e277-4563-b263-10e00b39d937" providerId="ADAL" clId="{C4885F4D-F8A7-4CA6-83F7-3C910913C309}" dt="2025-11-25T13:01:25.572" v="8705"/>
          <ac:graphicFrameMkLst>
            <pc:docMk/>
            <pc:sldMk cId="4149691895" sldId="718"/>
            <ac:graphicFrameMk id="20" creationId="{29630733-CC67-4624-0E86-D16746A6E76C}"/>
          </ac:graphicFrameMkLst>
        </pc:graphicFrameChg>
      </pc:sldChg>
      <pc:sldChg chg="addSp delSp modSp mod modAnim">
        <pc:chgData name="Vilma Nurmela" userId="497a2336-e277-4563-b263-10e00b39d937" providerId="ADAL" clId="{C4885F4D-F8A7-4CA6-83F7-3C910913C309}" dt="2025-12-11T08:51:41.529" v="18514" actId="20577"/>
        <pc:sldMkLst>
          <pc:docMk/>
          <pc:sldMk cId="3692079550" sldId="719"/>
        </pc:sldMkLst>
        <pc:spChg chg="mod">
          <ac:chgData name="Vilma Nurmela" userId="497a2336-e277-4563-b263-10e00b39d937" providerId="ADAL" clId="{C4885F4D-F8A7-4CA6-83F7-3C910913C309}" dt="2025-12-11T08:51:41.529" v="18514" actId="20577"/>
          <ac:spMkLst>
            <pc:docMk/>
            <pc:sldMk cId="3692079550" sldId="719"/>
            <ac:spMk id="5" creationId="{B722AD76-FB2E-A4B1-F69E-E1EAD3A26459}"/>
          </ac:spMkLst>
        </pc:spChg>
      </pc:sldChg>
      <pc:sldChg chg="addSp delSp modSp mod">
        <pc:chgData name="Vilma Nurmela" userId="497a2336-e277-4563-b263-10e00b39d937" providerId="ADAL" clId="{C4885F4D-F8A7-4CA6-83F7-3C910913C309}" dt="2025-12-02T13:27:45.302" v="15094" actId="478"/>
        <pc:sldMkLst>
          <pc:docMk/>
          <pc:sldMk cId="3441644091" sldId="720"/>
        </pc:sldMkLst>
        <pc:spChg chg="mod">
          <ac:chgData name="Vilma Nurmela" userId="497a2336-e277-4563-b263-10e00b39d937" providerId="ADAL" clId="{C4885F4D-F8A7-4CA6-83F7-3C910913C309}" dt="2025-11-20T14:32:02.871" v="4934" actId="114"/>
          <ac:spMkLst>
            <pc:docMk/>
            <pc:sldMk cId="3441644091" sldId="720"/>
            <ac:spMk id="2" creationId="{2EEDE6C9-A9ED-A167-F18F-6B2A61D293A2}"/>
          </ac:spMkLst>
        </pc:spChg>
        <pc:spChg chg="mod">
          <ac:chgData name="Vilma Nurmela" userId="497a2336-e277-4563-b263-10e00b39d937" providerId="ADAL" clId="{C4885F4D-F8A7-4CA6-83F7-3C910913C309}" dt="2025-11-20T14:21:01.513" v="4643" actId="20577"/>
          <ac:spMkLst>
            <pc:docMk/>
            <pc:sldMk cId="3441644091" sldId="720"/>
            <ac:spMk id="5" creationId="{08FB0C4A-9543-1044-7428-121827F62E1E}"/>
          </ac:spMkLst>
        </pc:spChg>
        <pc:graphicFrameChg chg="mod">
          <ac:chgData name="Vilma Nurmela" userId="497a2336-e277-4563-b263-10e00b39d937" providerId="ADAL" clId="{C4885F4D-F8A7-4CA6-83F7-3C910913C309}" dt="2025-11-20T14:29:47.854" v="4664" actId="207"/>
          <ac:graphicFrameMkLst>
            <pc:docMk/>
            <pc:sldMk cId="3441644091" sldId="720"/>
            <ac:graphicFrameMk id="13" creationId="{EFCD5CE6-10C3-5378-7E04-B29B9E55B339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11T09:23:12.877" v="18609" actId="114"/>
        <pc:sldMkLst>
          <pc:docMk/>
          <pc:sldMk cId="2620278332" sldId="721"/>
        </pc:sldMkLst>
        <pc:spChg chg="mod">
          <ac:chgData name="Vilma Nurmela" userId="497a2336-e277-4563-b263-10e00b39d937" providerId="ADAL" clId="{C4885F4D-F8A7-4CA6-83F7-3C910913C309}" dt="2025-12-11T09:23:12.877" v="18609" actId="114"/>
          <ac:spMkLst>
            <pc:docMk/>
            <pc:sldMk cId="2620278332" sldId="721"/>
            <ac:spMk id="2" creationId="{2A0B6094-DFF5-3E94-DA74-D7E359F1C476}"/>
          </ac:spMkLst>
        </pc:spChg>
        <pc:spChg chg="mod">
          <ac:chgData name="Vilma Nurmela" userId="497a2336-e277-4563-b263-10e00b39d937" providerId="ADAL" clId="{C4885F4D-F8A7-4CA6-83F7-3C910913C309}" dt="2025-11-20T14:32:48.157" v="4941" actId="20577"/>
          <ac:spMkLst>
            <pc:docMk/>
            <pc:sldMk cId="2620278332" sldId="721"/>
            <ac:spMk id="5" creationId="{4B1C6BC4-03BD-448F-3622-BB8BFAA8D3D0}"/>
          </ac:spMkLst>
        </pc:spChg>
        <pc:graphicFrameChg chg="mod">
          <ac:chgData name="Vilma Nurmela" userId="497a2336-e277-4563-b263-10e00b39d937" providerId="ADAL" clId="{C4885F4D-F8A7-4CA6-83F7-3C910913C309}" dt="2025-11-20T14:37:10.484" v="4964" actId="207"/>
          <ac:graphicFrameMkLst>
            <pc:docMk/>
            <pc:sldMk cId="2620278332" sldId="721"/>
            <ac:graphicFrameMk id="13" creationId="{57F0A1BF-697D-C67D-2464-164A8559DC2A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02T13:27:33.082" v="15090" actId="478"/>
        <pc:sldMkLst>
          <pc:docMk/>
          <pc:sldMk cId="487029420" sldId="722"/>
        </pc:sldMkLst>
        <pc:spChg chg="mod">
          <ac:chgData name="Vilma Nurmela" userId="497a2336-e277-4563-b263-10e00b39d937" providerId="ADAL" clId="{C4885F4D-F8A7-4CA6-83F7-3C910913C309}" dt="2025-11-20T14:48:05.610" v="5359" actId="20577"/>
          <ac:spMkLst>
            <pc:docMk/>
            <pc:sldMk cId="487029420" sldId="722"/>
            <ac:spMk id="2" creationId="{829C06AA-08D3-5D10-CAEE-12931D75A4B9}"/>
          </ac:spMkLst>
        </pc:spChg>
        <pc:spChg chg="mod">
          <ac:chgData name="Vilma Nurmela" userId="497a2336-e277-4563-b263-10e00b39d937" providerId="ADAL" clId="{C4885F4D-F8A7-4CA6-83F7-3C910913C309}" dt="2025-11-20T14:39:37.077" v="5080" actId="20577"/>
          <ac:spMkLst>
            <pc:docMk/>
            <pc:sldMk cId="487029420" sldId="722"/>
            <ac:spMk id="5" creationId="{52A0217B-78FC-4056-D815-79A74271CBD8}"/>
          </ac:spMkLst>
        </pc:spChg>
        <pc:graphicFrameChg chg="mod">
          <ac:chgData name="Vilma Nurmela" userId="497a2336-e277-4563-b263-10e00b39d937" providerId="ADAL" clId="{C4885F4D-F8A7-4CA6-83F7-3C910913C309}" dt="2025-11-20T14:46:16.647" v="5101" actId="207"/>
          <ac:graphicFrameMkLst>
            <pc:docMk/>
            <pc:sldMk cId="487029420" sldId="722"/>
            <ac:graphicFrameMk id="13" creationId="{60C4CA68-4DC7-71FC-98E0-8DFAE848979C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02T13:27:26.502" v="15088" actId="478"/>
        <pc:sldMkLst>
          <pc:docMk/>
          <pc:sldMk cId="2042052748" sldId="723"/>
        </pc:sldMkLst>
        <pc:spChg chg="mod">
          <ac:chgData name="Vilma Nurmela" userId="497a2336-e277-4563-b263-10e00b39d937" providerId="ADAL" clId="{C4885F4D-F8A7-4CA6-83F7-3C910913C309}" dt="2025-11-20T14:56:34.161" v="5670" actId="114"/>
          <ac:spMkLst>
            <pc:docMk/>
            <pc:sldMk cId="2042052748" sldId="723"/>
            <ac:spMk id="2" creationId="{F4996790-F99E-7073-DA04-1EE574D0880C}"/>
          </ac:spMkLst>
        </pc:spChg>
        <pc:spChg chg="mod">
          <ac:chgData name="Vilma Nurmela" userId="497a2336-e277-4563-b263-10e00b39d937" providerId="ADAL" clId="{C4885F4D-F8A7-4CA6-83F7-3C910913C309}" dt="2025-11-20T14:48:42.255" v="5362" actId="20577"/>
          <ac:spMkLst>
            <pc:docMk/>
            <pc:sldMk cId="2042052748" sldId="723"/>
            <ac:spMk id="5" creationId="{0F3027D5-CEF1-5B9D-45D1-EC85EDF8C331}"/>
          </ac:spMkLst>
        </pc:spChg>
        <pc:graphicFrameChg chg="mod">
          <ac:chgData name="Vilma Nurmela" userId="497a2336-e277-4563-b263-10e00b39d937" providerId="ADAL" clId="{C4885F4D-F8A7-4CA6-83F7-3C910913C309}" dt="2025-11-20T14:55:28.991" v="5383" actId="207"/>
          <ac:graphicFrameMkLst>
            <pc:docMk/>
            <pc:sldMk cId="2042052748" sldId="723"/>
            <ac:graphicFrameMk id="13" creationId="{58345DE9-43E6-60FB-930B-A033547B922E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11T09:27:49.619" v="18848" actId="20577"/>
        <pc:sldMkLst>
          <pc:docMk/>
          <pc:sldMk cId="268917256" sldId="724"/>
        </pc:sldMkLst>
        <pc:spChg chg="mod">
          <ac:chgData name="Vilma Nurmela" userId="497a2336-e277-4563-b263-10e00b39d937" providerId="ADAL" clId="{C4885F4D-F8A7-4CA6-83F7-3C910913C309}" dt="2025-12-11T09:27:49.619" v="18848" actId="20577"/>
          <ac:spMkLst>
            <pc:docMk/>
            <pc:sldMk cId="268917256" sldId="724"/>
            <ac:spMk id="2" creationId="{A082F906-4955-7DA0-DC96-680DC39E7D0A}"/>
          </ac:spMkLst>
        </pc:spChg>
        <pc:spChg chg="mod">
          <ac:chgData name="Vilma Nurmela" userId="497a2336-e277-4563-b263-10e00b39d937" providerId="ADAL" clId="{C4885F4D-F8A7-4CA6-83F7-3C910913C309}" dt="2025-11-20T14:57:42.977" v="5679" actId="20577"/>
          <ac:spMkLst>
            <pc:docMk/>
            <pc:sldMk cId="268917256" sldId="724"/>
            <ac:spMk id="5" creationId="{8B534DE5-27DE-0EB7-8B3E-CD7CF43DEF88}"/>
          </ac:spMkLst>
        </pc:spChg>
        <pc:graphicFrameChg chg="mod">
          <ac:chgData name="Vilma Nurmela" userId="497a2336-e277-4563-b263-10e00b39d937" providerId="ADAL" clId="{C4885F4D-F8A7-4CA6-83F7-3C910913C309}" dt="2025-11-20T15:08:41.136" v="5878" actId="207"/>
          <ac:graphicFrameMkLst>
            <pc:docMk/>
            <pc:sldMk cId="268917256" sldId="724"/>
            <ac:graphicFrameMk id="13" creationId="{CDDA348A-F2FA-B9D0-55BC-84178642F076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02T13:27:19.684" v="15086" actId="478"/>
        <pc:sldMkLst>
          <pc:docMk/>
          <pc:sldMk cId="4174694446" sldId="725"/>
        </pc:sldMkLst>
        <pc:spChg chg="mod">
          <ac:chgData name="Vilma Nurmela" userId="497a2336-e277-4563-b263-10e00b39d937" providerId="ADAL" clId="{C4885F4D-F8A7-4CA6-83F7-3C910913C309}" dt="2025-11-20T15:02:29.915" v="5855" actId="114"/>
          <ac:spMkLst>
            <pc:docMk/>
            <pc:sldMk cId="4174694446" sldId="725"/>
            <ac:spMk id="2" creationId="{4801D15E-D2C3-1E1A-7D53-5D508518EF87}"/>
          </ac:spMkLst>
        </pc:spChg>
        <pc:spChg chg="mod">
          <ac:chgData name="Vilma Nurmela" userId="497a2336-e277-4563-b263-10e00b39d937" providerId="ADAL" clId="{C4885F4D-F8A7-4CA6-83F7-3C910913C309}" dt="2025-11-20T14:57:23.906" v="5673" actId="20577"/>
          <ac:spMkLst>
            <pc:docMk/>
            <pc:sldMk cId="4174694446" sldId="725"/>
            <ac:spMk id="5" creationId="{80EE0574-3F95-CCB4-465B-7A5C514B4085}"/>
          </ac:spMkLst>
        </pc:spChg>
        <pc:graphicFrameChg chg="mod">
          <ac:chgData name="Vilma Nurmela" userId="497a2336-e277-4563-b263-10e00b39d937" providerId="ADAL" clId="{C4885F4D-F8A7-4CA6-83F7-3C910913C309}" dt="2025-11-20T15:01:42.860" v="5701" actId="207"/>
          <ac:graphicFrameMkLst>
            <pc:docMk/>
            <pc:sldMk cId="4174694446" sldId="725"/>
            <ac:graphicFrameMk id="13" creationId="{4DA90031-3663-CE59-EB25-13D9226B53AA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02T13:27:59.464" v="15098" actId="478"/>
        <pc:sldMkLst>
          <pc:docMk/>
          <pc:sldMk cId="3605928440" sldId="727"/>
        </pc:sldMkLst>
        <pc:spChg chg="mod">
          <ac:chgData name="Vilma Nurmela" userId="497a2336-e277-4563-b263-10e00b39d937" providerId="ADAL" clId="{C4885F4D-F8A7-4CA6-83F7-3C910913C309}" dt="2025-11-25T12:58:26.907" v="8564" actId="20577"/>
          <ac:spMkLst>
            <pc:docMk/>
            <pc:sldMk cId="3605928440" sldId="727"/>
            <ac:spMk id="5" creationId="{BDC4856B-F2F3-BB54-05F6-1C27325A2AD3}"/>
          </ac:spMkLst>
        </pc:spChg>
        <pc:spChg chg="mod">
          <ac:chgData name="Vilma Nurmela" userId="497a2336-e277-4563-b263-10e00b39d937" providerId="ADAL" clId="{C4885F4D-F8A7-4CA6-83F7-3C910913C309}" dt="2025-11-25T12:57:57.222" v="8552" actId="20577"/>
          <ac:spMkLst>
            <pc:docMk/>
            <pc:sldMk cId="3605928440" sldId="727"/>
            <ac:spMk id="6" creationId="{FA573651-9D05-8122-FBEC-F6BC1366802D}"/>
          </ac:spMkLst>
        </pc:spChg>
        <pc:graphicFrameChg chg="mod">
          <ac:chgData name="Vilma Nurmela" userId="497a2336-e277-4563-b263-10e00b39d937" providerId="ADAL" clId="{C4885F4D-F8A7-4CA6-83F7-3C910913C309}" dt="2025-11-25T12:57:31.767" v="8508" actId="207"/>
          <ac:graphicFrameMkLst>
            <pc:docMk/>
            <pc:sldMk cId="3605928440" sldId="727"/>
            <ac:graphicFrameMk id="19" creationId="{B3FF6079-3EE4-0B8A-7D01-AE23FA0955CA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11T09:21:45.104" v="18589" actId="114"/>
        <pc:sldMkLst>
          <pc:docMk/>
          <pc:sldMk cId="3545168254" sldId="728"/>
        </pc:sldMkLst>
        <pc:spChg chg="mod">
          <ac:chgData name="Vilma Nurmela" userId="497a2336-e277-4563-b263-10e00b39d937" providerId="ADAL" clId="{C4885F4D-F8A7-4CA6-83F7-3C910913C309}" dt="2025-12-11T09:21:45.104" v="18589" actId="114"/>
          <ac:spMkLst>
            <pc:docMk/>
            <pc:sldMk cId="3545168254" sldId="728"/>
            <ac:spMk id="2" creationId="{A1FD3A13-A2E1-AA1B-D2FB-6DFDDEB5AD51}"/>
          </ac:spMkLst>
        </pc:spChg>
        <pc:spChg chg="mod">
          <ac:chgData name="Vilma Nurmela" userId="497a2336-e277-4563-b263-10e00b39d937" providerId="ADAL" clId="{C4885F4D-F8A7-4CA6-83F7-3C910913C309}" dt="2025-11-20T14:10:00.813" v="4529" actId="20577"/>
          <ac:spMkLst>
            <pc:docMk/>
            <pc:sldMk cId="3545168254" sldId="728"/>
            <ac:spMk id="5" creationId="{878C269E-23FB-03B0-832A-D7EF7B5F5FF7}"/>
          </ac:spMkLst>
        </pc:spChg>
        <pc:graphicFrameChg chg="mod">
          <ac:chgData name="Vilma Nurmela" userId="497a2336-e277-4563-b263-10e00b39d937" providerId="ADAL" clId="{C4885F4D-F8A7-4CA6-83F7-3C910913C309}" dt="2025-11-20T13:49:38.872" v="4175" actId="207"/>
          <ac:graphicFrameMkLst>
            <pc:docMk/>
            <pc:sldMk cId="3545168254" sldId="728"/>
            <ac:graphicFrameMk id="13" creationId="{32B5DEC1-6380-7B20-633C-35134EEE2315}"/>
          </ac:graphicFrameMkLst>
        </pc:graphicFrameChg>
      </pc:sldChg>
      <pc:sldChg chg="addSp delSp modSp mod">
        <pc:chgData name="Vilma Nurmela" userId="497a2336-e277-4563-b263-10e00b39d937" providerId="ADAL" clId="{C4885F4D-F8A7-4CA6-83F7-3C910913C309}" dt="2025-12-02T13:40:58.206" v="16171" actId="478"/>
        <pc:sldMkLst>
          <pc:docMk/>
          <pc:sldMk cId="2372788024" sldId="729"/>
        </pc:sldMkLst>
      </pc:sldChg>
      <pc:sldChg chg="addSp delSp modSp add mod">
        <pc:chgData name="Vilma Nurmela" userId="497a2336-e277-4563-b263-10e00b39d937" providerId="ADAL" clId="{C4885F4D-F8A7-4CA6-83F7-3C910913C309}" dt="2025-12-10T07:32:16.347" v="18287" actId="20577"/>
        <pc:sldMkLst>
          <pc:docMk/>
          <pc:sldMk cId="3949989320" sldId="730"/>
        </pc:sldMkLst>
        <pc:spChg chg="mod">
          <ac:chgData name="Vilma Nurmela" userId="497a2336-e277-4563-b263-10e00b39d937" providerId="ADAL" clId="{C4885F4D-F8A7-4CA6-83F7-3C910913C309}" dt="2025-12-10T07:32:16.347" v="18287" actId="20577"/>
          <ac:spMkLst>
            <pc:docMk/>
            <pc:sldMk cId="3949989320" sldId="730"/>
            <ac:spMk id="5" creationId="{447672E0-55DE-D9E8-9F13-98A1F1D6DA75}"/>
          </ac:spMkLst>
        </pc:spChg>
        <pc:spChg chg="mod">
          <ac:chgData name="Vilma Nurmela" userId="497a2336-e277-4563-b263-10e00b39d937" providerId="ADAL" clId="{C4885F4D-F8A7-4CA6-83F7-3C910913C309}" dt="2025-11-27T13:21:09.104" v="8981" actId="1035"/>
          <ac:spMkLst>
            <pc:docMk/>
            <pc:sldMk cId="3949989320" sldId="730"/>
            <ac:spMk id="14" creationId="{112B23E0-608B-DC34-6985-F5E0AF052231}"/>
          </ac:spMkLst>
        </pc:spChg>
        <pc:spChg chg="mod">
          <ac:chgData name="Vilma Nurmela" userId="497a2336-e277-4563-b263-10e00b39d937" providerId="ADAL" clId="{C4885F4D-F8A7-4CA6-83F7-3C910913C309}" dt="2025-11-27T13:29:20.984" v="9114" actId="1076"/>
          <ac:spMkLst>
            <pc:docMk/>
            <pc:sldMk cId="3949989320" sldId="730"/>
            <ac:spMk id="16" creationId="{7CFED6E5-EB6C-F769-409E-C8CE7774C514}"/>
          </ac:spMkLst>
        </pc:spChg>
        <pc:graphicFrameChg chg="add mod modGraphic">
          <ac:chgData name="Vilma Nurmela" userId="497a2336-e277-4563-b263-10e00b39d937" providerId="ADAL" clId="{C4885F4D-F8A7-4CA6-83F7-3C910913C309}" dt="2025-11-27T13:29:11.007" v="9113" actId="114"/>
          <ac:graphicFrameMkLst>
            <pc:docMk/>
            <pc:sldMk cId="3949989320" sldId="730"/>
            <ac:graphicFrameMk id="2" creationId="{3E4A74F1-1225-33F8-9D20-6A262BA559E1}"/>
          </ac:graphicFrameMkLst>
        </pc:graphicFrameChg>
      </pc:sldChg>
      <pc:sldChg chg="addSp delSp modSp add del mod">
        <pc:chgData name="Vilma Nurmela" userId="497a2336-e277-4563-b263-10e00b39d937" providerId="ADAL" clId="{C4885F4D-F8A7-4CA6-83F7-3C910913C309}" dt="2025-12-11T12:31:36.320" v="18928" actId="20577"/>
        <pc:sldMkLst>
          <pc:docMk/>
          <pc:sldMk cId="4274615270" sldId="731"/>
        </pc:sldMkLst>
        <pc:spChg chg="mod">
          <ac:chgData name="Vilma Nurmela" userId="497a2336-e277-4563-b263-10e00b39d937" providerId="ADAL" clId="{C4885F4D-F8A7-4CA6-83F7-3C910913C309}" dt="2025-12-02T14:06:57.398" v="18121" actId="14100"/>
          <ac:spMkLst>
            <pc:docMk/>
            <pc:sldMk cId="4274615270" sldId="731"/>
            <ac:spMk id="5" creationId="{1E8F0C7C-ED4A-9D70-A278-109DC54C3DB7}"/>
          </ac:spMkLst>
        </pc:spChg>
        <pc:graphicFrameChg chg="add del mod modGraphic">
          <ac:chgData name="Vilma Nurmela" userId="497a2336-e277-4563-b263-10e00b39d937" providerId="ADAL" clId="{C4885F4D-F8A7-4CA6-83F7-3C910913C309}" dt="2025-12-11T12:31:36.320" v="18928" actId="20577"/>
          <ac:graphicFrameMkLst>
            <pc:docMk/>
            <pc:sldMk cId="4274615270" sldId="731"/>
            <ac:graphicFrameMk id="2" creationId="{B16A3846-6027-CCCE-4737-18F6F9E2271E}"/>
          </ac:graphicFrameMkLst>
        </pc:graphicFrameChg>
      </pc:sldChg>
      <pc:sldChg chg="addSp delSp modSp add mod">
        <pc:chgData name="Vilma Nurmela" userId="497a2336-e277-4563-b263-10e00b39d937" providerId="ADAL" clId="{C4885F4D-F8A7-4CA6-83F7-3C910913C309}" dt="2025-12-10T07:37:22.175" v="18288" actId="404"/>
        <pc:sldMkLst>
          <pc:docMk/>
          <pc:sldMk cId="2266369831" sldId="732"/>
        </pc:sldMkLst>
        <pc:spChg chg="mod">
          <ac:chgData name="Vilma Nurmela" userId="497a2336-e277-4563-b263-10e00b39d937" providerId="ADAL" clId="{C4885F4D-F8A7-4CA6-83F7-3C910913C309}" dt="2025-12-02T14:05:37.150" v="18039" actId="14100"/>
          <ac:spMkLst>
            <pc:docMk/>
            <pc:sldMk cId="2266369831" sldId="732"/>
            <ac:spMk id="10" creationId="{0FE2AA77-AEC2-9C2D-21B0-8ADF052650C2}"/>
          </ac:spMkLst>
        </pc:spChg>
        <pc:spChg chg="add mod">
          <ac:chgData name="Vilma Nurmela" userId="497a2336-e277-4563-b263-10e00b39d937" providerId="ADAL" clId="{C4885F4D-F8A7-4CA6-83F7-3C910913C309}" dt="2025-11-27T15:13:58.140" v="10036"/>
          <ac:spMkLst>
            <pc:docMk/>
            <pc:sldMk cId="2266369831" sldId="732"/>
            <ac:spMk id="11" creationId="{40F34D4A-F806-53A5-84B7-023CE039F82A}"/>
          </ac:spMkLst>
        </pc:spChg>
        <pc:graphicFrameChg chg="add mod">
          <ac:chgData name="Vilma Nurmela" userId="497a2336-e277-4563-b263-10e00b39d937" providerId="ADAL" clId="{C4885F4D-F8A7-4CA6-83F7-3C910913C309}" dt="2025-12-10T07:37:22.175" v="18288" actId="404"/>
          <ac:graphicFrameMkLst>
            <pc:docMk/>
            <pc:sldMk cId="2266369831" sldId="732"/>
            <ac:graphicFrameMk id="7" creationId="{AB598F86-1156-ADF3-FE19-0889A558294B}"/>
          </ac:graphicFrameMkLst>
        </pc:graphicFrameChg>
      </pc:sldChg>
      <pc:sldChg chg="addSp delSp modSp add mod">
        <pc:chgData name="Vilma Nurmela" userId="497a2336-e277-4563-b263-10e00b39d937" providerId="ADAL" clId="{C4885F4D-F8A7-4CA6-83F7-3C910913C309}" dt="2025-12-02T13:28:02.403" v="15099" actId="478"/>
        <pc:sldMkLst>
          <pc:docMk/>
          <pc:sldMk cId="131509939" sldId="733"/>
        </pc:sldMkLst>
        <pc:spChg chg="mod">
          <ac:chgData name="Vilma Nurmela" userId="497a2336-e277-4563-b263-10e00b39d937" providerId="ADAL" clId="{C4885F4D-F8A7-4CA6-83F7-3C910913C309}" dt="2025-11-27T19:46:09.626" v="11686" actId="13926"/>
          <ac:spMkLst>
            <pc:docMk/>
            <pc:sldMk cId="131509939" sldId="733"/>
            <ac:spMk id="7" creationId="{6CE648C0-9441-BA98-7418-927DCD52E86A}"/>
          </ac:spMkLst>
        </pc:spChg>
        <pc:graphicFrameChg chg="add mod modGraphic">
          <ac:chgData name="Vilma Nurmela" userId="497a2336-e277-4563-b263-10e00b39d937" providerId="ADAL" clId="{C4885F4D-F8A7-4CA6-83F7-3C910913C309}" dt="2025-11-27T20:18:46.422" v="11747" actId="14734"/>
          <ac:graphicFrameMkLst>
            <pc:docMk/>
            <pc:sldMk cId="131509939" sldId="733"/>
            <ac:graphicFrameMk id="2" creationId="{E037CF34-944D-2694-3B9C-E528669A59BB}"/>
          </ac:graphicFrameMkLst>
        </pc:graphicFrameChg>
      </pc:sldChg>
      <pc:sldChg chg="addSp delSp modSp add mod">
        <pc:chgData name="Vilma Nurmela" userId="497a2336-e277-4563-b263-10e00b39d937" providerId="ADAL" clId="{C4885F4D-F8A7-4CA6-83F7-3C910913C309}" dt="2025-12-10T07:45:10.808" v="18354" actId="20577"/>
        <pc:sldMkLst>
          <pc:docMk/>
          <pc:sldMk cId="1411417095" sldId="734"/>
        </pc:sldMkLst>
        <pc:spChg chg="mod">
          <ac:chgData name="Vilma Nurmela" userId="497a2336-e277-4563-b263-10e00b39d937" providerId="ADAL" clId="{C4885F4D-F8A7-4CA6-83F7-3C910913C309}" dt="2025-11-27T20:32:20.464" v="12292" actId="20577"/>
          <ac:spMkLst>
            <pc:docMk/>
            <pc:sldMk cId="1411417095" sldId="734"/>
            <ac:spMk id="7" creationId="{496BB34B-F8C7-1478-B7C9-2077377A43DF}"/>
          </ac:spMkLst>
        </pc:spChg>
        <pc:graphicFrameChg chg="add mod modGraphic">
          <ac:chgData name="Vilma Nurmela" userId="497a2336-e277-4563-b263-10e00b39d937" providerId="ADAL" clId="{C4885F4D-F8A7-4CA6-83F7-3C910913C309}" dt="2025-12-10T07:45:10.808" v="18354" actId="20577"/>
          <ac:graphicFrameMkLst>
            <pc:docMk/>
            <pc:sldMk cId="1411417095" sldId="734"/>
            <ac:graphicFrameMk id="2" creationId="{46CCD62B-D4CD-1217-7163-C54A4EB71B3E}"/>
          </ac:graphicFrameMkLst>
        </pc:graphicFrameChg>
      </pc:sldChg>
      <pc:sldChg chg="addSp delSp modSp add mod">
        <pc:chgData name="Vilma Nurmela" userId="497a2336-e277-4563-b263-10e00b39d937" providerId="ADAL" clId="{C4885F4D-F8A7-4CA6-83F7-3C910913C309}" dt="2025-12-11T09:22:36.713" v="18603" actId="20577"/>
        <pc:sldMkLst>
          <pc:docMk/>
          <pc:sldMk cId="3501305851" sldId="735"/>
        </pc:sldMkLst>
        <pc:spChg chg="mod">
          <ac:chgData name="Vilma Nurmela" userId="497a2336-e277-4563-b263-10e00b39d937" providerId="ADAL" clId="{C4885F4D-F8A7-4CA6-83F7-3C910913C309}" dt="2025-12-11T09:22:36.713" v="18603" actId="20577"/>
          <ac:spMkLst>
            <pc:docMk/>
            <pc:sldMk cId="3501305851" sldId="735"/>
            <ac:spMk id="2" creationId="{5EAF5626-EDBE-EBA3-9F0C-822DDC2AFC7F}"/>
          </ac:spMkLst>
        </pc:spChg>
        <pc:graphicFrameChg chg="add mod modGraphic">
          <ac:chgData name="Vilma Nurmela" userId="497a2336-e277-4563-b263-10e00b39d937" providerId="ADAL" clId="{C4885F4D-F8A7-4CA6-83F7-3C910913C309}" dt="2025-11-27T21:38:52.455" v="12894" actId="20577"/>
          <ac:graphicFrameMkLst>
            <pc:docMk/>
            <pc:sldMk cId="3501305851" sldId="735"/>
            <ac:graphicFrameMk id="3" creationId="{F7654B40-3753-3E2E-60D9-DC531569B6ED}"/>
          </ac:graphicFrameMkLst>
        </pc:graphicFrameChg>
      </pc:sldChg>
      <pc:sldChg chg="addSp delSp modSp add mod">
        <pc:chgData name="Vilma Nurmela" userId="497a2336-e277-4563-b263-10e00b39d937" providerId="ADAL" clId="{C4885F4D-F8A7-4CA6-83F7-3C910913C309}" dt="2025-12-11T09:23:42.528" v="18627" actId="20577"/>
        <pc:sldMkLst>
          <pc:docMk/>
          <pc:sldMk cId="3657213270" sldId="736"/>
        </pc:sldMkLst>
        <pc:spChg chg="mod">
          <ac:chgData name="Vilma Nurmela" userId="497a2336-e277-4563-b263-10e00b39d937" providerId="ADAL" clId="{C4885F4D-F8A7-4CA6-83F7-3C910913C309}" dt="2025-12-11T09:23:42.528" v="18627" actId="20577"/>
          <ac:spMkLst>
            <pc:docMk/>
            <pc:sldMk cId="3657213270" sldId="736"/>
            <ac:spMk id="7" creationId="{F400FEE8-E919-36BF-5497-AFF4E20BF3D5}"/>
          </ac:spMkLst>
        </pc:spChg>
        <pc:graphicFrameChg chg="add mod modGraphic">
          <ac:chgData name="Vilma Nurmela" userId="497a2336-e277-4563-b263-10e00b39d937" providerId="ADAL" clId="{C4885F4D-F8A7-4CA6-83F7-3C910913C309}" dt="2025-11-27T21:37:46.189" v="12886" actId="114"/>
          <ac:graphicFrameMkLst>
            <pc:docMk/>
            <pc:sldMk cId="3657213270" sldId="736"/>
            <ac:graphicFrameMk id="2" creationId="{B0FF08F0-A5BA-9326-DD82-898DB2C82A86}"/>
          </ac:graphicFrameMkLst>
        </pc:graphicFrameChg>
      </pc:sldChg>
      <pc:sldChg chg="addSp delSp modSp add mod">
        <pc:chgData name="Vilma Nurmela" userId="497a2336-e277-4563-b263-10e00b39d937" providerId="ADAL" clId="{C4885F4D-F8A7-4CA6-83F7-3C910913C309}" dt="2025-12-11T09:24:35.723" v="18628" actId="114"/>
        <pc:sldMkLst>
          <pc:docMk/>
          <pc:sldMk cId="297639884" sldId="737"/>
        </pc:sldMkLst>
        <pc:spChg chg="mod">
          <ac:chgData name="Vilma Nurmela" userId="497a2336-e277-4563-b263-10e00b39d937" providerId="ADAL" clId="{C4885F4D-F8A7-4CA6-83F7-3C910913C309}" dt="2025-12-11T09:24:35.723" v="18628" actId="114"/>
          <ac:spMkLst>
            <pc:docMk/>
            <pc:sldMk cId="297639884" sldId="737"/>
            <ac:spMk id="7" creationId="{A7F66010-83D2-8529-53B5-0E4AFBE3163C}"/>
          </ac:spMkLst>
        </pc:spChg>
        <pc:graphicFrameChg chg="add mod modGraphic">
          <ac:chgData name="Vilma Nurmela" userId="497a2336-e277-4563-b263-10e00b39d937" providerId="ADAL" clId="{C4885F4D-F8A7-4CA6-83F7-3C910913C309}" dt="2025-11-28T08:55:43.116" v="13475" actId="114"/>
          <ac:graphicFrameMkLst>
            <pc:docMk/>
            <pc:sldMk cId="297639884" sldId="737"/>
            <ac:graphicFrameMk id="6" creationId="{ABB7839A-7E9F-77CB-DBAC-4477355791BB}"/>
          </ac:graphicFrameMkLst>
        </pc:graphicFrameChg>
      </pc:sldChg>
      <pc:sldChg chg="addSp delSp modSp add mod">
        <pc:chgData name="Vilma Nurmela" userId="497a2336-e277-4563-b263-10e00b39d937" providerId="ADAL" clId="{C4885F4D-F8A7-4CA6-83F7-3C910913C309}" dt="2025-12-11T09:26:17.365" v="18790" actId="20577"/>
        <pc:sldMkLst>
          <pc:docMk/>
          <pc:sldMk cId="3711214640" sldId="738"/>
        </pc:sldMkLst>
        <pc:spChg chg="mod">
          <ac:chgData name="Vilma Nurmela" userId="497a2336-e277-4563-b263-10e00b39d937" providerId="ADAL" clId="{C4885F4D-F8A7-4CA6-83F7-3C910913C309}" dt="2025-12-11T09:26:17.365" v="18790" actId="20577"/>
          <ac:spMkLst>
            <pc:docMk/>
            <pc:sldMk cId="3711214640" sldId="738"/>
            <ac:spMk id="6" creationId="{762AC622-C6C7-F8AE-3970-215B506F074E}"/>
          </ac:spMkLst>
        </pc:spChg>
        <pc:graphicFrameChg chg="add mod modGraphic">
          <ac:chgData name="Vilma Nurmela" userId="497a2336-e277-4563-b263-10e00b39d937" providerId="ADAL" clId="{C4885F4D-F8A7-4CA6-83F7-3C910913C309}" dt="2025-11-28T09:53:57.776" v="14626" actId="20577"/>
          <ac:graphicFrameMkLst>
            <pc:docMk/>
            <pc:sldMk cId="3711214640" sldId="738"/>
            <ac:graphicFrameMk id="7" creationId="{076EAAF4-BE78-EAF0-6F6D-06ABA8D267A6}"/>
          </ac:graphicFrameMkLst>
        </pc:graphicFrameChg>
      </pc:sldChg>
      <pc:sldChg chg="addSp delSp modSp add mod">
        <pc:chgData name="Vilma Nurmela" userId="497a2336-e277-4563-b263-10e00b39d937" providerId="ADAL" clId="{C4885F4D-F8A7-4CA6-83F7-3C910913C309}" dt="2025-12-02T13:27:16.488" v="15085" actId="478"/>
        <pc:sldMkLst>
          <pc:docMk/>
          <pc:sldMk cId="1972541025" sldId="739"/>
        </pc:sldMkLst>
        <pc:spChg chg="mod">
          <ac:chgData name="Vilma Nurmela" userId="497a2336-e277-4563-b263-10e00b39d937" providerId="ADAL" clId="{C4885F4D-F8A7-4CA6-83F7-3C910913C309}" dt="2025-11-28T09:47:32.196" v="14576" actId="14100"/>
          <ac:spMkLst>
            <pc:docMk/>
            <pc:sldMk cId="1972541025" sldId="739"/>
            <ac:spMk id="6" creationId="{0DBE1EDA-F144-31E8-7FA2-59D2A058B7B6}"/>
          </ac:spMkLst>
        </pc:spChg>
        <pc:graphicFrameChg chg="add mod modGraphic">
          <ac:chgData name="Vilma Nurmela" userId="497a2336-e277-4563-b263-10e00b39d937" providerId="ADAL" clId="{C4885F4D-F8A7-4CA6-83F7-3C910913C309}" dt="2025-11-28T09:53:49.467" v="14622" actId="20577"/>
          <ac:graphicFrameMkLst>
            <pc:docMk/>
            <pc:sldMk cId="1972541025" sldId="739"/>
            <ac:graphicFrameMk id="7" creationId="{1B29EAB6-FE0F-6471-92A1-A67256CC81E6}"/>
          </ac:graphicFrameMkLst>
        </pc:graphicFrameChg>
      </pc:sldChg>
      <pc:sldChg chg="addSp delSp modSp add mod">
        <pc:chgData name="Vilma Nurmela" userId="497a2336-e277-4563-b263-10e00b39d937" providerId="ADAL" clId="{C4885F4D-F8A7-4CA6-83F7-3C910913C309}" dt="2025-12-11T09:28:57.257" v="18915" actId="20577"/>
        <pc:sldMkLst>
          <pc:docMk/>
          <pc:sldMk cId="4133253580" sldId="740"/>
        </pc:sldMkLst>
        <pc:spChg chg="mod">
          <ac:chgData name="Vilma Nurmela" userId="497a2336-e277-4563-b263-10e00b39d937" providerId="ADAL" clId="{C4885F4D-F8A7-4CA6-83F7-3C910913C309}" dt="2025-12-11T09:28:57.257" v="18915" actId="20577"/>
          <ac:spMkLst>
            <pc:docMk/>
            <pc:sldMk cId="4133253580" sldId="740"/>
            <ac:spMk id="6" creationId="{1EACE5D3-9FAA-DD39-33C1-D2F26C1CABC9}"/>
          </ac:spMkLst>
        </pc:spChg>
        <pc:graphicFrameChg chg="add mod modGraphic">
          <ac:chgData name="Vilma Nurmela" userId="497a2336-e277-4563-b263-10e00b39d937" providerId="ADAL" clId="{C4885F4D-F8A7-4CA6-83F7-3C910913C309}" dt="2025-11-28T10:01:44.955" v="14903" actId="20577"/>
          <ac:graphicFrameMkLst>
            <pc:docMk/>
            <pc:sldMk cId="4133253580" sldId="740"/>
            <ac:graphicFrameMk id="5" creationId="{71A5999C-6FAE-57F4-F51E-ABAAF78A0E39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2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4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7.xlsx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8.xlsx"/><Relationship Id="rId2" Type="http://schemas.microsoft.com/office/2011/relationships/chartColorStyle" Target="colors39.xml"/><Relationship Id="rId1" Type="http://schemas.microsoft.com/office/2011/relationships/chartStyle" Target="style39.xm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9.xlsx"/><Relationship Id="rId2" Type="http://schemas.microsoft.com/office/2011/relationships/chartColorStyle" Target="colors40.xml"/><Relationship Id="rId1" Type="http://schemas.microsoft.com/office/2011/relationships/chartStyle" Target="style40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0.xlsx"/><Relationship Id="rId2" Type="http://schemas.microsoft.com/office/2011/relationships/chartColorStyle" Target="colors41.xml"/><Relationship Id="rId1" Type="http://schemas.microsoft.com/office/2011/relationships/chartStyle" Target="style41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1.xlsx"/><Relationship Id="rId2" Type="http://schemas.microsoft.com/office/2011/relationships/chartColorStyle" Target="colors42.xml"/><Relationship Id="rId1" Type="http://schemas.microsoft.com/office/2011/relationships/chartStyle" Target="style42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2.xlsx"/><Relationship Id="rId2" Type="http://schemas.microsoft.com/office/2011/relationships/chartColorStyle" Target="colors43.xml"/><Relationship Id="rId1" Type="http://schemas.microsoft.com/office/2011/relationships/chartStyle" Target="style43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3.xlsx"/><Relationship Id="rId2" Type="http://schemas.microsoft.com/office/2011/relationships/chartColorStyle" Target="colors44.xml"/><Relationship Id="rId1" Type="http://schemas.microsoft.com/office/2011/relationships/chartStyle" Target="style44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4.xlsx"/><Relationship Id="rId2" Type="http://schemas.microsoft.com/office/2011/relationships/chartColorStyle" Target="colors45.xml"/><Relationship Id="rId1" Type="http://schemas.microsoft.com/office/2011/relationships/chartStyle" Target="style4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6839254600920017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256340565257235E-4"/>
                  <c:y val="4.97708581044587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52C-47EE-A23E-C0992F88A217}"/>
                </c:ext>
              </c:extLst>
            </c:dLbl>
            <c:dLbl>
              <c:idx val="1"/>
              <c:layout>
                <c:manualLayout>
                  <c:x val="-1.5465795219101595E-2"/>
                  <c:y val="1.49312574313377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52C-47EE-A23E-C0992F88A217}"/>
                </c:ext>
              </c:extLst>
            </c:dLbl>
            <c:dLbl>
              <c:idx val="2"/>
              <c:layout>
                <c:manualLayout>
                  <c:x val="-1.100405113123078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52C-47EE-A23E-C0992F88A217}"/>
                </c:ext>
              </c:extLst>
            </c:dLbl>
            <c:dLbl>
              <c:idx val="3"/>
              <c:layout>
                <c:manualLayout>
                  <c:x val="-8.6230397437259739E-3"/>
                  <c:y val="4.977085810445923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C9F-4740-A9D5-A627B107F78E}"/>
                </c:ext>
              </c:extLst>
            </c:dLbl>
            <c:dLbl>
              <c:idx val="4"/>
              <c:layout>
                <c:manualLayout>
                  <c:x val="-8.6230397437259739E-3"/>
                  <c:y val="1.49312574313377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C9F-4740-A9D5-A627B107F78E}"/>
                </c:ext>
              </c:extLst>
            </c:dLbl>
            <c:dLbl>
              <c:idx val="6"/>
              <c:layout>
                <c:manualLayout>
                  <c:x val="-4.4617057417235297E-3"/>
                  <c:y val="9.954171620891755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52C-47EE-A23E-C0992F88A217}"/>
                </c:ext>
              </c:extLst>
            </c:dLbl>
            <c:dLbl>
              <c:idx val="7"/>
              <c:layout>
                <c:manualLayout>
                  <c:x val="-8.6230397437259739E-3"/>
                  <c:y val="-9.1245519115485491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C9F-4740-A9D5-A627B107F78E}"/>
                </c:ext>
              </c:extLst>
            </c:dLbl>
            <c:dLbl>
              <c:idx val="8"/>
              <c:layout>
                <c:manualLayout>
                  <c:x val="-1.2934559615588962E-2"/>
                  <c:y val="-1.990834324178374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C9F-4740-A9D5-A627B107F7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Onnikodit</c:v>
                </c:pt>
                <c:pt idx="4">
                  <c:v>Mainio-kodit</c:v>
                </c:pt>
                <c:pt idx="5">
                  <c:v>Validia</c:v>
                </c:pt>
                <c:pt idx="6">
                  <c:v>Ykköskodit</c:v>
                </c:pt>
                <c:pt idx="7">
                  <c:v>Humana</c:v>
                </c:pt>
                <c:pt idx="8">
                  <c:v>Julkiset palvelut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0.26</c:v>
                </c:pt>
                <c:pt idx="1">
                  <c:v>0.18</c:v>
                </c:pt>
                <c:pt idx="2">
                  <c:v>0.2</c:v>
                </c:pt>
                <c:pt idx="3">
                  <c:v>0.16</c:v>
                </c:pt>
                <c:pt idx="4">
                  <c:v>0.12</c:v>
                </c:pt>
                <c:pt idx="6">
                  <c:v>0.12</c:v>
                </c:pt>
                <c:pt idx="7">
                  <c:v>0.08</c:v>
                </c:pt>
                <c:pt idx="8" formatCode="###0%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41-40CC-AE65-18FFEA9BCC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8427554753756146E-3"/>
                  <c:y val="-2.986251486267554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52C-47EE-A23E-C0992F88A217}"/>
                </c:ext>
              </c:extLst>
            </c:dLbl>
            <c:dLbl>
              <c:idx val="1"/>
              <c:layout>
                <c:manualLayout>
                  <c:x val="-1.2634111183573334E-2"/>
                  <c:y val="-1.99083432417836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52C-47EE-A23E-C0992F88A217}"/>
                </c:ext>
              </c:extLst>
            </c:dLbl>
            <c:dLbl>
              <c:idx val="2"/>
              <c:layout>
                <c:manualLayout>
                  <c:x val="2.4562083679471034E-3"/>
                  <c:y val="-4.479377229401330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52C-47EE-A23E-C0992F88A217}"/>
                </c:ext>
              </c:extLst>
            </c:dLbl>
            <c:dLbl>
              <c:idx val="3"/>
              <c:layout>
                <c:manualLayout>
                  <c:x val="1.3610313970308905E-2"/>
                  <c:y val="4.97708581044583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52C-47EE-A23E-C0992F88A217}"/>
                </c:ext>
              </c:extLst>
            </c:dLbl>
            <c:dLbl>
              <c:idx val="4"/>
              <c:layout>
                <c:manualLayout>
                  <c:x val="4.6869955394440469E-3"/>
                  <c:y val="-4.97708581044601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52C-47EE-A23E-C0992F88A217}"/>
                </c:ext>
              </c:extLst>
            </c:dLbl>
            <c:dLbl>
              <c:idx val="5"/>
              <c:layout>
                <c:manualLayout>
                  <c:x val="-1.040332401207633E-2"/>
                  <c:y val="-9.954171620891846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2C-47EE-A23E-C0992F88A217}"/>
                </c:ext>
              </c:extLst>
            </c:dLbl>
            <c:dLbl>
              <c:idx val="6"/>
              <c:layout>
                <c:manualLayout>
                  <c:x val="4.5367713234363014E-3"/>
                  <c:y val="-2.488542905222961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2C-47EE-A23E-C0992F88A217}"/>
                </c:ext>
              </c:extLst>
            </c:dLbl>
            <c:dLbl>
              <c:idx val="8"/>
              <c:layout>
                <c:manualLayout>
                  <c:x val="6.7575435471994307E-4"/>
                  <c:y val="4.97708581044587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52C-47EE-A23E-C0992F88A21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Onnikodit</c:v>
                </c:pt>
                <c:pt idx="4">
                  <c:v>Mainio-kodit</c:v>
                </c:pt>
                <c:pt idx="5">
                  <c:v>Validia</c:v>
                </c:pt>
                <c:pt idx="6">
                  <c:v>Ykköskodit</c:v>
                </c:pt>
                <c:pt idx="7">
                  <c:v>Humana</c:v>
                </c:pt>
                <c:pt idx="8">
                  <c:v>Julkiset palvelut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0">
                  <c:v>0.27</c:v>
                </c:pt>
                <c:pt idx="1">
                  <c:v>0.18</c:v>
                </c:pt>
                <c:pt idx="2">
                  <c:v>0.18</c:v>
                </c:pt>
                <c:pt idx="3">
                  <c:v>0.15</c:v>
                </c:pt>
                <c:pt idx="4">
                  <c:v>0.16</c:v>
                </c:pt>
                <c:pt idx="5">
                  <c:v>0.12</c:v>
                </c:pt>
                <c:pt idx="6">
                  <c:v>0.13</c:v>
                </c:pt>
                <c:pt idx="7">
                  <c:v>0.11</c:v>
                </c:pt>
                <c:pt idx="8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30-48DE-9389-8D5129FBE3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2025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0778799679657459E-2"/>
                  <c:y val="-4.562275955774274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C9F-4740-A9D5-A627B107F78E}"/>
                </c:ext>
              </c:extLst>
            </c:dLbl>
            <c:dLbl>
              <c:idx val="1"/>
              <c:layout>
                <c:manualLayout>
                  <c:x val="2.1557599359314935E-3"/>
                  <c:y val="9.954171620891846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C9F-4740-A9D5-A627B107F78E}"/>
                </c:ext>
              </c:extLst>
            </c:dLbl>
            <c:dLbl>
              <c:idx val="2"/>
              <c:layout>
                <c:manualLayout>
                  <c:x val="1.077879967965739E-2"/>
                  <c:y val="4.977085810445923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C9F-4740-A9D5-A627B107F78E}"/>
                </c:ext>
              </c:extLst>
            </c:dLbl>
            <c:dLbl>
              <c:idx val="3"/>
              <c:layout>
                <c:manualLayout>
                  <c:x val="1.5090319551520456E-2"/>
                  <c:y val="-1.493125743133786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C9F-4740-A9D5-A627B107F78E}"/>
                </c:ext>
              </c:extLst>
            </c:dLbl>
            <c:dLbl>
              <c:idx val="5"/>
              <c:layout>
                <c:manualLayout>
                  <c:x val="4.311519871862908E-3"/>
                  <c:y val="1.49312574313377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C9F-4740-A9D5-A627B107F78E}"/>
                </c:ext>
              </c:extLst>
            </c:dLbl>
            <c:dLbl>
              <c:idx val="6"/>
              <c:layout>
                <c:manualLayout>
                  <c:x val="4.311519871862987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C9F-4740-A9D5-A627B107F78E}"/>
                </c:ext>
              </c:extLst>
            </c:dLbl>
            <c:dLbl>
              <c:idx val="7"/>
              <c:layout>
                <c:manualLayout>
                  <c:x val="1.2934559615588962E-2"/>
                  <c:y val="-9.1245519115485491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C9F-4740-A9D5-A627B107F78E}"/>
                </c:ext>
              </c:extLst>
            </c:dLbl>
            <c:dLbl>
              <c:idx val="8"/>
              <c:layout>
                <c:manualLayout>
                  <c:x val="2.1557599359314935E-3"/>
                  <c:y val="-1.990834324178374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C9F-4740-A9D5-A627B107F7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Onnikodit</c:v>
                </c:pt>
                <c:pt idx="4">
                  <c:v>Mainio-kodit</c:v>
                </c:pt>
                <c:pt idx="5">
                  <c:v>Validia</c:v>
                </c:pt>
                <c:pt idx="6">
                  <c:v>Ykköskodit</c:v>
                </c:pt>
                <c:pt idx="7">
                  <c:v>Humana</c:v>
                </c:pt>
                <c:pt idx="8">
                  <c:v>Julkiset palvelut</c:v>
                </c:pt>
              </c:strCache>
            </c:strRef>
          </c:cat>
          <c:val>
            <c:numRef>
              <c:f>Sheet1!$D$2:$D$10</c:f>
              <c:numCache>
                <c:formatCode>0%</c:formatCode>
                <c:ptCount val="9"/>
                <c:pt idx="0">
                  <c:v>0.25</c:v>
                </c:pt>
                <c:pt idx="1">
                  <c:v>0.19</c:v>
                </c:pt>
                <c:pt idx="2">
                  <c:v>0.18</c:v>
                </c:pt>
                <c:pt idx="3">
                  <c:v>0.17</c:v>
                </c:pt>
                <c:pt idx="4">
                  <c:v>0.12</c:v>
                </c:pt>
                <c:pt idx="5">
                  <c:v>0.12</c:v>
                </c:pt>
                <c:pt idx="6">
                  <c:v>0.09</c:v>
                </c:pt>
                <c:pt idx="7">
                  <c:v>0.08</c:v>
                </c:pt>
                <c:pt idx="8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9F-4740-A9D5-A627B107F7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2025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1557599359314946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3ED-4753-B753-24FEAFCCBAD6}"/>
                </c:ext>
              </c:extLst>
            </c:dLbl>
            <c:dLbl>
              <c:idx val="1"/>
              <c:layout>
                <c:manualLayout>
                  <c:x val="2.1557599359314935E-3"/>
                  <c:y val="-1.49312574313377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3ED-4753-B753-24FEAFCCBAD6}"/>
                </c:ext>
              </c:extLst>
            </c:dLbl>
            <c:dLbl>
              <c:idx val="2"/>
              <c:layout>
                <c:manualLayout>
                  <c:x val="1.5090319551520416E-2"/>
                  <c:y val="-1.49312574313377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3ED-4753-B753-24FEAFCCBAD6}"/>
                </c:ext>
              </c:extLst>
            </c:dLbl>
            <c:dLbl>
              <c:idx val="3"/>
              <c:layout>
                <c:manualLayout>
                  <c:x val="8.6230397437259739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3ED-4753-B753-24FEAFCCBAD6}"/>
                </c:ext>
              </c:extLst>
            </c:dLbl>
            <c:dLbl>
              <c:idx val="4"/>
              <c:layout>
                <c:manualLayout>
                  <c:x val="8.6230397437258959E-3"/>
                  <c:y val="-4.977085810445923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3ED-4753-B753-24FEAFCCBAD6}"/>
                </c:ext>
              </c:extLst>
            </c:dLbl>
            <c:dLbl>
              <c:idx val="5"/>
              <c:layout>
                <c:manualLayout>
                  <c:x val="8.6230397437259739E-3"/>
                  <c:y val="-1.49312574313377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3ED-4753-B753-24FEAFCCBAD6}"/>
                </c:ext>
              </c:extLst>
            </c:dLbl>
            <c:dLbl>
              <c:idx val="6"/>
              <c:layout>
                <c:manualLayout>
                  <c:x val="1.0778799679657468E-2"/>
                  <c:y val="-1.493125743133777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ED-4753-B753-24FEAFCCBAD6}"/>
                </c:ext>
              </c:extLst>
            </c:dLbl>
            <c:dLbl>
              <c:idx val="7"/>
              <c:layout>
                <c:manualLayout>
                  <c:x val="1.077879967965731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3ED-4753-B753-24FEAFCCBA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Onnikodit</c:v>
                </c:pt>
                <c:pt idx="4">
                  <c:v>Mainio-kodit</c:v>
                </c:pt>
                <c:pt idx="5">
                  <c:v>Validia</c:v>
                </c:pt>
                <c:pt idx="6">
                  <c:v>Ykköskodit</c:v>
                </c:pt>
                <c:pt idx="7">
                  <c:v>Humana</c:v>
                </c:pt>
                <c:pt idx="8">
                  <c:v>Julkiset palvelut</c:v>
                </c:pt>
              </c:strCache>
            </c:strRef>
          </c:cat>
          <c:val>
            <c:numRef>
              <c:f>Sheet1!$E$2:$E$10</c:f>
              <c:numCache>
                <c:formatCode>0%</c:formatCode>
                <c:ptCount val="9"/>
                <c:pt idx="0">
                  <c:v>0.28999999999999998</c:v>
                </c:pt>
                <c:pt idx="1">
                  <c:v>0.18</c:v>
                </c:pt>
                <c:pt idx="2">
                  <c:v>0.18</c:v>
                </c:pt>
                <c:pt idx="3">
                  <c:v>0.17</c:v>
                </c:pt>
                <c:pt idx="4">
                  <c:v>0.13</c:v>
                </c:pt>
                <c:pt idx="5">
                  <c:v>0.11</c:v>
                </c:pt>
                <c:pt idx="6">
                  <c:v>0.11</c:v>
                </c:pt>
                <c:pt idx="7">
                  <c:v>0.09</c:v>
                </c:pt>
                <c:pt idx="8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ED-4753-B753-24FEAFCCBAD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74765295"/>
        <c:axId val="374769135"/>
      </c:barChart>
      <c:catAx>
        <c:axId val="37476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374769135"/>
        <c:crosses val="autoZero"/>
        <c:auto val="1"/>
        <c:lblAlgn val="ctr"/>
        <c:lblOffset val="100"/>
        <c:noMultiLvlLbl val="0"/>
      </c:catAx>
      <c:valAx>
        <c:axId val="374769135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374765295"/>
        <c:crosses val="autoZero"/>
        <c:crossBetween val="between"/>
        <c:majorUnit val="0.2"/>
        <c:minorUnit val="0.1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7.2893447162907021E-2"/>
          <c:y val="0.81624207291313144"/>
          <c:w val="0.90113304281123341"/>
          <c:h val="8.12041092649330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5073799050065943E-2"/>
          <c:y val="0.20078845637223783"/>
          <c:w val="0.88562068485062628"/>
          <c:h val="0.500928651369085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Spontaani</c:v>
                </c:pt>
                <c:pt idx="1">
                  <c:v>Autettu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0.36</c:v>
                </c:pt>
                <c:pt idx="1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F-42E0-B78F-0B6DDEE6BF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Spontaani</c:v>
                </c:pt>
                <c:pt idx="1">
                  <c:v>Autettu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0.41</c:v>
                </c:pt>
                <c:pt idx="1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5CF-42E0-B78F-0B6DDEE6BF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2025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Spontaani</c:v>
                </c:pt>
                <c:pt idx="1">
                  <c:v>Autettu</c:v>
                </c:pt>
              </c:strCache>
            </c:strRef>
          </c:cat>
          <c:val>
            <c:numRef>
              <c:f>Sheet1!$D$2:$D$3</c:f>
              <c:numCache>
                <c:formatCode>0%</c:formatCode>
                <c:ptCount val="2"/>
                <c:pt idx="0">
                  <c:v>0.38</c:v>
                </c:pt>
                <c:pt idx="1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E63-475B-B491-5E08EAC90C0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2025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Spontaani</c:v>
                </c:pt>
                <c:pt idx="1">
                  <c:v>Autettu</c:v>
                </c:pt>
              </c:strCache>
            </c:strRef>
          </c:cat>
          <c:val>
            <c:numRef>
              <c:f>Sheet1!$E$2:$E$3</c:f>
              <c:numCache>
                <c:formatCode>0%</c:formatCode>
                <c:ptCount val="2"/>
                <c:pt idx="0">
                  <c:v>0.37</c:v>
                </c:pt>
                <c:pt idx="1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7F-4AEF-A826-6E2F6B3D4B1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921659679"/>
        <c:axId val="541114688"/>
      </c:barChart>
      <c:catAx>
        <c:axId val="1921659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541114688"/>
        <c:crosses val="autoZero"/>
        <c:auto val="1"/>
        <c:lblAlgn val="ctr"/>
        <c:lblOffset val="100"/>
        <c:noMultiLvlLbl val="0"/>
      </c:catAx>
      <c:valAx>
        <c:axId val="54111468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921659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1623858293516436"/>
          <c:y val="0.82164636854353457"/>
          <c:w val="0.88376141706483569"/>
          <c:h val="8.88427332622509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452644008114679E-2"/>
          <c:y val="6.6331287950398124E-2"/>
          <c:w val="0.96937584085133544"/>
          <c:h val="0.578993360325369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561596735296707E-2"/>
                  <c:y val="5.813434526765803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180-43F2-A43A-EB560170771C}"/>
                </c:ext>
              </c:extLst>
            </c:dLbl>
            <c:dLbl>
              <c:idx val="1"/>
              <c:layout>
                <c:manualLayout>
                  <c:x val="-4.461704957990568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180-43F2-A43A-EB560170771C}"/>
                </c:ext>
              </c:extLst>
            </c:dLbl>
            <c:dLbl>
              <c:idx val="2"/>
              <c:layout>
                <c:manualLayout>
                  <c:x val="-8.9234099159811765E-3"/>
                  <c:y val="-2.6644600446978688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180-43F2-A43A-EB560170771C}"/>
                </c:ext>
              </c:extLst>
            </c:dLbl>
            <c:dLbl>
              <c:idx val="3"/>
              <c:layout>
                <c:manualLayout>
                  <c:x val="-1.3208522814023385E-2"/>
                  <c:y val="-5.813434526765830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180-43F2-A43A-EB560170771C}"/>
                </c:ext>
              </c:extLst>
            </c:dLbl>
            <c:dLbl>
              <c:idx val="4"/>
              <c:layout>
                <c:manualLayout>
                  <c:x val="-1.3385114873971767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180-43F2-A43A-EB560170771C}"/>
                </c:ext>
              </c:extLst>
            </c:dLbl>
            <c:dLbl>
              <c:idx val="5"/>
              <c:layout>
                <c:manualLayout>
                  <c:x val="-6.692557436985964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180-43F2-A43A-EB560170771C}"/>
                </c:ext>
              </c:extLst>
            </c:dLbl>
            <c:dLbl>
              <c:idx val="6"/>
              <c:layout>
                <c:manualLayout>
                  <c:x val="-1.115426239497647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180-43F2-A43A-EB560170771C}"/>
                </c:ext>
              </c:extLst>
            </c:dLbl>
            <c:dLbl>
              <c:idx val="7"/>
              <c:layout>
                <c:manualLayout>
                  <c:x val="-8.923409915981176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3D9-4FF1-A9AD-1B269E933B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Esperi</c:v>
                </c:pt>
                <c:pt idx="1">
                  <c:v>Attendo</c:v>
                </c:pt>
                <c:pt idx="2">
                  <c:v>Validia</c:v>
                </c:pt>
                <c:pt idx="3">
                  <c:v>Rinnekodit</c:v>
                </c:pt>
                <c:pt idx="4">
                  <c:v>Mainio-kodit</c:v>
                </c:pt>
                <c:pt idx="5">
                  <c:v>Ykköskodit</c:v>
                </c:pt>
                <c:pt idx="6">
                  <c:v>Humana</c:v>
                </c:pt>
                <c:pt idx="7">
                  <c:v>Onnikodit</c:v>
                </c:pt>
              </c:strCache>
            </c:strRef>
          </c:cat>
          <c:val>
            <c:numRef>
              <c:f>Sheet1!$B$2:$B$9</c:f>
              <c:numCache>
                <c:formatCode>0.0</c:formatCode>
                <c:ptCount val="8"/>
                <c:pt idx="0">
                  <c:v>2.3665594855305465</c:v>
                </c:pt>
                <c:pt idx="1">
                  <c:v>2.4</c:v>
                </c:pt>
                <c:pt idx="3">
                  <c:v>2.7623188405797103</c:v>
                </c:pt>
                <c:pt idx="4">
                  <c:v>2.8062499999999999</c:v>
                </c:pt>
                <c:pt idx="5">
                  <c:v>2.8378378378378377</c:v>
                </c:pt>
                <c:pt idx="6">
                  <c:v>2.7830188679245285</c:v>
                </c:pt>
                <c:pt idx="7">
                  <c:v>2.9018404907975461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1A-4F79-ABAD-1528A11041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7646905001109258E-4"/>
                  <c:y val="2.906717263382915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180-43F2-A43A-EB560170771C}"/>
                </c:ext>
              </c:extLst>
            </c:dLbl>
            <c:dLbl>
              <c:idx val="1"/>
              <c:layout>
                <c:manualLayout>
                  <c:x val="0"/>
                  <c:y val="-3.488060716059495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80-43F2-A43A-EB560170771C}"/>
                </c:ext>
              </c:extLst>
            </c:dLbl>
            <c:dLbl>
              <c:idx val="2"/>
              <c:layout>
                <c:manualLayout>
                  <c:x val="-6.692557436985924E-3"/>
                  <c:y val="-5.813434526765857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180-43F2-A43A-EB560170771C}"/>
                </c:ext>
              </c:extLst>
            </c:dLbl>
            <c:dLbl>
              <c:idx val="3"/>
              <c:layout>
                <c:manualLayout>
                  <c:x val="-7.3050763532324381E-4"/>
                  <c:y val="1.162686905353163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80-43F2-A43A-EB560170771C}"/>
                </c:ext>
              </c:extLst>
            </c:dLbl>
            <c:dLbl>
              <c:idx val="4"/>
              <c:layout>
                <c:manualLayout>
                  <c:x val="-1.9661284023225192E-3"/>
                  <c:y val="-2.325373810706332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180-43F2-A43A-EB560170771C}"/>
                </c:ext>
              </c:extLst>
            </c:dLbl>
            <c:dLbl>
              <c:idx val="5"/>
              <c:layout>
                <c:manualLayout>
                  <c:x val="2.6470357501671743E-4"/>
                  <c:y val="-1.162686905353167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180-43F2-A43A-EB560170771C}"/>
                </c:ext>
              </c:extLst>
            </c:dLbl>
            <c:dLbl>
              <c:idx val="6"/>
              <c:layout>
                <c:manualLayout>
                  <c:x val="-2.2308524789952941E-3"/>
                  <c:y val="-2.6644600446978688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180-43F2-A43A-EB56017077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Esperi</c:v>
                </c:pt>
                <c:pt idx="1">
                  <c:v>Attendo</c:v>
                </c:pt>
                <c:pt idx="2">
                  <c:v>Validia</c:v>
                </c:pt>
                <c:pt idx="3">
                  <c:v>Rinnekodit</c:v>
                </c:pt>
                <c:pt idx="4">
                  <c:v>Mainio-kodit</c:v>
                </c:pt>
                <c:pt idx="5">
                  <c:v>Ykköskodit</c:v>
                </c:pt>
                <c:pt idx="6">
                  <c:v>Humana</c:v>
                </c:pt>
                <c:pt idx="7">
                  <c:v>Onnikodit</c:v>
                </c:pt>
              </c:strCache>
            </c:strRef>
          </c:cat>
          <c:val>
            <c:numRef>
              <c:f>Sheet1!$C$2:$C$9</c:f>
              <c:numCache>
                <c:formatCode>0.0</c:formatCode>
                <c:ptCount val="8"/>
                <c:pt idx="0">
                  <c:v>2.4480286738351253</c:v>
                </c:pt>
                <c:pt idx="1">
                  <c:v>2.4909963985594237</c:v>
                </c:pt>
                <c:pt idx="2">
                  <c:v>2.6428571428571432</c:v>
                </c:pt>
                <c:pt idx="3">
                  <c:v>2.8491048593350383</c:v>
                </c:pt>
                <c:pt idx="4">
                  <c:v>2.9237500000000001</c:v>
                </c:pt>
                <c:pt idx="5">
                  <c:v>2.9987995198079229</c:v>
                </c:pt>
                <c:pt idx="6">
                  <c:v>2.9334170854271355</c:v>
                </c:pt>
                <c:pt idx="7">
                  <c:v>2.9203187250996017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4-4095-93DA-D97D68C674A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2025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1507266695178396E-2"/>
                  <c:y val="1.744030358029751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3D9-4FF1-A9AD-1B269E933BC6}"/>
                </c:ext>
              </c:extLst>
            </c:dLbl>
            <c:dLbl>
              <c:idx val="1"/>
              <c:layout>
                <c:manualLayout>
                  <c:x val="2.2308524789952534E-3"/>
                  <c:y val="1.74403035802974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D9-4FF1-A9AD-1B269E933BC6}"/>
                </c:ext>
              </c:extLst>
            </c:dLbl>
            <c:dLbl>
              <c:idx val="2"/>
              <c:layout>
                <c:manualLayout>
                  <c:x val="6.6925574369858833E-3"/>
                  <c:y val="5.813434526765830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3D9-4FF1-A9AD-1B269E933BC6}"/>
                </c:ext>
              </c:extLst>
            </c:dLbl>
            <c:dLbl>
              <c:idx val="3"/>
              <c:layout>
                <c:manualLayout>
                  <c:x val="-7.942794335108088E-4"/>
                  <c:y val="-2.906717263382916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3D9-4FF1-A9AD-1B269E933BC6}"/>
                </c:ext>
              </c:extLst>
            </c:dLbl>
            <c:dLbl>
              <c:idx val="4"/>
              <c:layout>
                <c:manualLayout>
                  <c:x val="8.9234099159811765E-3"/>
                  <c:y val="-1.3322300223489344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3D9-4FF1-A9AD-1B269E933BC6}"/>
                </c:ext>
              </c:extLst>
            </c:dLbl>
            <c:dLbl>
              <c:idx val="5"/>
              <c:layout>
                <c:manualLayout>
                  <c:x val="4.9030052881665473E-3"/>
                  <c:y val="1.162686905353163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3D9-4FF1-A9AD-1B269E933BC6}"/>
                </c:ext>
              </c:extLst>
            </c:dLbl>
            <c:dLbl>
              <c:idx val="6"/>
              <c:layout>
                <c:manualLayout>
                  <c:x val="4.7265362381556115E-3"/>
                  <c:y val="-1.162686905353166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3D9-4FF1-A9AD-1B269E933BC6}"/>
                </c:ext>
              </c:extLst>
            </c:dLbl>
            <c:dLbl>
              <c:idx val="7"/>
              <c:layout>
                <c:manualLayout>
                  <c:x val="8.923409915981176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3D9-4FF1-A9AD-1B269E933B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Esperi</c:v>
                </c:pt>
                <c:pt idx="1">
                  <c:v>Attendo</c:v>
                </c:pt>
                <c:pt idx="2">
                  <c:v>Validia</c:v>
                </c:pt>
                <c:pt idx="3">
                  <c:v>Rinnekodit</c:v>
                </c:pt>
                <c:pt idx="4">
                  <c:v>Mainio-kodit</c:v>
                </c:pt>
                <c:pt idx="5">
                  <c:v>Ykköskodit</c:v>
                </c:pt>
                <c:pt idx="6">
                  <c:v>Humana</c:v>
                </c:pt>
                <c:pt idx="7">
                  <c:v>Onnikodit</c:v>
                </c:pt>
              </c:strCache>
            </c:strRef>
          </c:cat>
          <c:val>
            <c:numRef>
              <c:f>Sheet1!$D$2:$D$9</c:f>
              <c:numCache>
                <c:formatCode>0.0</c:formatCode>
                <c:ptCount val="8"/>
                <c:pt idx="0">
                  <c:v>2.4</c:v>
                </c:pt>
                <c:pt idx="1">
                  <c:v>2.4</c:v>
                </c:pt>
                <c:pt idx="2">
                  <c:v>2.7</c:v>
                </c:pt>
                <c:pt idx="3">
                  <c:v>2.9</c:v>
                </c:pt>
                <c:pt idx="4">
                  <c:v>2.9</c:v>
                </c:pt>
                <c:pt idx="5">
                  <c:v>2.9</c:v>
                </c:pt>
                <c:pt idx="6">
                  <c:v>3</c:v>
                </c:pt>
                <c:pt idx="7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D2-414F-94E2-66BC15D10BA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2025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0712987261667667E-2"/>
                  <c:y val="-1.744030358029749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83-403B-BCA3-06A0D5CB520F}"/>
                </c:ext>
              </c:extLst>
            </c:dLbl>
            <c:dLbl>
              <c:idx val="2"/>
              <c:layout>
                <c:manualLayout>
                  <c:x val="6.4277923570006E-3"/>
                  <c:y val="-1.162686905353168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C83-403B-BCA3-06A0D5CB520F}"/>
                </c:ext>
              </c:extLst>
            </c:dLbl>
            <c:dLbl>
              <c:idx val="3"/>
              <c:layout>
                <c:manualLayout>
                  <c:x val="-2.142597452333533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C83-403B-BCA3-06A0D5CB520F}"/>
                </c:ext>
              </c:extLst>
            </c:dLbl>
            <c:dLbl>
              <c:idx val="4"/>
              <c:layout>
                <c:manualLayout>
                  <c:x val="8.5703898093341339E-3"/>
                  <c:y val="1.162686905353163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C83-403B-BCA3-06A0D5CB520F}"/>
                </c:ext>
              </c:extLst>
            </c:dLbl>
            <c:dLbl>
              <c:idx val="5"/>
              <c:layout>
                <c:manualLayout>
                  <c:x val="1.0712987261667587E-2"/>
                  <c:y val="1.162686905353163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C83-403B-BCA3-06A0D5CB520F}"/>
                </c:ext>
              </c:extLst>
            </c:dLbl>
            <c:dLbl>
              <c:idx val="6"/>
              <c:layout>
                <c:manualLayout>
                  <c:x val="1.4998182166334575E-2"/>
                  <c:y val="1.162686905353163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C83-403B-BCA3-06A0D5CB520F}"/>
                </c:ext>
              </c:extLst>
            </c:dLbl>
            <c:dLbl>
              <c:idx val="7"/>
              <c:layout>
                <c:manualLayout>
                  <c:x val="1.7140779618668268E-2"/>
                  <c:y val="-1.162686905353166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C83-403B-BCA3-06A0D5CB52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Esperi</c:v>
                </c:pt>
                <c:pt idx="1">
                  <c:v>Attendo</c:v>
                </c:pt>
                <c:pt idx="2">
                  <c:v>Validia</c:v>
                </c:pt>
                <c:pt idx="3">
                  <c:v>Rinnekodit</c:v>
                </c:pt>
                <c:pt idx="4">
                  <c:v>Mainio-kodit</c:v>
                </c:pt>
                <c:pt idx="5">
                  <c:v>Ykköskodit</c:v>
                </c:pt>
                <c:pt idx="6">
                  <c:v>Humana</c:v>
                </c:pt>
                <c:pt idx="7">
                  <c:v>Onnikodit</c:v>
                </c:pt>
              </c:strCache>
            </c:strRef>
          </c:cat>
          <c:val>
            <c:numRef>
              <c:f>Sheet1!$E$2:$E$9</c:f>
              <c:numCache>
                <c:formatCode>0.0</c:formatCode>
                <c:ptCount val="8"/>
                <c:pt idx="0">
                  <c:v>2.5</c:v>
                </c:pt>
                <c:pt idx="1">
                  <c:v>2.6</c:v>
                </c:pt>
                <c:pt idx="2">
                  <c:v>2.7</c:v>
                </c:pt>
                <c:pt idx="3">
                  <c:v>2.8</c:v>
                </c:pt>
                <c:pt idx="4">
                  <c:v>2.9</c:v>
                </c:pt>
                <c:pt idx="5">
                  <c:v>2.9</c:v>
                </c:pt>
                <c:pt idx="6">
                  <c:v>2.9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83-403B-BCA3-06A0D5CB520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684824080"/>
        <c:axId val="684840880"/>
      </c:barChart>
      <c:catAx>
        <c:axId val="684824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684840880"/>
        <c:crosses val="autoZero"/>
        <c:auto val="1"/>
        <c:lblAlgn val="ctr"/>
        <c:lblOffset val="100"/>
        <c:noMultiLvlLbl val="0"/>
      </c:catAx>
      <c:valAx>
        <c:axId val="684840880"/>
        <c:scaling>
          <c:orientation val="minMax"/>
          <c:max val="4"/>
        </c:scaling>
        <c:delete val="1"/>
        <c:axPos val="l"/>
        <c:numFmt formatCode="0.0" sourceLinked="1"/>
        <c:majorTickMark val="none"/>
        <c:minorTickMark val="none"/>
        <c:tickLblPos val="nextTo"/>
        <c:crossAx val="684824080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9.0025788303341833E-2"/>
          <c:y val="0.81122816815016052"/>
          <c:w val="0.8149312049073919"/>
          <c:h val="0.1887718318498394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78735858822364E-3"/>
          <c:y val="0.11654164407924342"/>
          <c:w val="0.99595212641411779"/>
          <c:h val="0.569393499922263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Julkinen</c:v>
                </c:pt>
                <c:pt idx="1">
                  <c:v>Yksityinen</c:v>
                </c:pt>
              </c:strCache>
            </c:strRef>
          </c:cat>
          <c:val>
            <c:numRef>
              <c:f>Sheet1!$B$2:$B$3</c:f>
              <c:numCache>
                <c:formatCode>0.00</c:formatCode>
                <c:ptCount val="2"/>
                <c:pt idx="0">
                  <c:v>2.67</c:v>
                </c:pt>
                <c:pt idx="1">
                  <c:v>2.61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33-4778-B0DB-92A472DA0D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2024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Julkinen</c:v>
                </c:pt>
                <c:pt idx="1">
                  <c:v>Yksityinen</c:v>
                </c:pt>
              </c:strCache>
            </c:strRef>
          </c:cat>
          <c:val>
            <c:numRef>
              <c:f>Sheet1!$C$2:$C$3</c:f>
              <c:numCache>
                <c:formatCode>0.00</c:formatCode>
                <c:ptCount val="2"/>
                <c:pt idx="0">
                  <c:v>2.776470588235294</c:v>
                </c:pt>
                <c:pt idx="1">
                  <c:v>2.6470588235294117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33-4778-B0DB-92A472DA0D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2025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Julkinen</c:v>
                </c:pt>
                <c:pt idx="1">
                  <c:v>Yksityinen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2.64</c:v>
                </c:pt>
                <c:pt idx="1">
                  <c:v>2.62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29-44B0-B88E-CDA9265231E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2025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Julkinen</c:v>
                </c:pt>
                <c:pt idx="1">
                  <c:v>Yksityinen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2.66</c:v>
                </c:pt>
                <c:pt idx="1">
                  <c:v>2.72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59-4CFB-A83C-CFA80EE39F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2880144"/>
        <c:axId val="1222881104"/>
      </c:barChart>
      <c:catAx>
        <c:axId val="122288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222881104"/>
        <c:crosses val="autoZero"/>
        <c:auto val="1"/>
        <c:lblAlgn val="ctr"/>
        <c:lblOffset val="100"/>
        <c:noMultiLvlLbl val="0"/>
      </c:catAx>
      <c:valAx>
        <c:axId val="1222881104"/>
        <c:scaling>
          <c:orientation val="minMax"/>
          <c:max val="4"/>
        </c:scaling>
        <c:delete val="1"/>
        <c:axPos val="l"/>
        <c:numFmt formatCode="0.00" sourceLinked="1"/>
        <c:majorTickMark val="none"/>
        <c:minorTickMark val="none"/>
        <c:tickLblPos val="nextTo"/>
        <c:crossAx val="122288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6546117491928121E-2"/>
          <c:y val="0.84609347943934388"/>
          <c:w val="0.95345388250807184"/>
          <c:h val="0.10079200623207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noProof="0" dirty="0"/>
              <a:t>Sukupuoli</a:t>
            </a:r>
          </a:p>
        </c:rich>
      </c:tx>
      <c:layout>
        <c:manualLayout>
          <c:xMode val="edge"/>
          <c:yMode val="edge"/>
          <c:x val="0.18381067472306142"/>
          <c:y val="1.56213707732353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title>
    <c:autoTitleDeleted val="0"/>
    <c:plotArea>
      <c:layout>
        <c:manualLayout>
          <c:layoutTarget val="inner"/>
          <c:xMode val="edge"/>
          <c:yMode val="edge"/>
          <c:x val="0.21526451829472973"/>
          <c:y val="7.9923401981946043E-2"/>
          <c:w val="0.53573842170157338"/>
          <c:h val="0.6643261727971705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Taul1!$B$1</c:f>
              <c:strCache>
                <c:ptCount val="1"/>
                <c:pt idx="0">
                  <c:v>All respondents, n=1008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Taul1!$A$2:$A$3</c:f>
              <c:strCache>
                <c:ptCount val="2"/>
                <c:pt idx="0">
                  <c:v>As a man</c:v>
                </c:pt>
                <c:pt idx="1">
                  <c:v>As a woman</c:v>
                </c:pt>
              </c:strCache>
            </c:strRef>
          </c:cat>
          <c:val>
            <c:numRef>
              <c:f>Taul1!$B$2:$B$3</c:f>
              <c:numCache>
                <c:formatCode>###0%</c:formatCode>
                <c:ptCount val="2"/>
                <c:pt idx="0">
                  <c:v>0.48</c:v>
                </c:pt>
                <c:pt idx="1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6E-48B6-9BE4-4EDDCC5997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26098655"/>
        <c:axId val="1926090335"/>
        <c:extLst/>
      </c:barChart>
      <c:catAx>
        <c:axId val="1926098655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926090335"/>
        <c:crosses val="autoZero"/>
        <c:auto val="1"/>
        <c:lblAlgn val="ctr"/>
        <c:lblOffset val="100"/>
        <c:noMultiLvlLbl val="0"/>
      </c:catAx>
      <c:valAx>
        <c:axId val="1926090335"/>
        <c:scaling>
          <c:orientation val="minMax"/>
          <c:max val="1.2"/>
        </c:scaling>
        <c:delete val="1"/>
        <c:axPos val="t"/>
        <c:numFmt formatCode="###0%" sourceLinked="1"/>
        <c:majorTickMark val="out"/>
        <c:minorTickMark val="none"/>
        <c:tickLblPos val="nextTo"/>
        <c:crossAx val="19260986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noProof="0" dirty="0"/>
              <a:t>Ikä</a:t>
            </a:r>
          </a:p>
        </c:rich>
      </c:tx>
      <c:layout>
        <c:manualLayout>
          <c:xMode val="edge"/>
          <c:yMode val="edge"/>
          <c:x val="3.1675004172511921E-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All respondents, n=1008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25-34</c:v>
                </c:pt>
                <c:pt idx="1">
                  <c:v>35-44</c:v>
                </c:pt>
                <c:pt idx="2">
                  <c:v>45-54</c:v>
                </c:pt>
                <c:pt idx="3">
                  <c:v>55-64</c:v>
                </c:pt>
                <c:pt idx="4">
                  <c:v>65-74</c:v>
                </c:pt>
              </c:strCache>
            </c:strRef>
          </c:cat>
          <c:val>
            <c:numRef>
              <c:f>Sheet1!$B$2:$F$2</c:f>
              <c:numCache>
                <c:formatCode>###0%</c:formatCode>
                <c:ptCount val="5"/>
                <c:pt idx="0">
                  <c:v>0.19047619047619047</c:v>
                </c:pt>
                <c:pt idx="1">
                  <c:v>0.21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48-450A-9838-E9988266576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466697423"/>
        <c:axId val="1466695503"/>
      </c:barChart>
      <c:catAx>
        <c:axId val="146669742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466695503"/>
        <c:crosses val="autoZero"/>
        <c:auto val="1"/>
        <c:lblAlgn val="ctr"/>
        <c:lblOffset val="100"/>
        <c:noMultiLvlLbl val="0"/>
      </c:catAx>
      <c:valAx>
        <c:axId val="1466695503"/>
        <c:scaling>
          <c:orientation val="minMax"/>
          <c:min val="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466697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noProof="0" dirty="0"/>
              <a:t>Alue</a:t>
            </a:r>
          </a:p>
        </c:rich>
      </c:tx>
      <c:layout>
        <c:manualLayout>
          <c:xMode val="edge"/>
          <c:yMode val="edge"/>
          <c:x val="4.4208630861668659E-2"/>
          <c:y val="2.603561795539217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title>
    <c:autoTitleDeleted val="0"/>
    <c:plotArea>
      <c:layout>
        <c:manualLayout>
          <c:layoutTarget val="inner"/>
          <c:xMode val="edge"/>
          <c:yMode val="edge"/>
          <c:x val="0.43173261692540893"/>
          <c:y val="0.16383641882739405"/>
          <c:w val="0.51919134187449301"/>
          <c:h val="0.6361802051775958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respondents, n=1008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Pääkaupunkiseudulla</c:v>
                </c:pt>
                <c:pt idx="1">
                  <c:v>Muualla Etelä-Suomessa</c:v>
                </c:pt>
                <c:pt idx="2">
                  <c:v>Länsi-Suomessa</c:v>
                </c:pt>
                <c:pt idx="3">
                  <c:v>Pohjois-Suomessa</c:v>
                </c:pt>
                <c:pt idx="4">
                  <c:v>Itä-Suomessa</c:v>
                </c:pt>
              </c:strCache>
            </c:strRef>
          </c:cat>
          <c:val>
            <c:numRef>
              <c:f>Sheet1!$B$2:$B$6</c:f>
              <c:numCache>
                <c:formatCode>###0%</c:formatCode>
                <c:ptCount val="5"/>
                <c:pt idx="0">
                  <c:v>0.24</c:v>
                </c:pt>
                <c:pt idx="1">
                  <c:v>0.2</c:v>
                </c:pt>
                <c:pt idx="2">
                  <c:v>0.33</c:v>
                </c:pt>
                <c:pt idx="3">
                  <c:v>0.13</c:v>
                </c:pt>
                <c:pt idx="4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F4-44AF-B85F-79706CB0E2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41193584"/>
        <c:axId val="2041173424"/>
      </c:barChart>
      <c:catAx>
        <c:axId val="204119358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2041173424"/>
        <c:crosses val="autoZero"/>
        <c:auto val="1"/>
        <c:lblAlgn val="ctr"/>
        <c:lblOffset val="100"/>
        <c:noMultiLvlLbl val="0"/>
      </c:catAx>
      <c:valAx>
        <c:axId val="2041173424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2041193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sz="1600" noProof="0" dirty="0"/>
              <a:t>Sukupuoli</a:t>
            </a:r>
            <a:endParaRPr lang="fi-FI" noProof="0" dirty="0"/>
          </a:p>
        </c:rich>
      </c:tx>
      <c:layout>
        <c:manualLayout>
          <c:xMode val="edge"/>
          <c:yMode val="edge"/>
          <c:x val="0.26907418596844579"/>
          <c:y val="1.56213707732353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title>
    <c:autoTitleDeleted val="0"/>
    <c:plotArea>
      <c:layout>
        <c:manualLayout>
          <c:layoutTarget val="inner"/>
          <c:xMode val="edge"/>
          <c:yMode val="edge"/>
          <c:x val="0.3303702584759986"/>
          <c:y val="6.4302031208710739E-2"/>
          <c:w val="0.53573842170157338"/>
          <c:h val="0.5892511382169900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Taul1!$B$1</c:f>
              <c:strCache>
                <c:ptCount val="1"/>
                <c:pt idx="0">
                  <c:v>Kaikki vastaajat, n=1001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Taul1!$A$2:$A$3</c:f>
              <c:strCache>
                <c:ptCount val="2"/>
                <c:pt idx="0">
                  <c:v>As a man</c:v>
                </c:pt>
                <c:pt idx="1">
                  <c:v>As a woman</c:v>
                </c:pt>
              </c:strCache>
            </c:strRef>
          </c:cat>
          <c:val>
            <c:numRef>
              <c:f>Taul1!$B$2:$B$3</c:f>
              <c:numCache>
                <c:formatCode>###0%</c:formatCode>
                <c:ptCount val="2"/>
                <c:pt idx="0">
                  <c:v>0.48</c:v>
                </c:pt>
                <c:pt idx="1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6E-48B6-9BE4-4EDDCC599793}"/>
            </c:ext>
          </c:extLst>
        </c:ser>
        <c:ser>
          <c:idx val="1"/>
          <c:order val="1"/>
          <c:tx>
            <c:strRef>
              <c:f>Taul1!$C$1</c:f>
              <c:strCache>
                <c:ptCount val="1"/>
                <c:pt idx="0">
                  <c:v>Kokemusta omaavat, n=636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Taul1!$A$2:$A$3</c:f>
              <c:strCache>
                <c:ptCount val="2"/>
                <c:pt idx="0">
                  <c:v>As a man</c:v>
                </c:pt>
                <c:pt idx="1">
                  <c:v>As a woman</c:v>
                </c:pt>
              </c:strCache>
            </c:strRef>
          </c:cat>
          <c:val>
            <c:numRef>
              <c:f>Taul1!$C$2:$C$3</c:f>
              <c:numCache>
                <c:formatCode>###0%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6E-48B6-9BE4-4EDDCC599793}"/>
            </c:ext>
          </c:extLst>
        </c:ser>
        <c:ser>
          <c:idx val="2"/>
          <c:order val="2"/>
          <c:tx>
            <c:strRef>
              <c:f>Taul1!$D$1</c:f>
              <c:strCache>
                <c:ptCount val="1"/>
                <c:pt idx="0">
                  <c:v>Ei kokemusta, 45v +, n=229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Taul1!$A$2:$A$3</c:f>
              <c:strCache>
                <c:ptCount val="2"/>
                <c:pt idx="0">
                  <c:v>As a man</c:v>
                </c:pt>
                <c:pt idx="1">
                  <c:v>As a woman</c:v>
                </c:pt>
              </c:strCache>
            </c:strRef>
          </c:cat>
          <c:val>
            <c:numRef>
              <c:f>Taul1!$D$2:$D$3</c:f>
              <c:numCache>
                <c:formatCode>###0%</c:formatCode>
                <c:ptCount val="2"/>
                <c:pt idx="0">
                  <c:v>0.59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6E-48B6-9BE4-4EDDCC599793}"/>
            </c:ext>
          </c:extLst>
        </c:ser>
        <c:ser>
          <c:idx val="3"/>
          <c:order val="3"/>
          <c:tx>
            <c:strRef>
              <c:f>Taul1!$E$1</c:f>
              <c:strCache>
                <c:ptCount val="1"/>
                <c:pt idx="0">
                  <c:v>Suosittelijat, n=249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Taul1!$A$2:$A$3</c:f>
              <c:strCache>
                <c:ptCount val="2"/>
                <c:pt idx="0">
                  <c:v>As a man</c:v>
                </c:pt>
                <c:pt idx="1">
                  <c:v>As a woman</c:v>
                </c:pt>
              </c:strCache>
            </c:strRef>
          </c:cat>
          <c:val>
            <c:numRef>
              <c:f>Taul1!$E$2:$E$3</c:f>
              <c:numCache>
                <c:formatCode>###0%</c:formatCode>
                <c:ptCount val="2"/>
                <c:pt idx="0">
                  <c:v>0.56999999999999995</c:v>
                </c:pt>
                <c:pt idx="1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62-4E53-BB69-4ED84A605A33}"/>
            </c:ext>
          </c:extLst>
        </c:ser>
        <c:ser>
          <c:idx val="4"/>
          <c:order val="4"/>
          <c:tx>
            <c:strRef>
              <c:f>Taul1!$F$1</c:f>
              <c:strCache>
                <c:ptCount val="1"/>
                <c:pt idx="0">
                  <c:v>Ammattilaiset, n=216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Taul1!$A$2:$A$3</c:f>
              <c:strCache>
                <c:ptCount val="2"/>
                <c:pt idx="0">
                  <c:v>As a man</c:v>
                </c:pt>
                <c:pt idx="1">
                  <c:v>As a woman</c:v>
                </c:pt>
              </c:strCache>
            </c:strRef>
          </c:cat>
          <c:val>
            <c:numRef>
              <c:f>Taul1!$F$2:$F$3</c:f>
              <c:numCache>
                <c:formatCode>0%</c:formatCode>
                <c:ptCount val="2"/>
                <c:pt idx="0">
                  <c:v>0.2</c:v>
                </c:pt>
                <c:pt idx="1">
                  <c:v>0.79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2-4CB8-9A15-29C2759D7A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26098655"/>
        <c:axId val="1926090335"/>
        <c:extLst/>
      </c:barChart>
      <c:catAx>
        <c:axId val="1926098655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926090335"/>
        <c:crosses val="autoZero"/>
        <c:auto val="1"/>
        <c:lblAlgn val="ctr"/>
        <c:lblOffset val="100"/>
        <c:noMultiLvlLbl val="0"/>
      </c:catAx>
      <c:valAx>
        <c:axId val="1926090335"/>
        <c:scaling>
          <c:orientation val="minMax"/>
          <c:max val="1.2"/>
        </c:scaling>
        <c:delete val="1"/>
        <c:axPos val="t"/>
        <c:numFmt formatCode="###0%" sourceLinked="1"/>
        <c:majorTickMark val="out"/>
        <c:minorTickMark val="none"/>
        <c:tickLblPos val="nextTo"/>
        <c:crossAx val="1926098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982146804229988"/>
          <c:y val="0.68226793810753117"/>
          <c:w val="0.8307910956939194"/>
          <c:h val="0.286616965435669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noProof="0" dirty="0"/>
              <a:t>Ikä</a:t>
            </a:r>
          </a:p>
        </c:rich>
      </c:tx>
      <c:layout>
        <c:manualLayout>
          <c:xMode val="edge"/>
          <c:yMode val="edge"/>
          <c:x val="3.1675004172511921E-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25-34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61D-4433-8288-1A27A22BCF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45v +,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Sheet1!$B$2:$B$6</c:f>
              <c:numCache>
                <c:formatCode>###0%</c:formatCode>
                <c:ptCount val="5"/>
                <c:pt idx="0">
                  <c:v>0.19</c:v>
                </c:pt>
                <c:pt idx="1">
                  <c:v>0.24</c:v>
                </c:pt>
                <c:pt idx="2">
                  <c:v>0</c:v>
                </c:pt>
                <c:pt idx="3">
                  <c:v>0.27</c:v>
                </c:pt>
                <c:pt idx="4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1D-4433-8288-1A27A22BCF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35-44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61D-4433-8288-1A27A22BCF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45v +,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Sheet1!$C$2:$C$6</c:f>
              <c:numCache>
                <c:formatCode>###0%</c:formatCode>
                <c:ptCount val="5"/>
                <c:pt idx="0">
                  <c:v>0.21</c:v>
                </c:pt>
                <c:pt idx="1">
                  <c:v>0.26</c:v>
                </c:pt>
                <c:pt idx="2">
                  <c:v>0</c:v>
                </c:pt>
                <c:pt idx="3">
                  <c:v>0.26</c:v>
                </c:pt>
                <c:pt idx="4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1D-4433-8288-1A27A22BCF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45-54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61D-4433-8288-1A27A22BCFE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45v +,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Sheet1!$D$2:$D$6</c:f>
              <c:numCache>
                <c:formatCode>###0%</c:formatCode>
                <c:ptCount val="5"/>
                <c:pt idx="0">
                  <c:v>0.2</c:v>
                </c:pt>
                <c:pt idx="1">
                  <c:v>0.17</c:v>
                </c:pt>
                <c:pt idx="2">
                  <c:v>0.32</c:v>
                </c:pt>
                <c:pt idx="3">
                  <c:v>0.16</c:v>
                </c:pt>
                <c:pt idx="4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1D-4433-8288-1A27A22BCFE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55-64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45v +,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Sheet1!$E$2:$E$6</c:f>
              <c:numCache>
                <c:formatCode>###0%</c:formatCode>
                <c:ptCount val="5"/>
                <c:pt idx="0">
                  <c:v>0.2</c:v>
                </c:pt>
                <c:pt idx="1">
                  <c:v>0.17</c:v>
                </c:pt>
                <c:pt idx="2">
                  <c:v>0.34</c:v>
                </c:pt>
                <c:pt idx="3">
                  <c:v>0.14000000000000001</c:v>
                </c:pt>
                <c:pt idx="4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1D-4433-8288-1A27A22BCFE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65-74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45v +,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Sheet1!$F$2:$F$6</c:f>
              <c:numCache>
                <c:formatCode>###0%</c:formatCode>
                <c:ptCount val="5"/>
                <c:pt idx="0">
                  <c:v>0.2</c:v>
                </c:pt>
                <c:pt idx="1">
                  <c:v>0.17</c:v>
                </c:pt>
                <c:pt idx="2">
                  <c:v>0.34</c:v>
                </c:pt>
                <c:pt idx="3">
                  <c:v>0.17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1D-4433-8288-1A27A22BCFE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100"/>
        <c:axId val="1466697423"/>
        <c:axId val="1466695503"/>
      </c:barChart>
      <c:catAx>
        <c:axId val="146669742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466695503"/>
        <c:crosses val="autoZero"/>
        <c:auto val="1"/>
        <c:lblAlgn val="ctr"/>
        <c:lblOffset val="100"/>
        <c:noMultiLvlLbl val="0"/>
      </c:catAx>
      <c:valAx>
        <c:axId val="1466695503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466697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noProof="0" dirty="0"/>
              <a:t>Alue</a:t>
            </a:r>
          </a:p>
        </c:rich>
      </c:tx>
      <c:layout>
        <c:manualLayout>
          <c:xMode val="edge"/>
          <c:yMode val="edge"/>
          <c:x val="4.4208630861668659E-2"/>
          <c:y val="2.6035617955392173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title>
    <c:autoTitleDeleted val="0"/>
    <c:plotArea>
      <c:layout>
        <c:manualLayout>
          <c:layoutTarget val="inner"/>
          <c:xMode val="edge"/>
          <c:yMode val="edge"/>
          <c:x val="0.43173261692540893"/>
          <c:y val="8.4252058245377404E-2"/>
          <c:w val="0.40775436204241583"/>
          <c:h val="0.651647281698310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Kaikki vastaajat, n=1001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Pääkaupunkiseudulla</c:v>
                </c:pt>
                <c:pt idx="1">
                  <c:v>Muualla Etelä-Suomessa</c:v>
                </c:pt>
                <c:pt idx="2">
                  <c:v>Länsi-Suomessa</c:v>
                </c:pt>
                <c:pt idx="3">
                  <c:v>Pohjois-Suomessa</c:v>
                </c:pt>
                <c:pt idx="4">
                  <c:v>Itä-Suomessa</c:v>
                </c:pt>
              </c:strCache>
            </c:strRef>
          </c:cat>
          <c:val>
            <c:numRef>
              <c:f>Sheet1!$B$2:$B$6</c:f>
              <c:numCache>
                <c:formatCode>###0%</c:formatCode>
                <c:ptCount val="5"/>
                <c:pt idx="0">
                  <c:v>0.24075924075924074</c:v>
                </c:pt>
                <c:pt idx="1">
                  <c:v>0.19980019980019978</c:v>
                </c:pt>
                <c:pt idx="2">
                  <c:v>0.32567432567432569</c:v>
                </c:pt>
                <c:pt idx="3">
                  <c:v>0.12687312687312688</c:v>
                </c:pt>
                <c:pt idx="4">
                  <c:v>0.1068931068931069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ED-4029-8D2F-1A93D66FA5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Kokemusta omaavat, n=636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Pääkaupunkiseudulla</c:v>
                </c:pt>
                <c:pt idx="1">
                  <c:v>Muualla Etelä-Suomessa</c:v>
                </c:pt>
                <c:pt idx="2">
                  <c:v>Länsi-Suomessa</c:v>
                </c:pt>
                <c:pt idx="3">
                  <c:v>Pohjois-Suomessa</c:v>
                </c:pt>
                <c:pt idx="4">
                  <c:v>Itä-Suomessa</c:v>
                </c:pt>
              </c:strCache>
            </c:strRef>
          </c:cat>
          <c:val>
            <c:numRef>
              <c:f>Sheet1!$C$2:$C$6</c:f>
              <c:numCache>
                <c:formatCode>###0%</c:formatCode>
                <c:ptCount val="5"/>
                <c:pt idx="0">
                  <c:v>0.24842767295597482</c:v>
                </c:pt>
                <c:pt idx="1">
                  <c:v>0.1918238993710692</c:v>
                </c:pt>
                <c:pt idx="2">
                  <c:v>0.33176100628930816</c:v>
                </c:pt>
                <c:pt idx="3">
                  <c:v>0.12578616352201258</c:v>
                </c:pt>
                <c:pt idx="4">
                  <c:v>0.10220125786163521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ED-4029-8D2F-1A93D66FA5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Ei kokemusta, 45v +, n=229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Pääkaupunkiseudulla</c:v>
                </c:pt>
                <c:pt idx="1">
                  <c:v>Muualla Etelä-Suomessa</c:v>
                </c:pt>
                <c:pt idx="2">
                  <c:v>Länsi-Suomessa</c:v>
                </c:pt>
                <c:pt idx="3">
                  <c:v>Pohjois-Suomessa</c:v>
                </c:pt>
                <c:pt idx="4">
                  <c:v>Itä-Suomessa</c:v>
                </c:pt>
              </c:strCache>
            </c:strRef>
          </c:cat>
          <c:val>
            <c:numRef>
              <c:f>Sheet1!$D$2:$D$6</c:f>
              <c:numCache>
                <c:formatCode>###0%</c:formatCode>
                <c:ptCount val="5"/>
                <c:pt idx="0">
                  <c:v>0.27074235807860264</c:v>
                </c:pt>
                <c:pt idx="1">
                  <c:v>0.2183406113537118</c:v>
                </c:pt>
                <c:pt idx="2">
                  <c:v>0.27947598253275108</c:v>
                </c:pt>
                <c:pt idx="3">
                  <c:v>0.1091703056768559</c:v>
                </c:pt>
                <c:pt idx="4">
                  <c:v>0.12227074235807861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ED-4029-8D2F-1A93D66FA58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Suosittelijat, n=249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Pääkaupunkiseudulla</c:v>
                </c:pt>
                <c:pt idx="1">
                  <c:v>Muualla Etelä-Suomessa</c:v>
                </c:pt>
                <c:pt idx="2">
                  <c:v>Länsi-Suomessa</c:v>
                </c:pt>
                <c:pt idx="3">
                  <c:v>Pohjois-Suomessa</c:v>
                </c:pt>
                <c:pt idx="4">
                  <c:v>Itä-Suomessa</c:v>
                </c:pt>
              </c:strCache>
            </c:strRef>
          </c:cat>
          <c:val>
            <c:numRef>
              <c:f>Sheet1!$E$2:$E$6</c:f>
              <c:numCache>
                <c:formatCode>###0%</c:formatCode>
                <c:ptCount val="5"/>
                <c:pt idx="0">
                  <c:v>0.27309236947791166</c:v>
                </c:pt>
                <c:pt idx="1">
                  <c:v>0.20481927710843373</c:v>
                </c:pt>
                <c:pt idx="2">
                  <c:v>0.30120481927710846</c:v>
                </c:pt>
                <c:pt idx="3">
                  <c:v>0.11646586345381525</c:v>
                </c:pt>
                <c:pt idx="4">
                  <c:v>0.10441767068273093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ED-4029-8D2F-1A93D66FA58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Ammattilaiset, n=216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Pääkaupunkiseudulla</c:v>
                </c:pt>
                <c:pt idx="1">
                  <c:v>Muualla Etelä-Suomessa</c:v>
                </c:pt>
                <c:pt idx="2">
                  <c:v>Länsi-Suomessa</c:v>
                </c:pt>
                <c:pt idx="3">
                  <c:v>Pohjois-Suomessa</c:v>
                </c:pt>
                <c:pt idx="4">
                  <c:v>Itä-Suomessa</c:v>
                </c:pt>
              </c:strCache>
            </c:strRef>
          </c:cat>
          <c:val>
            <c:numRef>
              <c:f>Sheet1!$F$2:$F$6</c:f>
              <c:numCache>
                <c:formatCode>###0%</c:formatCode>
                <c:ptCount val="5"/>
                <c:pt idx="0">
                  <c:v>0.17592592592592593</c:v>
                </c:pt>
                <c:pt idx="1">
                  <c:v>0.20833333333333331</c:v>
                </c:pt>
                <c:pt idx="2">
                  <c:v>0.35185185185185186</c:v>
                </c:pt>
                <c:pt idx="3">
                  <c:v>0.14351851851851852</c:v>
                </c:pt>
                <c:pt idx="4">
                  <c:v>0.12037037037037036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ED-4029-8D2F-1A93D66FA58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41193584"/>
        <c:axId val="2041173424"/>
      </c:barChart>
      <c:catAx>
        <c:axId val="204119358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2041173424"/>
        <c:crosses val="autoZero"/>
        <c:auto val="1"/>
        <c:lblAlgn val="ctr"/>
        <c:lblOffset val="100"/>
        <c:noMultiLvlLbl val="0"/>
      </c:catAx>
      <c:valAx>
        <c:axId val="2041173424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##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204119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8797095081823744E-2"/>
          <c:y val="0.74389184523201057"/>
          <c:w val="0.76407838359918845"/>
          <c:h val="0.241186096087874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1551823197095747"/>
          <c:y val="3.1899121141536424E-2"/>
          <c:w val="0.39898643234074677"/>
          <c:h val="0.9362017577169271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Finland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fi-FI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0818391890070335E-2"/>
                      <c:h val="5.976735333882415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B20-474B-979D-5DADADF3AB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Kyllä, minulla on henkilökohtaista kokemusta hoivapalveluista asiakkaana</c:v>
                </c:pt>
                <c:pt idx="1">
                  <c:v>Kyllä, minulla on kokemusta hoivapalveluista asiakkaan läheisenä</c:v>
                </c:pt>
                <c:pt idx="2">
                  <c:v>Kyllä, työskentelen tai olen työskennellyt hoivapalveluiden parissa</c:v>
                </c:pt>
                <c:pt idx="3">
                  <c:v>Ei, minulla ei ole kokemusta hoivapalveluista</c:v>
                </c:pt>
              </c:strCache>
            </c:strRef>
          </c:cat>
          <c:val>
            <c:numRef>
              <c:f>Sheet1!$B$2:$B$5</c:f>
              <c:numCache>
                <c:formatCode>###0%</c:formatCode>
                <c:ptCount val="4"/>
                <c:pt idx="0">
                  <c:v>0.09</c:v>
                </c:pt>
                <c:pt idx="1">
                  <c:v>0.57999999999999996</c:v>
                </c:pt>
                <c:pt idx="2">
                  <c:v>0.22</c:v>
                </c:pt>
                <c:pt idx="3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20-474B-979D-5DADADF3A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63240447"/>
        <c:axId val="463237087"/>
      </c:barChart>
      <c:catAx>
        <c:axId val="463240447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463237087"/>
        <c:crosses val="autoZero"/>
        <c:auto val="1"/>
        <c:lblAlgn val="ctr"/>
        <c:lblOffset val="100"/>
        <c:noMultiLvlLbl val="0"/>
      </c:catAx>
      <c:valAx>
        <c:axId val="463237087"/>
        <c:scaling>
          <c:orientation val="minMax"/>
        </c:scaling>
        <c:delete val="1"/>
        <c:axPos val="t"/>
        <c:numFmt formatCode="###0%" sourceLinked="1"/>
        <c:majorTickMark val="none"/>
        <c:minorTickMark val="none"/>
        <c:tickLblPos val="nextTo"/>
        <c:crossAx val="4632404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Fin</c:v>
                </c:pt>
              </c:strCache>
            </c:strRef>
          </c:tx>
          <c:spPr>
            <a:solidFill>
              <a:schemeClr val="accent2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18C-46BF-919F-4059A149FA5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18C-46BF-919F-4059A149FA5B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18C-46BF-919F-4059A149FA5B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18C-46BF-919F-4059A149FA5B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418C-46BF-919F-4059A149FA5B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418C-46BF-919F-4059A149FA5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Ikäihmisten hoivakodit</c:v>
                </c:pt>
                <c:pt idx="1">
                  <c:v>Ikäihmisten kotihoidon palvelut</c:v>
                </c:pt>
                <c:pt idx="2">
                  <c:v>Vammaisten ihmisten hoivakodit</c:v>
                </c:pt>
                <c:pt idx="3">
                  <c:v>Vammaisten ihmisten kotihoidon palvelut</c:v>
                </c:pt>
                <c:pt idx="4">
                  <c:v>Mielenterveys- tai päihdekuntoutuspalvelut</c:v>
                </c:pt>
                <c:pt idx="5">
                  <c:v>Muut hoivapalvelut, mitkä?</c:v>
                </c:pt>
              </c:strCache>
            </c:strRef>
          </c:cat>
          <c:val>
            <c:numRef>
              <c:f>Sheet1!$B$2:$B$7</c:f>
              <c:numCache>
                <c:formatCode>###0%</c:formatCode>
                <c:ptCount val="6"/>
                <c:pt idx="0">
                  <c:v>0.64779874213836475</c:v>
                </c:pt>
                <c:pt idx="1">
                  <c:v>0.58805031446540879</c:v>
                </c:pt>
                <c:pt idx="2">
                  <c:v>0.14622641509433962</c:v>
                </c:pt>
                <c:pt idx="3">
                  <c:v>0.1069182389937107</c:v>
                </c:pt>
                <c:pt idx="4">
                  <c:v>0.169811320754717</c:v>
                </c:pt>
                <c:pt idx="5">
                  <c:v>1.7295597484276729E-2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18C-46BF-919F-4059A149FA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32777312"/>
        <c:axId val="132769152"/>
      </c:barChart>
      <c:valAx>
        <c:axId val="132769152"/>
        <c:scaling>
          <c:orientation val="minMax"/>
        </c:scaling>
        <c:delete val="1"/>
        <c:axPos val="t"/>
        <c:numFmt formatCode="###0%" sourceLinked="1"/>
        <c:majorTickMark val="out"/>
        <c:minorTickMark val="none"/>
        <c:tickLblPos val="nextTo"/>
        <c:crossAx val="132777312"/>
        <c:crosses val="autoZero"/>
        <c:crossBetween val="between"/>
      </c:valAx>
      <c:catAx>
        <c:axId val="132777312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327691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DFC-4B40-925B-03CC3D493D0A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DFC-4B40-925B-03CC3D493D0A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DFC-4B40-925B-03CC3D493D0A}"/>
              </c:ext>
            </c:extLst>
          </c:dPt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DFC-4B40-925B-03CC3D493D0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Kyllä, palvelut ovat kunnan / hyvinvointialueen tuottamia</c:v>
                </c:pt>
                <c:pt idx="1">
                  <c:v>Kyllä, palvelut ovat yksityisen yrityksen tuottamia</c:v>
                </c:pt>
                <c:pt idx="2">
                  <c:v>Kyllä, palvelut ovat voittoa tavoittelemattoman yrityksen tarjoamia</c:v>
                </c:pt>
                <c:pt idx="3">
                  <c:v>En tiedä mikä taho palvelut tuottaa</c:v>
                </c:pt>
              </c:strCache>
            </c:strRef>
          </c:cat>
          <c:val>
            <c:numRef>
              <c:f>Sheet1!$B$2:$B$5</c:f>
              <c:numCache>
                <c:formatCode>###0%</c:formatCode>
                <c:ptCount val="4"/>
                <c:pt idx="0">
                  <c:v>0.75786163522012573</c:v>
                </c:pt>
                <c:pt idx="1">
                  <c:v>0.40566037735849059</c:v>
                </c:pt>
                <c:pt idx="2">
                  <c:v>6.9182389937106917E-2</c:v>
                </c:pt>
                <c:pt idx="3">
                  <c:v>4.40251572327044E-2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FC-4B40-925B-03CC3D493D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272592336"/>
        <c:axId val="1272568816"/>
      </c:barChart>
      <c:catAx>
        <c:axId val="12725923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72568816"/>
        <c:crosses val="autoZero"/>
        <c:auto val="1"/>
        <c:lblAlgn val="ctr"/>
        <c:lblOffset val="100"/>
        <c:noMultiLvlLbl val="0"/>
      </c:catAx>
      <c:valAx>
        <c:axId val="1272568816"/>
        <c:scaling>
          <c:orientation val="minMax"/>
        </c:scaling>
        <c:delete val="1"/>
        <c:axPos val="l"/>
        <c:numFmt formatCode="###0%" sourceLinked="1"/>
        <c:majorTickMark val="out"/>
        <c:minorTickMark val="none"/>
        <c:tickLblPos val="nextTo"/>
        <c:crossAx val="1272592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269567651520624"/>
          <c:y val="2.1274478355919127E-2"/>
          <c:w val="0.75730432348479371"/>
          <c:h val="0.8474486593583371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Taul1!$B$1</c:f>
              <c:strCache>
                <c:ptCount val="1"/>
                <c:pt idx="0">
                  <c:v>Top of mind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Taul1!$A$2:$A$17</c:f>
              <c:strCache>
                <c:ptCount val="16"/>
                <c:pt idx="0">
                  <c:v>Attendo</c:v>
                </c:pt>
                <c:pt idx="1">
                  <c:v>Esperi</c:v>
                </c:pt>
                <c:pt idx="2">
                  <c:v>Mehiläinen</c:v>
                </c:pt>
                <c:pt idx="3">
                  <c:v>Pihlajalinna</c:v>
                </c:pt>
                <c:pt idx="4">
                  <c:v>Julkiset/kunnalliset</c:v>
                </c:pt>
                <c:pt idx="5">
                  <c:v>Onnikodit</c:v>
                </c:pt>
                <c:pt idx="6">
                  <c:v>Saga</c:v>
                </c:pt>
                <c:pt idx="7">
                  <c:v>Terveystalo</c:v>
                </c:pt>
                <c:pt idx="8">
                  <c:v>Validia</c:v>
                </c:pt>
                <c:pt idx="9">
                  <c:v>Rinnekodit</c:v>
                </c:pt>
                <c:pt idx="10">
                  <c:v>Mainiokodit</c:v>
                </c:pt>
                <c:pt idx="11">
                  <c:v>Coronaria</c:v>
                </c:pt>
                <c:pt idx="12">
                  <c:v>Humana</c:v>
                </c:pt>
                <c:pt idx="13">
                  <c:v>Suomen seniorihoiva</c:v>
                </c:pt>
                <c:pt idx="14">
                  <c:v>Muu</c:v>
                </c:pt>
                <c:pt idx="15">
                  <c:v>En osaa sanoa</c:v>
                </c:pt>
              </c:strCache>
            </c:strRef>
          </c:cat>
          <c:val>
            <c:numRef>
              <c:f>Taul1!$B$2:$B$17</c:f>
              <c:numCache>
                <c:formatCode>0%</c:formatCode>
                <c:ptCount val="16"/>
                <c:pt idx="0">
                  <c:v>0.26</c:v>
                </c:pt>
                <c:pt idx="1">
                  <c:v>0.11</c:v>
                </c:pt>
                <c:pt idx="2">
                  <c:v>0.09</c:v>
                </c:pt>
                <c:pt idx="3">
                  <c:v>0.02</c:v>
                </c:pt>
                <c:pt idx="4">
                  <c:v>0.02</c:v>
                </c:pt>
                <c:pt idx="5">
                  <c:v>0.01</c:v>
                </c:pt>
                <c:pt idx="6">
                  <c:v>0.01</c:v>
                </c:pt>
                <c:pt idx="7">
                  <c:v>0.01</c:v>
                </c:pt>
                <c:pt idx="8">
                  <c:v>1.4970059880239521E-2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0.19</c:v>
                </c:pt>
                <c:pt idx="1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21-4BFE-B513-C955CCE0564B}"/>
            </c:ext>
          </c:extLst>
        </c:ser>
        <c:ser>
          <c:idx val="1"/>
          <c:order val="1"/>
          <c:tx>
            <c:strRef>
              <c:f>Taul1!$C$1</c:f>
              <c:strCache>
                <c:ptCount val="1"/>
                <c:pt idx="0">
                  <c:v>Muut spontaanit maininnat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Taul1!$A$2:$A$17</c:f>
              <c:strCache>
                <c:ptCount val="16"/>
                <c:pt idx="0">
                  <c:v>Attendo</c:v>
                </c:pt>
                <c:pt idx="1">
                  <c:v>Esperi</c:v>
                </c:pt>
                <c:pt idx="2">
                  <c:v>Mehiläinen</c:v>
                </c:pt>
                <c:pt idx="3">
                  <c:v>Pihlajalinna</c:v>
                </c:pt>
                <c:pt idx="4">
                  <c:v>Julkiset/kunnalliset</c:v>
                </c:pt>
                <c:pt idx="5">
                  <c:v>Onnikodit</c:v>
                </c:pt>
                <c:pt idx="6">
                  <c:v>Saga</c:v>
                </c:pt>
                <c:pt idx="7">
                  <c:v>Terveystalo</c:v>
                </c:pt>
                <c:pt idx="8">
                  <c:v>Validia</c:v>
                </c:pt>
                <c:pt idx="9">
                  <c:v>Rinnekodit</c:v>
                </c:pt>
                <c:pt idx="10">
                  <c:v>Mainiokodit</c:v>
                </c:pt>
                <c:pt idx="11">
                  <c:v>Coronaria</c:v>
                </c:pt>
                <c:pt idx="12">
                  <c:v>Humana</c:v>
                </c:pt>
                <c:pt idx="13">
                  <c:v>Suomen seniorihoiva</c:v>
                </c:pt>
                <c:pt idx="14">
                  <c:v>Muu</c:v>
                </c:pt>
                <c:pt idx="15">
                  <c:v>En osaa sanoa</c:v>
                </c:pt>
              </c:strCache>
            </c:strRef>
          </c:cat>
          <c:val>
            <c:numRef>
              <c:f>Taul1!$C$2:$C$17</c:f>
              <c:numCache>
                <c:formatCode>0%</c:formatCode>
                <c:ptCount val="16"/>
                <c:pt idx="0">
                  <c:v>0.11</c:v>
                </c:pt>
                <c:pt idx="1">
                  <c:v>0.1</c:v>
                </c:pt>
                <c:pt idx="2">
                  <c:v>0.08</c:v>
                </c:pt>
                <c:pt idx="3">
                  <c:v>0.04</c:v>
                </c:pt>
                <c:pt idx="4">
                  <c:v>0.02</c:v>
                </c:pt>
                <c:pt idx="5">
                  <c:v>0.03</c:v>
                </c:pt>
                <c:pt idx="6">
                  <c:v>0.02</c:v>
                </c:pt>
                <c:pt idx="7">
                  <c:v>2.2954091816367265E-2</c:v>
                </c:pt>
                <c:pt idx="8">
                  <c:v>1.4970059880239521E-2</c:v>
                </c:pt>
                <c:pt idx="9">
                  <c:v>0.02</c:v>
                </c:pt>
                <c:pt idx="10">
                  <c:v>1.4970059880239521E-2</c:v>
                </c:pt>
                <c:pt idx="11">
                  <c:v>0.01</c:v>
                </c:pt>
                <c:pt idx="12">
                  <c:v>7.9840319361277438E-3</c:v>
                </c:pt>
                <c:pt idx="1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21-4BFE-B513-C955CCE0564B}"/>
            </c:ext>
          </c:extLst>
        </c:ser>
        <c:ser>
          <c:idx val="2"/>
          <c:order val="2"/>
          <c:tx>
            <c:strRef>
              <c:f>Taul1!$D$1</c:f>
              <c:strCache>
                <c:ptCount val="1"/>
                <c:pt idx="0">
                  <c:v>Kaikki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Taul1!$A$2:$A$17</c:f>
              <c:strCache>
                <c:ptCount val="16"/>
                <c:pt idx="0">
                  <c:v>Attendo</c:v>
                </c:pt>
                <c:pt idx="1">
                  <c:v>Esperi</c:v>
                </c:pt>
                <c:pt idx="2">
                  <c:v>Mehiläinen</c:v>
                </c:pt>
                <c:pt idx="3">
                  <c:v>Pihlajalinna</c:v>
                </c:pt>
                <c:pt idx="4">
                  <c:v>Julkiset/kunnalliset</c:v>
                </c:pt>
                <c:pt idx="5">
                  <c:v>Onnikodit</c:v>
                </c:pt>
                <c:pt idx="6">
                  <c:v>Saga</c:v>
                </c:pt>
                <c:pt idx="7">
                  <c:v>Terveystalo</c:v>
                </c:pt>
                <c:pt idx="8">
                  <c:v>Validia</c:v>
                </c:pt>
                <c:pt idx="9">
                  <c:v>Rinnekodit</c:v>
                </c:pt>
                <c:pt idx="10">
                  <c:v>Mainiokodit</c:v>
                </c:pt>
                <c:pt idx="11">
                  <c:v>Coronaria</c:v>
                </c:pt>
                <c:pt idx="12">
                  <c:v>Humana</c:v>
                </c:pt>
                <c:pt idx="13">
                  <c:v>Suomen seniorihoiva</c:v>
                </c:pt>
                <c:pt idx="14">
                  <c:v>Muu</c:v>
                </c:pt>
                <c:pt idx="15">
                  <c:v>En osaa sanoa</c:v>
                </c:pt>
              </c:strCache>
            </c:strRef>
          </c:cat>
          <c:val>
            <c:numRef>
              <c:f>Taul1!$D$2:$D$17</c:f>
              <c:numCache>
                <c:formatCode>0%</c:formatCode>
                <c:ptCount val="16"/>
                <c:pt idx="0">
                  <c:v>0.37</c:v>
                </c:pt>
                <c:pt idx="1">
                  <c:v>0.21</c:v>
                </c:pt>
                <c:pt idx="2">
                  <c:v>0.17</c:v>
                </c:pt>
                <c:pt idx="3">
                  <c:v>0.06</c:v>
                </c:pt>
                <c:pt idx="4">
                  <c:v>0.04</c:v>
                </c:pt>
                <c:pt idx="5">
                  <c:v>0.04</c:v>
                </c:pt>
                <c:pt idx="6">
                  <c:v>0.03</c:v>
                </c:pt>
                <c:pt idx="7">
                  <c:v>0.03</c:v>
                </c:pt>
                <c:pt idx="8">
                  <c:v>0.02</c:v>
                </c:pt>
                <c:pt idx="9">
                  <c:v>0.02</c:v>
                </c:pt>
                <c:pt idx="10">
                  <c:v>0.01</c:v>
                </c:pt>
                <c:pt idx="11">
                  <c:v>0.01</c:v>
                </c:pt>
                <c:pt idx="12">
                  <c:v>0.01</c:v>
                </c:pt>
                <c:pt idx="13">
                  <c:v>0.01</c:v>
                </c:pt>
                <c:pt idx="14">
                  <c:v>0.18163672654690619</c:v>
                </c:pt>
                <c:pt idx="1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21-4BFE-B513-C955CCE056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1926098655"/>
        <c:axId val="1926090335"/>
      </c:barChart>
      <c:catAx>
        <c:axId val="1926098655"/>
        <c:scaling>
          <c:orientation val="maxMin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926090335"/>
        <c:crosses val="autoZero"/>
        <c:auto val="1"/>
        <c:lblAlgn val="ctr"/>
        <c:lblOffset val="100"/>
        <c:noMultiLvlLbl val="0"/>
      </c:catAx>
      <c:valAx>
        <c:axId val="1926090335"/>
        <c:scaling>
          <c:orientation val="minMax"/>
          <c:max val="0.70000000000000007"/>
        </c:scaling>
        <c:delete val="1"/>
        <c:axPos val="t"/>
        <c:numFmt formatCode="0%" sourceLinked="1"/>
        <c:majorTickMark val="out"/>
        <c:minorTickMark val="none"/>
        <c:tickLblPos val="nextTo"/>
        <c:crossAx val="1926098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fi-FI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Marraskuu 2025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Humana</c:v>
                </c:pt>
                <c:pt idx="8">
                  <c:v>En mitään näistä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0.86</c:v>
                </c:pt>
                <c:pt idx="1">
                  <c:v>0.75</c:v>
                </c:pt>
                <c:pt idx="2">
                  <c:v>0.42</c:v>
                </c:pt>
                <c:pt idx="3">
                  <c:v>0.33</c:v>
                </c:pt>
                <c:pt idx="4">
                  <c:v>0.26</c:v>
                </c:pt>
                <c:pt idx="5">
                  <c:v>0.22</c:v>
                </c:pt>
                <c:pt idx="6">
                  <c:v>0.15</c:v>
                </c:pt>
                <c:pt idx="7">
                  <c:v>0.13</c:v>
                </c:pt>
                <c:pt idx="8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AB-4BE5-86FC-01277FA296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Toukokuu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Humana</c:v>
                </c:pt>
                <c:pt idx="8">
                  <c:v>En mitään näistä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0">
                  <c:v>0.86</c:v>
                </c:pt>
                <c:pt idx="1">
                  <c:v>0.74</c:v>
                </c:pt>
                <c:pt idx="2">
                  <c:v>0.43</c:v>
                </c:pt>
                <c:pt idx="3">
                  <c:v>0.32</c:v>
                </c:pt>
                <c:pt idx="4">
                  <c:v>0.28000000000000003</c:v>
                </c:pt>
                <c:pt idx="5">
                  <c:v>0.23</c:v>
                </c:pt>
                <c:pt idx="6">
                  <c:v>0.14000000000000001</c:v>
                </c:pt>
                <c:pt idx="7">
                  <c:v>0.11</c:v>
                </c:pt>
                <c:pt idx="8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D7-4949-ABA6-F8BB96A15A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Marraskuu 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Humana</c:v>
                </c:pt>
                <c:pt idx="8">
                  <c:v>En mitään näistä</c:v>
                </c:pt>
              </c:strCache>
            </c:strRef>
          </c:cat>
          <c:val>
            <c:numRef>
              <c:f>Sheet1!$D$2:$D$10</c:f>
              <c:numCache>
                <c:formatCode>0%</c:formatCode>
                <c:ptCount val="9"/>
                <c:pt idx="0">
                  <c:v>0.81299999999999994</c:v>
                </c:pt>
                <c:pt idx="1">
                  <c:v>0.70299999999999996</c:v>
                </c:pt>
                <c:pt idx="2">
                  <c:v>0.39</c:v>
                </c:pt>
                <c:pt idx="3">
                  <c:v>0.28599999999999998</c:v>
                </c:pt>
                <c:pt idx="4">
                  <c:v>0.23100000000000001</c:v>
                </c:pt>
                <c:pt idx="5">
                  <c:v>0.21099999999999999</c:v>
                </c:pt>
                <c:pt idx="6">
                  <c:v>0.126</c:v>
                </c:pt>
                <c:pt idx="7">
                  <c:v>0.13200000000000001</c:v>
                </c:pt>
                <c:pt idx="8">
                  <c:v>6.0999999999999999E-2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2D-4E66-B6F2-D2CBB62F5F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Toukokuu 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Humana</c:v>
                </c:pt>
                <c:pt idx="8">
                  <c:v>En mitään näistä</c:v>
                </c:pt>
              </c:strCache>
            </c:strRef>
          </c:cat>
          <c:val>
            <c:numRef>
              <c:f>Sheet1!$E$2:$E$10</c:f>
              <c:numCache>
                <c:formatCode>0%</c:formatCode>
                <c:ptCount val="9"/>
                <c:pt idx="0">
                  <c:v>0.84</c:v>
                </c:pt>
                <c:pt idx="1">
                  <c:v>0.72</c:v>
                </c:pt>
                <c:pt idx="2">
                  <c:v>0.44</c:v>
                </c:pt>
                <c:pt idx="4">
                  <c:v>0.22</c:v>
                </c:pt>
                <c:pt idx="5">
                  <c:v>0.21</c:v>
                </c:pt>
                <c:pt idx="6">
                  <c:v>0.14000000000000001</c:v>
                </c:pt>
                <c:pt idx="7">
                  <c:v>0.14000000000000001</c:v>
                </c:pt>
                <c:pt idx="8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98-4F54-96CF-9BCA6172CA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522658591"/>
        <c:axId val="522664831"/>
      </c:barChart>
      <c:catAx>
        <c:axId val="52265859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522664831"/>
        <c:crosses val="autoZero"/>
        <c:auto val="1"/>
        <c:lblAlgn val="ctr"/>
        <c:lblOffset val="100"/>
        <c:noMultiLvlLbl val="0"/>
      </c:catAx>
      <c:valAx>
        <c:axId val="522664831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522658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992774158903618"/>
          <c:y val="0.92718554716781654"/>
          <c:w val="0.54703465295942377"/>
          <c:h val="5.63056953913268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371530806887944"/>
          <c:y val="7.7522847993331659E-2"/>
          <c:w val="0.52459873220372299"/>
          <c:h val="0.770093263191021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Kokemusta omaavat, n=608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0.82599999999999996</c:v>
                </c:pt>
                <c:pt idx="1">
                  <c:v>0.73</c:v>
                </c:pt>
                <c:pt idx="2">
                  <c:v>0.41899999999999998</c:v>
                </c:pt>
                <c:pt idx="3">
                  <c:v>0.28899999999999998</c:v>
                </c:pt>
                <c:pt idx="4">
                  <c:v>0.27500000000000002</c:v>
                </c:pt>
                <c:pt idx="5">
                  <c:v>0.24</c:v>
                </c:pt>
                <c:pt idx="6">
                  <c:v>0.155</c:v>
                </c:pt>
                <c:pt idx="7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09-4379-A5E8-E79262A46200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Ei kokemusta, n=245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Sheet1!$D$2:$D$9</c:f>
              <c:numCache>
                <c:formatCode>0%</c:formatCode>
                <c:ptCount val="8"/>
                <c:pt idx="0">
                  <c:v>0.78</c:v>
                </c:pt>
                <c:pt idx="1">
                  <c:v>0.60399999999999998</c:v>
                </c:pt>
                <c:pt idx="2">
                  <c:v>0.29799999999999999</c:v>
                </c:pt>
                <c:pt idx="3">
                  <c:v>0.151</c:v>
                </c:pt>
                <c:pt idx="4">
                  <c:v>0.09</c:v>
                </c:pt>
                <c:pt idx="5">
                  <c:v>6.5000000000000002E-2</c:v>
                </c:pt>
                <c:pt idx="6">
                  <c:v>4.9000000000000002E-2</c:v>
                </c:pt>
                <c:pt idx="7">
                  <c:v>3.6999999999999998E-2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09-4379-A5E8-E79262A46200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Suosittelijat, n=234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Sheet1!$E$2:$E$9</c:f>
              <c:numCache>
                <c:formatCode>0%</c:formatCode>
                <c:ptCount val="8"/>
                <c:pt idx="0">
                  <c:v>0.88</c:v>
                </c:pt>
                <c:pt idx="1">
                  <c:v>0.72599999999999998</c:v>
                </c:pt>
                <c:pt idx="2">
                  <c:v>0.38</c:v>
                </c:pt>
                <c:pt idx="3">
                  <c:v>0.30299999999999999</c:v>
                </c:pt>
                <c:pt idx="4">
                  <c:v>0.27800000000000002</c:v>
                </c:pt>
                <c:pt idx="5">
                  <c:v>0.222</c:v>
                </c:pt>
                <c:pt idx="6">
                  <c:v>0.17100000000000001</c:v>
                </c:pt>
                <c:pt idx="7">
                  <c:v>0.17899999999999999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09-4379-A5E8-E79262A46200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Ammattilaiset, n=257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Sheet1!$F$2:$F$9</c:f>
              <c:numCache>
                <c:formatCode>0%</c:formatCode>
                <c:ptCount val="8"/>
                <c:pt idx="0">
                  <c:v>0.82899999999999996</c:v>
                </c:pt>
                <c:pt idx="1">
                  <c:v>0.77800000000000002</c:v>
                </c:pt>
                <c:pt idx="2">
                  <c:v>0.498</c:v>
                </c:pt>
                <c:pt idx="3">
                  <c:v>0.52500000000000002</c:v>
                </c:pt>
                <c:pt idx="4">
                  <c:v>0.40500000000000003</c:v>
                </c:pt>
                <c:pt idx="5">
                  <c:v>0.42399999999999999</c:v>
                </c:pt>
                <c:pt idx="6">
                  <c:v>0.27600000000000002</c:v>
                </c:pt>
                <c:pt idx="7">
                  <c:v>0.24099999999999999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209-4379-A5E8-E79262A4620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522658591"/>
        <c:axId val="522664831"/>
      </c:barChart>
      <c:catAx>
        <c:axId val="52265859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522664831"/>
        <c:crosses val="autoZero"/>
        <c:auto val="1"/>
        <c:lblAlgn val="ctr"/>
        <c:lblOffset val="100"/>
        <c:noMultiLvlLbl val="0"/>
      </c:catAx>
      <c:valAx>
        <c:axId val="522664831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22658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328370895584803"/>
          <c:y val="7.7522847993331659E-2"/>
          <c:w val="0.54056899959947802"/>
          <c:h val="0.770093263191021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Kokemusta omaavat, n=692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Onnikodit</c:v>
                </c:pt>
                <c:pt idx="4">
                  <c:v>Mainio-kodit</c:v>
                </c:pt>
                <c:pt idx="5">
                  <c:v>Ykköskodit</c:v>
                </c:pt>
                <c:pt idx="6">
                  <c:v>Humana</c:v>
                </c:pt>
              </c:strCache>
            </c:strRef>
          </c:cat>
          <c:val>
            <c:numRef>
              <c:f>Sheet1!$C$2:$C$8</c:f>
              <c:numCache>
                <c:formatCode>0%</c:formatCode>
                <c:ptCount val="7"/>
                <c:pt idx="0">
                  <c:v>0.84</c:v>
                </c:pt>
                <c:pt idx="1">
                  <c:v>0.73</c:v>
                </c:pt>
                <c:pt idx="2">
                  <c:v>0.45</c:v>
                </c:pt>
                <c:pt idx="3">
                  <c:v>0.22</c:v>
                </c:pt>
                <c:pt idx="4">
                  <c:v>0.21</c:v>
                </c:pt>
                <c:pt idx="5">
                  <c:v>0.14000000000000001</c:v>
                </c:pt>
                <c:pt idx="6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F9-4EE4-B5F7-153C694ABEA8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Ei kokemusta, 55v +, n=182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Onnikodit</c:v>
                </c:pt>
                <c:pt idx="4">
                  <c:v>Mainio-kodit</c:v>
                </c:pt>
                <c:pt idx="5">
                  <c:v>Ykköskodit</c:v>
                </c:pt>
                <c:pt idx="6">
                  <c:v>Humana</c:v>
                </c:pt>
              </c:strCache>
            </c:strRef>
          </c:cat>
          <c:val>
            <c:numRef>
              <c:f>Sheet1!$D$2:$D$8</c:f>
              <c:numCache>
                <c:formatCode>0%</c:formatCode>
                <c:ptCount val="7"/>
                <c:pt idx="0">
                  <c:v>0.76</c:v>
                </c:pt>
                <c:pt idx="1">
                  <c:v>0.57999999999999996</c:v>
                </c:pt>
                <c:pt idx="2">
                  <c:v>0.37</c:v>
                </c:pt>
                <c:pt idx="3">
                  <c:v>0.1</c:v>
                </c:pt>
                <c:pt idx="4">
                  <c:v>7.0000000000000007E-2</c:v>
                </c:pt>
                <c:pt idx="5">
                  <c:v>0.03</c:v>
                </c:pt>
                <c:pt idx="6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F9-4EE4-B5F7-153C694ABEA8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Suosittelijat, n=220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Onnikodit</c:v>
                </c:pt>
                <c:pt idx="4">
                  <c:v>Mainio-kodit</c:v>
                </c:pt>
                <c:pt idx="5">
                  <c:v>Ykköskodit</c:v>
                </c:pt>
                <c:pt idx="6">
                  <c:v>Humana</c:v>
                </c:pt>
              </c:strCache>
            </c:strRef>
          </c:cat>
          <c:val>
            <c:numRef>
              <c:f>Sheet1!$E$2:$E$8</c:f>
              <c:numCache>
                <c:formatCode>0%</c:formatCode>
                <c:ptCount val="7"/>
                <c:pt idx="0">
                  <c:v>0.95</c:v>
                </c:pt>
                <c:pt idx="1">
                  <c:v>0.71</c:v>
                </c:pt>
                <c:pt idx="2">
                  <c:v>0.46</c:v>
                </c:pt>
                <c:pt idx="3">
                  <c:v>0.24</c:v>
                </c:pt>
                <c:pt idx="4">
                  <c:v>0.2</c:v>
                </c:pt>
                <c:pt idx="5">
                  <c:v>0.17</c:v>
                </c:pt>
                <c:pt idx="6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F9-4EE4-B5F7-153C694ABEA8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Ammattilaiset, n=259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Onnikodit</c:v>
                </c:pt>
                <c:pt idx="4">
                  <c:v>Mainio-kodit</c:v>
                </c:pt>
                <c:pt idx="5">
                  <c:v>Ykköskodit</c:v>
                </c:pt>
                <c:pt idx="6">
                  <c:v>Humana</c:v>
                </c:pt>
              </c:strCache>
            </c:strRef>
          </c:cat>
          <c:val>
            <c:numRef>
              <c:f>Sheet1!$F$2:$F$8</c:f>
              <c:numCache>
                <c:formatCode>0%</c:formatCode>
                <c:ptCount val="7"/>
                <c:pt idx="0">
                  <c:v>0.88</c:v>
                </c:pt>
                <c:pt idx="1">
                  <c:v>0.8</c:v>
                </c:pt>
                <c:pt idx="2">
                  <c:v>0.53</c:v>
                </c:pt>
                <c:pt idx="3">
                  <c:v>0.36</c:v>
                </c:pt>
                <c:pt idx="4">
                  <c:v>0.41</c:v>
                </c:pt>
                <c:pt idx="5">
                  <c:v>0.27</c:v>
                </c:pt>
                <c:pt idx="6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F9-4EE4-B5F7-153C694ABE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522658591"/>
        <c:axId val="522664831"/>
      </c:barChart>
      <c:catAx>
        <c:axId val="52265859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522664831"/>
        <c:crosses val="autoZero"/>
        <c:auto val="1"/>
        <c:lblAlgn val="ctr"/>
        <c:lblOffset val="100"/>
        <c:noMultiLvlLbl val="0"/>
      </c:catAx>
      <c:valAx>
        <c:axId val="522664831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22658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50487283224711"/>
          <c:y val="7.7522847993331659E-2"/>
          <c:w val="0.41813152504414119"/>
          <c:h val="0.770093263191021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Kokemusta omaavat, n=587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0.86</c:v>
                </c:pt>
                <c:pt idx="1">
                  <c:v>0.75</c:v>
                </c:pt>
                <c:pt idx="2">
                  <c:v>0.45</c:v>
                </c:pt>
                <c:pt idx="3">
                  <c:v>0.31</c:v>
                </c:pt>
                <c:pt idx="4">
                  <c:v>0.28999999999999998</c:v>
                </c:pt>
                <c:pt idx="5">
                  <c:v>0.24</c:v>
                </c:pt>
                <c:pt idx="6">
                  <c:v>0.13</c:v>
                </c:pt>
                <c:pt idx="7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71-4717-AA69-E7EB2F946226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Ei kokemusta, n=270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Sheet1!$D$2:$D$9</c:f>
              <c:numCache>
                <c:formatCode>0%</c:formatCode>
                <c:ptCount val="8"/>
                <c:pt idx="0">
                  <c:v>0.84</c:v>
                </c:pt>
                <c:pt idx="1">
                  <c:v>0.67</c:v>
                </c:pt>
                <c:pt idx="2">
                  <c:v>0.31</c:v>
                </c:pt>
                <c:pt idx="3">
                  <c:v>0.22</c:v>
                </c:pt>
                <c:pt idx="4">
                  <c:v>0.15</c:v>
                </c:pt>
                <c:pt idx="5">
                  <c:v>0.1</c:v>
                </c:pt>
                <c:pt idx="6">
                  <c:v>0.05</c:v>
                </c:pt>
                <c:pt idx="7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71-4717-AA69-E7EB2F946226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Suosittelijat, n=212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Sheet1!$E$2:$E$9</c:f>
              <c:numCache>
                <c:formatCode>0%</c:formatCode>
                <c:ptCount val="8"/>
                <c:pt idx="0">
                  <c:v>0.95</c:v>
                </c:pt>
                <c:pt idx="1">
                  <c:v>0.68</c:v>
                </c:pt>
                <c:pt idx="2">
                  <c:v>0.4</c:v>
                </c:pt>
                <c:pt idx="3">
                  <c:v>0.28999999999999998</c:v>
                </c:pt>
                <c:pt idx="4">
                  <c:v>0.27</c:v>
                </c:pt>
                <c:pt idx="5">
                  <c:v>0.21</c:v>
                </c:pt>
                <c:pt idx="6">
                  <c:v>0.13</c:v>
                </c:pt>
                <c:pt idx="7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71-4717-AA69-E7EB2F946226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Ammattilaiset, n=227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Sheet1!$F$2:$F$9</c:f>
              <c:numCache>
                <c:formatCode>0%</c:formatCode>
                <c:ptCount val="8"/>
                <c:pt idx="0">
                  <c:v>0.91</c:v>
                </c:pt>
                <c:pt idx="1">
                  <c:v>0.8</c:v>
                </c:pt>
                <c:pt idx="2">
                  <c:v>0.57999999999999996</c:v>
                </c:pt>
                <c:pt idx="3">
                  <c:v>0.56999999999999995</c:v>
                </c:pt>
                <c:pt idx="4">
                  <c:v>0.46</c:v>
                </c:pt>
                <c:pt idx="5">
                  <c:v>0.43</c:v>
                </c:pt>
                <c:pt idx="6">
                  <c:v>0.22</c:v>
                </c:pt>
                <c:pt idx="7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71-4717-AA69-E7EB2F9462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522658591"/>
        <c:axId val="522664831"/>
      </c:barChart>
      <c:catAx>
        <c:axId val="52265859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522664831"/>
        <c:crosses val="autoZero"/>
        <c:auto val="1"/>
        <c:lblAlgn val="ctr"/>
        <c:lblOffset val="100"/>
        <c:noMultiLvlLbl val="0"/>
      </c:catAx>
      <c:valAx>
        <c:axId val="522664831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22658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50487283224711"/>
          <c:y val="7.7522847993331659E-2"/>
          <c:w val="0.59124863235087388"/>
          <c:h val="0.770093263191021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Kokemusta omaavat, n=636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0.87</c:v>
                </c:pt>
                <c:pt idx="1">
                  <c:v>0.76</c:v>
                </c:pt>
                <c:pt idx="2">
                  <c:v>0.45</c:v>
                </c:pt>
                <c:pt idx="3">
                  <c:v>0.33</c:v>
                </c:pt>
                <c:pt idx="4">
                  <c:v>0.3</c:v>
                </c:pt>
                <c:pt idx="5">
                  <c:v>0.23</c:v>
                </c:pt>
                <c:pt idx="6">
                  <c:v>0.26</c:v>
                </c:pt>
                <c:pt idx="7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6-4F55-9795-543BF474CC17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Ei kokemusta, n=229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Sheet1!$D$2:$D$9</c:f>
              <c:numCache>
                <c:formatCode>0%</c:formatCode>
                <c:ptCount val="8"/>
                <c:pt idx="0">
                  <c:v>0.79</c:v>
                </c:pt>
                <c:pt idx="1">
                  <c:v>0.65</c:v>
                </c:pt>
                <c:pt idx="2">
                  <c:v>0.28000000000000003</c:v>
                </c:pt>
                <c:pt idx="3">
                  <c:v>0.19</c:v>
                </c:pt>
                <c:pt idx="4">
                  <c:v>0.09</c:v>
                </c:pt>
                <c:pt idx="5">
                  <c:v>7.0000000000000007E-2</c:v>
                </c:pt>
                <c:pt idx="6">
                  <c:v>0.02</c:v>
                </c:pt>
                <c:pt idx="7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B6-4F55-9795-543BF474CC17}"/>
            </c:ext>
          </c:extLst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Suosittelijat, n=249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Sheet1!$E$2:$E$9</c:f>
              <c:numCache>
                <c:formatCode>0%</c:formatCode>
                <c:ptCount val="8"/>
                <c:pt idx="0">
                  <c:v>0.96</c:v>
                </c:pt>
                <c:pt idx="1">
                  <c:v>0.76</c:v>
                </c:pt>
                <c:pt idx="2">
                  <c:v>0.44</c:v>
                </c:pt>
                <c:pt idx="3">
                  <c:v>0.32</c:v>
                </c:pt>
                <c:pt idx="4">
                  <c:v>0.28999999999999998</c:v>
                </c:pt>
                <c:pt idx="5">
                  <c:v>0.19</c:v>
                </c:pt>
                <c:pt idx="6">
                  <c:v>0.15</c:v>
                </c:pt>
                <c:pt idx="7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B6-4F55-9795-543BF474CC17}"/>
            </c:ext>
          </c:extLst>
        </c:ser>
        <c:ser>
          <c:idx val="3"/>
          <c:order val="3"/>
          <c:tx>
            <c:strRef>
              <c:f>Sheet1!$F$1</c:f>
              <c:strCache>
                <c:ptCount val="1"/>
                <c:pt idx="0">
                  <c:v>Ammattilaiset, n=216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Attendo</c:v>
                </c:pt>
                <c:pt idx="1">
                  <c:v>Esperi</c:v>
                </c:pt>
                <c:pt idx="2">
                  <c:v>Rinnekodit</c:v>
                </c:pt>
                <c:pt idx="3">
                  <c:v>Validia</c:v>
                </c:pt>
                <c:pt idx="4">
                  <c:v>Onnikodit</c:v>
                </c:pt>
                <c:pt idx="5">
                  <c:v>Mainio-kodit</c:v>
                </c:pt>
                <c:pt idx="6">
                  <c:v>Humana</c:v>
                </c:pt>
                <c:pt idx="7">
                  <c:v>Ykköskodit</c:v>
                </c:pt>
              </c:strCache>
            </c:strRef>
          </c:cat>
          <c:val>
            <c:numRef>
              <c:f>Sheet1!$F$2:$F$9</c:f>
              <c:numCache>
                <c:formatCode>0%</c:formatCode>
                <c:ptCount val="8"/>
                <c:pt idx="0">
                  <c:v>0.93</c:v>
                </c:pt>
                <c:pt idx="1">
                  <c:v>0.76</c:v>
                </c:pt>
                <c:pt idx="2">
                  <c:v>0.44</c:v>
                </c:pt>
                <c:pt idx="3">
                  <c:v>0.32</c:v>
                </c:pt>
                <c:pt idx="4">
                  <c:v>0.28999999999999998</c:v>
                </c:pt>
                <c:pt idx="5">
                  <c:v>0.19</c:v>
                </c:pt>
                <c:pt idx="6">
                  <c:v>0.15</c:v>
                </c:pt>
                <c:pt idx="7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B6-4F55-9795-543BF474CC1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522658591"/>
        <c:axId val="522664831"/>
      </c:barChart>
      <c:catAx>
        <c:axId val="52265859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522664831"/>
        <c:crosses val="autoZero"/>
        <c:auto val="1"/>
        <c:lblAlgn val="ctr"/>
        <c:lblOffset val="100"/>
        <c:noMultiLvlLbl val="0"/>
      </c:catAx>
      <c:valAx>
        <c:axId val="522664831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22658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9545655257018737"/>
          <c:y val="0.27240804453498119"/>
          <c:w val="0.28387800391750451"/>
          <c:h val="0.5655615141553367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Erittäin huono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Yksityiset palveluntarjoajat</c:v>
                </c:pt>
                <c:pt idx="1">
                  <c:v>Julkinen palveluntarjoaja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0.05</c:v>
                </c:pt>
                <c:pt idx="1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59-4F6F-A2AF-F2BB825D69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Huono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Yksityiset palveluntarjoajat</c:v>
                </c:pt>
                <c:pt idx="1">
                  <c:v>Julkinen palveluntarjoaja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0.26</c:v>
                </c:pt>
                <c:pt idx="1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59-4F6F-A2AF-F2BB825D69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Hyvä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Yksityiset palveluntarjoajat</c:v>
                </c:pt>
                <c:pt idx="1">
                  <c:v>Julkinen palveluntarjoaja</c:v>
                </c:pt>
              </c:strCache>
            </c:strRef>
          </c:cat>
          <c:val>
            <c:numRef>
              <c:f>Sheet1!$D$2:$D$3</c:f>
              <c:numCache>
                <c:formatCode>0%</c:formatCode>
                <c:ptCount val="2"/>
                <c:pt idx="0">
                  <c:v>0.47</c:v>
                </c:pt>
                <c:pt idx="1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159-4F6F-A2AF-F2BB825D692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Erittäin hyvä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Yksityiset palveluntarjoajat</c:v>
                </c:pt>
                <c:pt idx="1">
                  <c:v>Julkinen palveluntarjoaja</c:v>
                </c:pt>
              </c:strCache>
            </c:strRef>
          </c:cat>
          <c:val>
            <c:numRef>
              <c:f>Sheet1!$E$2:$E$3</c:f>
              <c:numCache>
                <c:formatCode>0%</c:formatCode>
                <c:ptCount val="2"/>
                <c:pt idx="0">
                  <c:v>0.1</c:v>
                </c:pt>
                <c:pt idx="1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159-4F6F-A2AF-F2BB825D692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En osaa sanoa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Yksityiset palveluntarjoajat</c:v>
                </c:pt>
                <c:pt idx="1">
                  <c:v>Julkinen palveluntarjoaja</c:v>
                </c:pt>
              </c:strCache>
            </c:strRef>
          </c:cat>
          <c:val>
            <c:numRef>
              <c:f>Sheet1!$F$2:$F$3</c:f>
              <c:numCache>
                <c:formatCode>0%</c:formatCode>
                <c:ptCount val="2"/>
                <c:pt idx="0">
                  <c:v>0.12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159-4F6F-A2AF-F2BB825D692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72545360"/>
        <c:axId val="572530960"/>
      </c:barChart>
      <c:catAx>
        <c:axId val="5725453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572530960"/>
        <c:crosses val="autoZero"/>
        <c:auto val="1"/>
        <c:lblAlgn val="ctr"/>
        <c:lblOffset val="100"/>
        <c:noMultiLvlLbl val="0"/>
      </c:catAx>
      <c:valAx>
        <c:axId val="572530960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572545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23569104329684"/>
          <c:y val="0.9189155217624484"/>
          <c:w val="0.76507231980014767"/>
          <c:h val="6.27007105736338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633881707449002"/>
          <c:y val="3.3487815291406618E-2"/>
          <c:w val="0.79104651179499408"/>
          <c:h val="0.86475405243216241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Erittäin huono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0.06</c:v>
                </c:pt>
                <c:pt idx="1">
                  <c:v>0.06</c:v>
                </c:pt>
                <c:pt idx="2">
                  <c:v>7.0000000000000007E-2</c:v>
                </c:pt>
                <c:pt idx="3">
                  <c:v>0.02</c:v>
                </c:pt>
                <c:pt idx="4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23-4557-9E96-67CC6CD60E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Huono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0.26</c:v>
                </c:pt>
                <c:pt idx="1">
                  <c:v>0.26</c:v>
                </c:pt>
                <c:pt idx="2">
                  <c:v>0.26</c:v>
                </c:pt>
                <c:pt idx="3">
                  <c:v>0.17</c:v>
                </c:pt>
                <c:pt idx="4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23-4557-9E96-67CC6CD60E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Hyvä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0.51</c:v>
                </c:pt>
                <c:pt idx="1">
                  <c:v>0.54</c:v>
                </c:pt>
                <c:pt idx="2">
                  <c:v>0.38</c:v>
                </c:pt>
                <c:pt idx="3">
                  <c:v>0.63</c:v>
                </c:pt>
                <c:pt idx="4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23-4557-9E96-67CC6CD60E9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Erittäin hyvä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Sheet1!$E$2:$E$6</c:f>
              <c:numCache>
                <c:formatCode>0%</c:formatCode>
                <c:ptCount val="5"/>
                <c:pt idx="0">
                  <c:v>7.0000000000000007E-2</c:v>
                </c:pt>
                <c:pt idx="1">
                  <c:v>0.09</c:v>
                </c:pt>
                <c:pt idx="2">
                  <c:v>0.03</c:v>
                </c:pt>
                <c:pt idx="3">
                  <c:v>0.13</c:v>
                </c:pt>
                <c:pt idx="4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723-4557-9E96-67CC6CD60E9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En osaa sanoa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Sheet1!$F$2:$F$6</c:f>
              <c:numCache>
                <c:formatCode>0%</c:formatCode>
                <c:ptCount val="5"/>
                <c:pt idx="0">
                  <c:v>0.1</c:v>
                </c:pt>
                <c:pt idx="1">
                  <c:v>0.05</c:v>
                </c:pt>
                <c:pt idx="2">
                  <c:v>0.25</c:v>
                </c:pt>
                <c:pt idx="3">
                  <c:v>0.05</c:v>
                </c:pt>
                <c:pt idx="4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23-4557-9E96-67CC6CD60E9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5185088"/>
        <c:axId val="185186528"/>
      </c:barChart>
      <c:catAx>
        <c:axId val="1851850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85186528"/>
        <c:crosses val="autoZero"/>
        <c:auto val="1"/>
        <c:lblAlgn val="ctr"/>
        <c:lblOffset val="100"/>
        <c:noMultiLvlLbl val="0"/>
      </c:catAx>
      <c:valAx>
        <c:axId val="18518652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85185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812801412972901"/>
          <c:y val="0.92614838046640791"/>
          <c:w val="0.70057514927338604"/>
          <c:h val="5.71077118878887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 algn="r">
        <a:defRPr/>
      </a:pPr>
      <a:endParaRPr lang="fi-FI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Erittäin huono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0.05</c:v>
                </c:pt>
                <c:pt idx="1">
                  <c:v>0.04</c:v>
                </c:pt>
                <c:pt idx="2">
                  <c:v>0.06</c:v>
                </c:pt>
                <c:pt idx="3">
                  <c:v>0</c:v>
                </c:pt>
                <c:pt idx="4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B4-4A63-8393-EB4C6F51C10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Huono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0.26</c:v>
                </c:pt>
                <c:pt idx="1">
                  <c:v>0.25</c:v>
                </c:pt>
                <c:pt idx="2">
                  <c:v>0.27</c:v>
                </c:pt>
                <c:pt idx="3">
                  <c:v>7.0000000000000007E-2</c:v>
                </c:pt>
                <c:pt idx="4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B4-4A63-8393-EB4C6F51C10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Hyvä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0.47</c:v>
                </c:pt>
                <c:pt idx="1">
                  <c:v>0.52</c:v>
                </c:pt>
                <c:pt idx="2">
                  <c:v>0.33</c:v>
                </c:pt>
                <c:pt idx="3">
                  <c:v>0.68</c:v>
                </c:pt>
                <c:pt idx="4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B4-4A63-8393-EB4C6F51C10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Erittäin hyvä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Sheet1!$E$2:$E$6</c:f>
              <c:numCache>
                <c:formatCode>0%</c:formatCode>
                <c:ptCount val="5"/>
                <c:pt idx="0">
                  <c:v>0.1</c:v>
                </c:pt>
                <c:pt idx="1">
                  <c:v>0.11</c:v>
                </c:pt>
                <c:pt idx="2">
                  <c:v>7.0000000000000007E-2</c:v>
                </c:pt>
                <c:pt idx="3">
                  <c:v>0.16</c:v>
                </c:pt>
                <c:pt idx="4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5B4-4A63-8393-EB4C6F51C10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En osaa sanoa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n=1001</c:v>
                </c:pt>
                <c:pt idx="1">
                  <c:v>Kokemusta omaavat, n=636</c:v>
                </c:pt>
                <c:pt idx="2">
                  <c:v>Ei kokemusta, n=229</c:v>
                </c:pt>
                <c:pt idx="3">
                  <c:v>Suosittelijat, n=249</c:v>
                </c:pt>
                <c:pt idx="4">
                  <c:v>Ammattilaiset, n=216</c:v>
                </c:pt>
              </c:strCache>
            </c:strRef>
          </c:cat>
          <c:val>
            <c:numRef>
              <c:f>Sheet1!$F$2:$F$6</c:f>
              <c:numCache>
                <c:formatCode>0%</c:formatCode>
                <c:ptCount val="5"/>
                <c:pt idx="0">
                  <c:v>0.12</c:v>
                </c:pt>
                <c:pt idx="1">
                  <c:v>0.08</c:v>
                </c:pt>
                <c:pt idx="2">
                  <c:v>0.26</c:v>
                </c:pt>
                <c:pt idx="3">
                  <c:v>0.08</c:v>
                </c:pt>
                <c:pt idx="4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B4-4A63-8393-EB4C6F51C10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85185088"/>
        <c:axId val="185186528"/>
      </c:barChart>
      <c:catAx>
        <c:axId val="18518508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85186528"/>
        <c:crosses val="autoZero"/>
        <c:auto val="1"/>
        <c:lblAlgn val="ctr"/>
        <c:lblOffset val="100"/>
        <c:noMultiLvlLbl val="0"/>
      </c:catAx>
      <c:valAx>
        <c:axId val="18518652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85185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631411931339764"/>
          <c:y val="0.92525443785929484"/>
          <c:w val="0.70562059265411414"/>
          <c:h val="5.779897657746135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362337014935363"/>
          <c:y val="2.6595672276817809E-2"/>
          <c:w val="0.81693310450420631"/>
          <c:h val="0.8711069014094240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Erittäin huono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Onnikodit, n=257</c:v>
                </c:pt>
                <c:pt idx="1">
                  <c:v>Ykköskodit, n=147</c:v>
                </c:pt>
                <c:pt idx="2">
                  <c:v>Mainio-kodit, n=219</c:v>
                </c:pt>
                <c:pt idx="3">
                  <c:v>Rinnekodit, n=425</c:v>
                </c:pt>
                <c:pt idx="4">
                  <c:v>Humana, n=130</c:v>
                </c:pt>
                <c:pt idx="5">
                  <c:v>Validia, n=334</c:v>
                </c:pt>
                <c:pt idx="6">
                  <c:v>Attendo, n=863</c:v>
                </c:pt>
                <c:pt idx="7">
                  <c:v>Esperi, n=751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</c:v>
                </c:pt>
                <c:pt idx="1">
                  <c:v>0.02</c:v>
                </c:pt>
                <c:pt idx="2">
                  <c:v>0</c:v>
                </c:pt>
                <c:pt idx="3">
                  <c:v>0.02</c:v>
                </c:pt>
                <c:pt idx="4">
                  <c:v>0.02</c:v>
                </c:pt>
                <c:pt idx="5">
                  <c:v>0.05</c:v>
                </c:pt>
                <c:pt idx="6">
                  <c:v>0.08</c:v>
                </c:pt>
                <c:pt idx="7" formatCode="###0%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D-4853-AFF2-76A2FC8795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Huono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Onnikodit, n=257</c:v>
                </c:pt>
                <c:pt idx="1">
                  <c:v>Ykköskodit, n=147</c:v>
                </c:pt>
                <c:pt idx="2">
                  <c:v>Mainio-kodit, n=219</c:v>
                </c:pt>
                <c:pt idx="3">
                  <c:v>Rinnekodit, n=425</c:v>
                </c:pt>
                <c:pt idx="4">
                  <c:v>Humana, n=130</c:v>
                </c:pt>
                <c:pt idx="5">
                  <c:v>Validia, n=334</c:v>
                </c:pt>
                <c:pt idx="6">
                  <c:v>Attendo, n=863</c:v>
                </c:pt>
                <c:pt idx="7">
                  <c:v>Esperi, n=751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0.1</c:v>
                </c:pt>
                <c:pt idx="1">
                  <c:v>0.11</c:v>
                </c:pt>
                <c:pt idx="2">
                  <c:v>0.12</c:v>
                </c:pt>
                <c:pt idx="3">
                  <c:v>0.16</c:v>
                </c:pt>
                <c:pt idx="4">
                  <c:v>0.18</c:v>
                </c:pt>
                <c:pt idx="5">
                  <c:v>0.21</c:v>
                </c:pt>
                <c:pt idx="6">
                  <c:v>0.31</c:v>
                </c:pt>
                <c:pt idx="7" formatCode="###0%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8D-4853-AFF2-76A2FC8795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Hyvä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Onnikodit, n=257</c:v>
                </c:pt>
                <c:pt idx="1">
                  <c:v>Ykköskodit, n=147</c:v>
                </c:pt>
                <c:pt idx="2">
                  <c:v>Mainio-kodit, n=219</c:v>
                </c:pt>
                <c:pt idx="3">
                  <c:v>Rinnekodit, n=425</c:v>
                </c:pt>
                <c:pt idx="4">
                  <c:v>Humana, n=130</c:v>
                </c:pt>
                <c:pt idx="5">
                  <c:v>Validia, n=334</c:v>
                </c:pt>
                <c:pt idx="6">
                  <c:v>Attendo, n=863</c:v>
                </c:pt>
                <c:pt idx="7">
                  <c:v>Esperi, n=751</c:v>
                </c:pt>
              </c:strCache>
            </c:strRef>
          </c:cat>
          <c:val>
            <c:numRef>
              <c:f>Sheet1!$D$2:$D$9</c:f>
              <c:numCache>
                <c:formatCode>0%</c:formatCode>
                <c:ptCount val="8"/>
                <c:pt idx="0">
                  <c:v>0.53</c:v>
                </c:pt>
                <c:pt idx="1">
                  <c:v>0.52</c:v>
                </c:pt>
                <c:pt idx="2">
                  <c:v>0.49</c:v>
                </c:pt>
                <c:pt idx="3">
                  <c:v>0.49</c:v>
                </c:pt>
                <c:pt idx="4">
                  <c:v>0.42</c:v>
                </c:pt>
                <c:pt idx="5">
                  <c:v>0.45</c:v>
                </c:pt>
                <c:pt idx="6">
                  <c:v>0.44</c:v>
                </c:pt>
                <c:pt idx="7" formatCode="###0%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8D-4853-AFF2-76A2FC87957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Erittäin hyvä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Onnikodit, n=257</c:v>
                </c:pt>
                <c:pt idx="1">
                  <c:v>Ykköskodit, n=147</c:v>
                </c:pt>
                <c:pt idx="2">
                  <c:v>Mainio-kodit, n=219</c:v>
                </c:pt>
                <c:pt idx="3">
                  <c:v>Rinnekodit, n=425</c:v>
                </c:pt>
                <c:pt idx="4">
                  <c:v>Humana, n=130</c:v>
                </c:pt>
                <c:pt idx="5">
                  <c:v>Validia, n=334</c:v>
                </c:pt>
                <c:pt idx="6">
                  <c:v>Attendo, n=863</c:v>
                </c:pt>
                <c:pt idx="7">
                  <c:v>Esperi, n=751</c:v>
                </c:pt>
              </c:strCache>
            </c:strRef>
          </c:cat>
          <c:val>
            <c:numRef>
              <c:f>Sheet1!$E$2:$E$9</c:f>
              <c:numCache>
                <c:formatCode>0%</c:formatCode>
                <c:ptCount val="8"/>
                <c:pt idx="0">
                  <c:v>0.14000000000000001</c:v>
                </c:pt>
                <c:pt idx="1">
                  <c:v>0.09</c:v>
                </c:pt>
                <c:pt idx="2">
                  <c:v>0.09</c:v>
                </c:pt>
                <c:pt idx="3">
                  <c:v>0.09</c:v>
                </c:pt>
                <c:pt idx="4">
                  <c:v>0.15</c:v>
                </c:pt>
                <c:pt idx="5">
                  <c:v>7.0000000000000007E-2</c:v>
                </c:pt>
                <c:pt idx="6">
                  <c:v>7.0000000000000007E-2</c:v>
                </c:pt>
                <c:pt idx="7" formatCode="###0%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8D-4853-AFF2-76A2FC87957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En osaa sanoa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Onnikodit, n=257</c:v>
                </c:pt>
                <c:pt idx="1">
                  <c:v>Ykköskodit, n=147</c:v>
                </c:pt>
                <c:pt idx="2">
                  <c:v>Mainio-kodit, n=219</c:v>
                </c:pt>
                <c:pt idx="3">
                  <c:v>Rinnekodit, n=425</c:v>
                </c:pt>
                <c:pt idx="4">
                  <c:v>Humana, n=130</c:v>
                </c:pt>
                <c:pt idx="5">
                  <c:v>Validia, n=334</c:v>
                </c:pt>
                <c:pt idx="6">
                  <c:v>Attendo, n=863</c:v>
                </c:pt>
                <c:pt idx="7">
                  <c:v>Esperi, n=751</c:v>
                </c:pt>
              </c:strCache>
            </c:strRef>
          </c:cat>
          <c:val>
            <c:numRef>
              <c:f>Sheet1!$F$2:$F$9</c:f>
              <c:numCache>
                <c:formatCode>0%</c:formatCode>
                <c:ptCount val="8"/>
                <c:pt idx="0">
                  <c:v>0.23</c:v>
                </c:pt>
                <c:pt idx="1">
                  <c:v>0.27</c:v>
                </c:pt>
                <c:pt idx="2">
                  <c:v>0.28999999999999998</c:v>
                </c:pt>
                <c:pt idx="3">
                  <c:v>0.24</c:v>
                </c:pt>
                <c:pt idx="4">
                  <c:v>0.22</c:v>
                </c:pt>
                <c:pt idx="5">
                  <c:v>0.21</c:v>
                </c:pt>
                <c:pt idx="6">
                  <c:v>0.1</c:v>
                </c:pt>
                <c:pt idx="7" formatCode="###0%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58D-4853-AFF2-76A2FC87957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93536576"/>
        <c:axId val="793538016"/>
      </c:barChart>
      <c:catAx>
        <c:axId val="7935365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793538016"/>
        <c:crosses val="autoZero"/>
        <c:auto val="1"/>
        <c:lblAlgn val="ctr"/>
        <c:lblOffset val="100"/>
        <c:noMultiLvlLbl val="0"/>
      </c:catAx>
      <c:valAx>
        <c:axId val="79353801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793536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298237837383697"/>
          <c:y val="0.89551312173499353"/>
          <c:w val="0.64517191122126949"/>
          <c:h val="5.4181438981566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i-FI" noProof="0" dirty="0" err="1"/>
              <a:t>Attendo</a:t>
            </a:r>
            <a:endParaRPr lang="fi-FI" noProof="0" dirty="0"/>
          </a:p>
        </c:rich>
      </c:tx>
      <c:layout>
        <c:manualLayout>
          <c:xMode val="edge"/>
          <c:yMode val="edge"/>
          <c:x val="4.8201366773896713E-3"/>
          <c:y val="2.97822355765453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title>
    <c:autoTitleDeleted val="0"/>
    <c:plotArea>
      <c:layout>
        <c:manualLayout>
          <c:layoutTarget val="inner"/>
          <c:xMode val="edge"/>
          <c:yMode val="edge"/>
          <c:x val="0.19114768991021786"/>
          <c:y val="0.12725949261857844"/>
          <c:w val="0.79791528658111421"/>
          <c:h val="0.76116452762208553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Erittäin huono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n=863</c:v>
                </c:pt>
                <c:pt idx="1">
                  <c:v>Kokemusta omaavat, n=554</c:v>
                </c:pt>
                <c:pt idx="2">
                  <c:v>Ei kokemusta, n=181</c:v>
                </c:pt>
                <c:pt idx="3">
                  <c:v>Suosittelijat, n=239</c:v>
                </c:pt>
                <c:pt idx="4">
                  <c:v>Ammattilaiset, n=201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0.08</c:v>
                </c:pt>
                <c:pt idx="1">
                  <c:v>0.08</c:v>
                </c:pt>
                <c:pt idx="2">
                  <c:v>0.09</c:v>
                </c:pt>
                <c:pt idx="3">
                  <c:v>0</c:v>
                </c:pt>
                <c:pt idx="4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D-4853-AFF2-76A2FC8795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Huono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n=863</c:v>
                </c:pt>
                <c:pt idx="1">
                  <c:v>Kokemusta omaavat, n=554</c:v>
                </c:pt>
                <c:pt idx="2">
                  <c:v>Ei kokemusta, n=181</c:v>
                </c:pt>
                <c:pt idx="3">
                  <c:v>Suosittelijat, n=239</c:v>
                </c:pt>
                <c:pt idx="4">
                  <c:v>Ammattilaiset, n=201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0.31</c:v>
                </c:pt>
                <c:pt idx="1">
                  <c:v>0.31</c:v>
                </c:pt>
                <c:pt idx="2">
                  <c:v>0.34</c:v>
                </c:pt>
                <c:pt idx="3">
                  <c:v>0.04</c:v>
                </c:pt>
                <c:pt idx="4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8D-4853-AFF2-76A2FC8795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Hyvä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n=863</c:v>
                </c:pt>
                <c:pt idx="1">
                  <c:v>Kokemusta omaavat, n=554</c:v>
                </c:pt>
                <c:pt idx="2">
                  <c:v>Ei kokemusta, n=181</c:v>
                </c:pt>
                <c:pt idx="3">
                  <c:v>Suosittelijat, n=239</c:v>
                </c:pt>
                <c:pt idx="4">
                  <c:v>Ammattilaiset, n=201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0.44</c:v>
                </c:pt>
                <c:pt idx="1">
                  <c:v>0.47</c:v>
                </c:pt>
                <c:pt idx="2">
                  <c:v>0.31</c:v>
                </c:pt>
                <c:pt idx="3">
                  <c:v>0.74</c:v>
                </c:pt>
                <c:pt idx="4">
                  <c:v>0.49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58D-4853-AFF2-76A2FC87957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Erittäin hyvä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n=863</c:v>
                </c:pt>
                <c:pt idx="1">
                  <c:v>Kokemusta omaavat, n=554</c:v>
                </c:pt>
                <c:pt idx="2">
                  <c:v>Ei kokemusta, n=181</c:v>
                </c:pt>
                <c:pt idx="3">
                  <c:v>Suosittelijat, n=239</c:v>
                </c:pt>
                <c:pt idx="4">
                  <c:v>Ammattilaiset, n=201</c:v>
                </c:pt>
              </c:strCache>
            </c:strRef>
          </c:cat>
          <c:val>
            <c:numRef>
              <c:f>Sheet1!$E$2:$E$6</c:f>
              <c:numCache>
                <c:formatCode>0%</c:formatCode>
                <c:ptCount val="5"/>
                <c:pt idx="0">
                  <c:v>7.0000000000000007E-2</c:v>
                </c:pt>
                <c:pt idx="1">
                  <c:v>7.0000000000000007E-2</c:v>
                </c:pt>
                <c:pt idx="2">
                  <c:v>0.04</c:v>
                </c:pt>
                <c:pt idx="3">
                  <c:v>0.17</c:v>
                </c:pt>
                <c:pt idx="4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58D-4853-AFF2-76A2FC87957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En osaa sanoa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Kaikki vastaajat, n=863</c:v>
                </c:pt>
                <c:pt idx="1">
                  <c:v>Kokemusta omaavat, n=554</c:v>
                </c:pt>
                <c:pt idx="2">
                  <c:v>Ei kokemusta, n=181</c:v>
                </c:pt>
                <c:pt idx="3">
                  <c:v>Suosittelijat, n=239</c:v>
                </c:pt>
                <c:pt idx="4">
                  <c:v>Ammattilaiset, n=201</c:v>
                </c:pt>
              </c:strCache>
            </c:strRef>
          </c:cat>
          <c:val>
            <c:numRef>
              <c:f>Sheet1!$F$2:$F$6</c:f>
              <c:numCache>
                <c:formatCode>0%</c:formatCode>
                <c:ptCount val="5"/>
                <c:pt idx="0">
                  <c:v>0.1</c:v>
                </c:pt>
                <c:pt idx="1">
                  <c:v>0.08</c:v>
                </c:pt>
                <c:pt idx="2">
                  <c:v>0.21</c:v>
                </c:pt>
                <c:pt idx="3">
                  <c:v>0.05</c:v>
                </c:pt>
                <c:pt idx="4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58D-4853-AFF2-76A2FC87957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93536576"/>
        <c:axId val="793538016"/>
      </c:barChart>
      <c:catAx>
        <c:axId val="7935365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793538016"/>
        <c:crosses val="autoZero"/>
        <c:auto val="1"/>
        <c:lblAlgn val="ctr"/>
        <c:lblOffset val="100"/>
        <c:noMultiLvlLbl val="0"/>
      </c:catAx>
      <c:valAx>
        <c:axId val="79353801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793536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166373392249996"/>
          <c:y val="0.92053555722427238"/>
          <c:w val="0.6624026338586726"/>
          <c:h val="6.14479754408596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447970910279742"/>
          <c:y val="0.22665306518268757"/>
          <c:w val="0.35886204960683027"/>
          <c:h val="0.57727599512136896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Attendo, n=863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0.53765932792584004</c:v>
                </c:pt>
                <c:pt idx="1">
                  <c:v>0.33951332560834302</c:v>
                </c:pt>
                <c:pt idx="2">
                  <c:v>0.43568945538818077</c:v>
                </c:pt>
                <c:pt idx="3">
                  <c:v>0.32792584009269987</c:v>
                </c:pt>
                <c:pt idx="4">
                  <c:v>0.3371958285052144</c:v>
                </c:pt>
                <c:pt idx="5">
                  <c:v>0.32444959443800697</c:v>
                </c:pt>
                <c:pt idx="6">
                  <c:v>0.35805330243337197</c:v>
                </c:pt>
                <c:pt idx="7">
                  <c:v>0.31633835457705678</c:v>
                </c:pt>
                <c:pt idx="8">
                  <c:v>0.3186558516801854</c:v>
                </c:pt>
                <c:pt idx="9">
                  <c:v>0.34646581691772887</c:v>
                </c:pt>
                <c:pt idx="10">
                  <c:v>0.31170336037079954</c:v>
                </c:pt>
                <c:pt idx="11">
                  <c:v>0.27462340672074159</c:v>
                </c:pt>
                <c:pt idx="12">
                  <c:v>0.26071842410196988</c:v>
                </c:pt>
                <c:pt idx="13">
                  <c:v>0.23522595596755502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02-476B-ACAA-9A9459CF5E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Esperi, n=751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0.43808255659121176</c:v>
                </c:pt>
                <c:pt idx="1">
                  <c:v>0.28628495339547272</c:v>
                </c:pt>
                <c:pt idx="2">
                  <c:v>0.36085219707057253</c:v>
                </c:pt>
                <c:pt idx="3">
                  <c:v>0.3</c:v>
                </c:pt>
                <c:pt idx="4">
                  <c:v>0.29161118508655126</c:v>
                </c:pt>
                <c:pt idx="5">
                  <c:v>0.30226364846870835</c:v>
                </c:pt>
                <c:pt idx="6">
                  <c:v>0.31025299600532624</c:v>
                </c:pt>
                <c:pt idx="7">
                  <c:v>0.26364846870838882</c:v>
                </c:pt>
                <c:pt idx="8">
                  <c:v>0.2996005326231691</c:v>
                </c:pt>
                <c:pt idx="9">
                  <c:v>0.30892143808255662</c:v>
                </c:pt>
                <c:pt idx="10">
                  <c:v>0.29161118508655126</c:v>
                </c:pt>
                <c:pt idx="11">
                  <c:v>0.23701731025299599</c:v>
                </c:pt>
                <c:pt idx="12">
                  <c:v>0.24101198402130491</c:v>
                </c:pt>
                <c:pt idx="13">
                  <c:v>0.22103861517976031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02-476B-ACAA-9A9459CF5E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Mainio-kodit, n=219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0.32876712328767127</c:v>
                </c:pt>
                <c:pt idx="1">
                  <c:v>0.20547945205479451</c:v>
                </c:pt>
                <c:pt idx="2">
                  <c:v>0.37442922374429222</c:v>
                </c:pt>
                <c:pt idx="3">
                  <c:v>0.36986301369863017</c:v>
                </c:pt>
                <c:pt idx="4">
                  <c:v>0.36073059360730597</c:v>
                </c:pt>
                <c:pt idx="5">
                  <c:v>0.37899543378995432</c:v>
                </c:pt>
                <c:pt idx="6">
                  <c:v>0.40639269406392692</c:v>
                </c:pt>
                <c:pt idx="7">
                  <c:v>0.32876712328767121</c:v>
                </c:pt>
                <c:pt idx="8">
                  <c:v>0.41095890410958902</c:v>
                </c:pt>
                <c:pt idx="9">
                  <c:v>0.34246575342465757</c:v>
                </c:pt>
                <c:pt idx="10">
                  <c:v>0.38356164383561647</c:v>
                </c:pt>
                <c:pt idx="11">
                  <c:v>0.35159817351598177</c:v>
                </c:pt>
                <c:pt idx="12">
                  <c:v>0.32876712328767127</c:v>
                </c:pt>
                <c:pt idx="13">
                  <c:v>0.26027397260273971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02-476B-ACAA-9A9459CF5EA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Onnikodit, n=257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Sheet1!$E$2:$E$15</c:f>
              <c:numCache>
                <c:formatCode>0%</c:formatCode>
                <c:ptCount val="14"/>
                <c:pt idx="0">
                  <c:v>0.24513618677042803</c:v>
                </c:pt>
                <c:pt idx="1">
                  <c:v>0.20233463035019456</c:v>
                </c:pt>
                <c:pt idx="2">
                  <c:v>0.55252918287937747</c:v>
                </c:pt>
                <c:pt idx="3">
                  <c:v>0.48638132295719844</c:v>
                </c:pt>
                <c:pt idx="4">
                  <c:v>0.45136186770428011</c:v>
                </c:pt>
                <c:pt idx="5">
                  <c:v>0.51361867704280151</c:v>
                </c:pt>
                <c:pt idx="6">
                  <c:v>0.53696498054474706</c:v>
                </c:pt>
                <c:pt idx="7">
                  <c:v>0.41634241245136183</c:v>
                </c:pt>
                <c:pt idx="8">
                  <c:v>0.44747081712062253</c:v>
                </c:pt>
                <c:pt idx="9">
                  <c:v>0.49805447470817121</c:v>
                </c:pt>
                <c:pt idx="10">
                  <c:v>0.51361867704280151</c:v>
                </c:pt>
                <c:pt idx="11">
                  <c:v>0.45525291828793774</c:v>
                </c:pt>
                <c:pt idx="12">
                  <c:v>0.41634241245136183</c:v>
                </c:pt>
                <c:pt idx="13">
                  <c:v>0.36964980544747084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402-476B-ACAA-9A9459CF5EA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Ykköskodit, n=147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Sheet1!$F$2:$F$15</c:f>
              <c:numCache>
                <c:formatCode>0%</c:formatCode>
                <c:ptCount val="14"/>
                <c:pt idx="0">
                  <c:v>0.27891156462585032</c:v>
                </c:pt>
                <c:pt idx="1">
                  <c:v>0.18367346938775508</c:v>
                </c:pt>
                <c:pt idx="2">
                  <c:v>0.39455782312925169</c:v>
                </c:pt>
                <c:pt idx="3">
                  <c:v>0.43537414965986393</c:v>
                </c:pt>
                <c:pt idx="4">
                  <c:v>0.38095238095238093</c:v>
                </c:pt>
                <c:pt idx="5">
                  <c:v>0.41496598639455784</c:v>
                </c:pt>
                <c:pt idx="6">
                  <c:v>0.40136054421768708</c:v>
                </c:pt>
                <c:pt idx="7">
                  <c:v>0.36734693877551022</c:v>
                </c:pt>
                <c:pt idx="8">
                  <c:v>0.37414965986394555</c:v>
                </c:pt>
                <c:pt idx="9">
                  <c:v>0.36734693877551017</c:v>
                </c:pt>
                <c:pt idx="10">
                  <c:v>0.40816326530612246</c:v>
                </c:pt>
                <c:pt idx="11">
                  <c:v>0.3537414965986394</c:v>
                </c:pt>
                <c:pt idx="12">
                  <c:v>0.3537414965986394</c:v>
                </c:pt>
                <c:pt idx="13">
                  <c:v>0.2857142857142857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402-476B-ACAA-9A9459CF5EAB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Humana, n=130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Sheet1!$G$2:$G$15</c:f>
              <c:numCache>
                <c:formatCode>0%</c:formatCode>
                <c:ptCount val="14"/>
                <c:pt idx="0">
                  <c:v>0.37692307692307692</c:v>
                </c:pt>
                <c:pt idx="1">
                  <c:v>0.2846153846153846</c:v>
                </c:pt>
                <c:pt idx="2">
                  <c:v>0.46923076923076923</c:v>
                </c:pt>
                <c:pt idx="3">
                  <c:v>0.43076923076923074</c:v>
                </c:pt>
                <c:pt idx="4">
                  <c:v>0.46153846153846156</c:v>
                </c:pt>
                <c:pt idx="5">
                  <c:v>0.41538461538461541</c:v>
                </c:pt>
                <c:pt idx="6">
                  <c:v>0.42307692307692307</c:v>
                </c:pt>
                <c:pt idx="7">
                  <c:v>0.38461538461538458</c:v>
                </c:pt>
                <c:pt idx="8">
                  <c:v>0.43846153846153846</c:v>
                </c:pt>
                <c:pt idx="9">
                  <c:v>0.38461538461538464</c:v>
                </c:pt>
                <c:pt idx="10">
                  <c:v>0.42307692307692307</c:v>
                </c:pt>
                <c:pt idx="11">
                  <c:v>0.36923076923076925</c:v>
                </c:pt>
                <c:pt idx="12">
                  <c:v>0.36153846153846159</c:v>
                </c:pt>
                <c:pt idx="13">
                  <c:v>0.33846153846153848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402-476B-ACAA-9A9459CF5EAB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Rinnekodit, n=425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Sheet1!$H$2:$H$15</c:f>
              <c:numCache>
                <c:formatCode>0%</c:formatCode>
                <c:ptCount val="14"/>
                <c:pt idx="0">
                  <c:v>0.22117647058823531</c:v>
                </c:pt>
                <c:pt idx="1">
                  <c:v>0.1811764705882353</c:v>
                </c:pt>
                <c:pt idx="2">
                  <c:v>0.46823529411764708</c:v>
                </c:pt>
                <c:pt idx="3">
                  <c:v>0.39764705882352941</c:v>
                </c:pt>
                <c:pt idx="4">
                  <c:v>0.38823529411764701</c:v>
                </c:pt>
                <c:pt idx="5">
                  <c:v>0.41411764705882353</c:v>
                </c:pt>
                <c:pt idx="6">
                  <c:v>0.39058823529411768</c:v>
                </c:pt>
                <c:pt idx="7">
                  <c:v>0.34352941176470592</c:v>
                </c:pt>
                <c:pt idx="8">
                  <c:v>0.40470588235294114</c:v>
                </c:pt>
                <c:pt idx="9">
                  <c:v>0.38823529411764707</c:v>
                </c:pt>
                <c:pt idx="10">
                  <c:v>0.37176470588235294</c:v>
                </c:pt>
                <c:pt idx="11">
                  <c:v>0.35529411764705876</c:v>
                </c:pt>
                <c:pt idx="12">
                  <c:v>0.29176470588235293</c:v>
                </c:pt>
                <c:pt idx="13">
                  <c:v>0.31764705882352939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402-476B-ACAA-9A9459CF5EAB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Validia, n=334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Sheet1!$I$2:$I$15</c:f>
              <c:numCache>
                <c:formatCode>0%</c:formatCode>
                <c:ptCount val="14"/>
                <c:pt idx="0">
                  <c:v>0.29640718562874252</c:v>
                </c:pt>
                <c:pt idx="1">
                  <c:v>0.22155688622754491</c:v>
                </c:pt>
                <c:pt idx="2">
                  <c:v>0.38622754491017963</c:v>
                </c:pt>
                <c:pt idx="3">
                  <c:v>0.28143712574850299</c:v>
                </c:pt>
                <c:pt idx="4">
                  <c:v>0.33832335329341318</c:v>
                </c:pt>
                <c:pt idx="5">
                  <c:v>0.32335329341317365</c:v>
                </c:pt>
                <c:pt idx="6">
                  <c:v>0.31437125748502992</c:v>
                </c:pt>
                <c:pt idx="7">
                  <c:v>0.30239520958083832</c:v>
                </c:pt>
                <c:pt idx="8">
                  <c:v>0.3592814371257485</c:v>
                </c:pt>
                <c:pt idx="9">
                  <c:v>0.35029940119760478</c:v>
                </c:pt>
                <c:pt idx="10">
                  <c:v>0.35029940119760478</c:v>
                </c:pt>
                <c:pt idx="11">
                  <c:v>0.32035928143712578</c:v>
                </c:pt>
                <c:pt idx="12">
                  <c:v>0.26347305389221554</c:v>
                </c:pt>
                <c:pt idx="13">
                  <c:v>0.25748502994011979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402-476B-ACAA-9A9459CF5E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271312"/>
        <c:axId val="163262576"/>
      </c:radarChart>
      <c:catAx>
        <c:axId val="16327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63262576"/>
        <c:crosses val="autoZero"/>
        <c:auto val="1"/>
        <c:lblAlgn val="ctr"/>
        <c:lblOffset val="100"/>
        <c:noMultiLvlLbl val="0"/>
      </c:catAx>
      <c:valAx>
        <c:axId val="16326257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63271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5382313968631232"/>
          <c:y val="9.9532184791203557E-2"/>
          <c:w val="0.23713421139557223"/>
          <c:h val="0.818561689692213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082070933661053"/>
          <c:y val="0.13592072354787912"/>
          <c:w val="0.55947266370188486"/>
          <c:h val="0.66839896722994707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Attendo,n=862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0.55000000000000004</c:v>
                </c:pt>
                <c:pt idx="1">
                  <c:v>0.38</c:v>
                </c:pt>
                <c:pt idx="2">
                  <c:v>0.38</c:v>
                </c:pt>
                <c:pt idx="3">
                  <c:v>0.28999999999999998</c:v>
                </c:pt>
                <c:pt idx="4">
                  <c:v>0.28000000000000003</c:v>
                </c:pt>
                <c:pt idx="5">
                  <c:v>0.3</c:v>
                </c:pt>
                <c:pt idx="6">
                  <c:v>0.28999999999999998</c:v>
                </c:pt>
                <c:pt idx="7">
                  <c:v>0.28000000000000003</c:v>
                </c:pt>
                <c:pt idx="8">
                  <c:v>0.28999999999999998</c:v>
                </c:pt>
                <c:pt idx="9">
                  <c:v>0.31</c:v>
                </c:pt>
                <c:pt idx="10">
                  <c:v>0.27</c:v>
                </c:pt>
                <c:pt idx="11">
                  <c:v>0.22</c:v>
                </c:pt>
                <c:pt idx="12">
                  <c:v>0.21</c:v>
                </c:pt>
                <c:pt idx="1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CC-414A-BC86-03C0F32750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Esperi, n=742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0.48</c:v>
                </c:pt>
                <c:pt idx="1">
                  <c:v>0.3</c:v>
                </c:pt>
                <c:pt idx="2">
                  <c:v>0.35</c:v>
                </c:pt>
                <c:pt idx="3">
                  <c:v>0.27</c:v>
                </c:pt>
                <c:pt idx="4">
                  <c:v>0.26</c:v>
                </c:pt>
                <c:pt idx="5">
                  <c:v>0.28000000000000003</c:v>
                </c:pt>
                <c:pt idx="6">
                  <c:v>0.27</c:v>
                </c:pt>
                <c:pt idx="7">
                  <c:v>0.25</c:v>
                </c:pt>
                <c:pt idx="8">
                  <c:v>0.27</c:v>
                </c:pt>
                <c:pt idx="9">
                  <c:v>0.28000000000000003</c:v>
                </c:pt>
                <c:pt idx="10">
                  <c:v>0.27</c:v>
                </c:pt>
                <c:pt idx="11">
                  <c:v>0.24</c:v>
                </c:pt>
                <c:pt idx="12">
                  <c:v>0.22</c:v>
                </c:pt>
                <c:pt idx="13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CC-414A-BC86-03C0F32750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Mainio-kodit, n=229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0.31</c:v>
                </c:pt>
                <c:pt idx="1">
                  <c:v>0.21</c:v>
                </c:pt>
                <c:pt idx="2">
                  <c:v>0.45</c:v>
                </c:pt>
                <c:pt idx="3">
                  <c:v>0.41</c:v>
                </c:pt>
                <c:pt idx="4">
                  <c:v>0.38</c:v>
                </c:pt>
                <c:pt idx="5">
                  <c:v>0.42</c:v>
                </c:pt>
                <c:pt idx="6">
                  <c:v>0.42</c:v>
                </c:pt>
                <c:pt idx="7">
                  <c:v>0.35</c:v>
                </c:pt>
                <c:pt idx="8">
                  <c:v>0.38</c:v>
                </c:pt>
                <c:pt idx="9">
                  <c:v>0.39</c:v>
                </c:pt>
                <c:pt idx="10">
                  <c:v>0.42</c:v>
                </c:pt>
                <c:pt idx="11">
                  <c:v>0.35</c:v>
                </c:pt>
                <c:pt idx="12">
                  <c:v>0.35</c:v>
                </c:pt>
                <c:pt idx="1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CC-414A-BC86-03C0F327507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Onnikodit, n=275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Sheet1!$E$2:$E$15</c:f>
              <c:numCache>
                <c:formatCode>0%</c:formatCode>
                <c:ptCount val="14"/>
                <c:pt idx="0">
                  <c:v>0.28000000000000003</c:v>
                </c:pt>
                <c:pt idx="1">
                  <c:v>0.19</c:v>
                </c:pt>
                <c:pt idx="2">
                  <c:v>0.43</c:v>
                </c:pt>
                <c:pt idx="3">
                  <c:v>0.43</c:v>
                </c:pt>
                <c:pt idx="4">
                  <c:v>0.41</c:v>
                </c:pt>
                <c:pt idx="5">
                  <c:v>0.46</c:v>
                </c:pt>
                <c:pt idx="6">
                  <c:v>0.43</c:v>
                </c:pt>
                <c:pt idx="7">
                  <c:v>0.35</c:v>
                </c:pt>
                <c:pt idx="8">
                  <c:v>0.41</c:v>
                </c:pt>
                <c:pt idx="9">
                  <c:v>0.44</c:v>
                </c:pt>
                <c:pt idx="10">
                  <c:v>0.42</c:v>
                </c:pt>
                <c:pt idx="11">
                  <c:v>0.37</c:v>
                </c:pt>
                <c:pt idx="12">
                  <c:v>0.32</c:v>
                </c:pt>
                <c:pt idx="13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0CC-414A-BC86-03C0F327507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Ykköskodit, n=144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Sheet1!$F$2:$F$15</c:f>
              <c:numCache>
                <c:formatCode>0%</c:formatCode>
                <c:ptCount val="14"/>
                <c:pt idx="0">
                  <c:v>0.27</c:v>
                </c:pt>
                <c:pt idx="1">
                  <c:v>0.2</c:v>
                </c:pt>
                <c:pt idx="2">
                  <c:v>0.44</c:v>
                </c:pt>
                <c:pt idx="3">
                  <c:v>0.38</c:v>
                </c:pt>
                <c:pt idx="4">
                  <c:v>0.39</c:v>
                </c:pt>
                <c:pt idx="5">
                  <c:v>0.4</c:v>
                </c:pt>
                <c:pt idx="6">
                  <c:v>0.42</c:v>
                </c:pt>
                <c:pt idx="7">
                  <c:v>0.31</c:v>
                </c:pt>
                <c:pt idx="8">
                  <c:v>0.38</c:v>
                </c:pt>
                <c:pt idx="9">
                  <c:v>0.38</c:v>
                </c:pt>
                <c:pt idx="10">
                  <c:v>0.41</c:v>
                </c:pt>
                <c:pt idx="11">
                  <c:v>0.35</c:v>
                </c:pt>
                <c:pt idx="12">
                  <c:v>0.28000000000000003</c:v>
                </c:pt>
                <c:pt idx="1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CC-414A-BC86-03C0F327507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Humana, n=111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Sheet1!$G$2:$G$15</c:f>
              <c:numCache>
                <c:formatCode>0%</c:formatCode>
                <c:ptCount val="14"/>
                <c:pt idx="0">
                  <c:v>0.39</c:v>
                </c:pt>
                <c:pt idx="1">
                  <c:v>0.32</c:v>
                </c:pt>
                <c:pt idx="2">
                  <c:v>0.47</c:v>
                </c:pt>
                <c:pt idx="3">
                  <c:v>0.4</c:v>
                </c:pt>
                <c:pt idx="4">
                  <c:v>0.4</c:v>
                </c:pt>
                <c:pt idx="5">
                  <c:v>0.47</c:v>
                </c:pt>
                <c:pt idx="6">
                  <c:v>0.43</c:v>
                </c:pt>
                <c:pt idx="7">
                  <c:v>0.44</c:v>
                </c:pt>
                <c:pt idx="8">
                  <c:v>0.45</c:v>
                </c:pt>
                <c:pt idx="9">
                  <c:v>0.42</c:v>
                </c:pt>
                <c:pt idx="10">
                  <c:v>0.41</c:v>
                </c:pt>
                <c:pt idx="11">
                  <c:v>0.41</c:v>
                </c:pt>
                <c:pt idx="12">
                  <c:v>0.39</c:v>
                </c:pt>
                <c:pt idx="1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0CC-414A-BC86-03C0F3275073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Rinnekodit, n=427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Sheet1!$H$2:$H$15</c:f>
              <c:numCache>
                <c:formatCode>0%</c:formatCode>
                <c:ptCount val="14"/>
                <c:pt idx="0">
                  <c:v>0.24</c:v>
                </c:pt>
                <c:pt idx="1">
                  <c:v>0.14000000000000001</c:v>
                </c:pt>
                <c:pt idx="2">
                  <c:v>0.47</c:v>
                </c:pt>
                <c:pt idx="3">
                  <c:v>0.36</c:v>
                </c:pt>
                <c:pt idx="4">
                  <c:v>0.4</c:v>
                </c:pt>
                <c:pt idx="5">
                  <c:v>0.43</c:v>
                </c:pt>
                <c:pt idx="6">
                  <c:v>0.38</c:v>
                </c:pt>
                <c:pt idx="7">
                  <c:v>0.31</c:v>
                </c:pt>
                <c:pt idx="8">
                  <c:v>0.38</c:v>
                </c:pt>
                <c:pt idx="9">
                  <c:v>0.41</c:v>
                </c:pt>
                <c:pt idx="10">
                  <c:v>0.4</c:v>
                </c:pt>
                <c:pt idx="11">
                  <c:v>0.33</c:v>
                </c:pt>
                <c:pt idx="12">
                  <c:v>0.28000000000000003</c:v>
                </c:pt>
                <c:pt idx="13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0CC-414A-BC86-03C0F3275073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Validia n=321</c:v>
                </c:pt>
              </c:strCache>
            </c:strRef>
          </c:tx>
          <c:spPr>
            <a:ln w="28575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Välinpitämätön</c:v>
                </c:pt>
                <c:pt idx="2">
                  <c:v>Ammattitaitoinen</c:v>
                </c:pt>
                <c:pt idx="3">
                  <c:v>Kodikas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Mahdollistaa hyvän arjen</c:v>
                </c:pt>
                <c:pt idx="7">
                  <c:v>Kehittää toimintatapojaan</c:v>
                </c:pt>
                <c:pt idx="8">
                  <c:v>Välittävä</c:v>
                </c:pt>
                <c:pt idx="9">
                  <c:v>Tarjoaa laadukkaita hoivapalveluita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Sheet1!$I$2:$I$15</c:f>
              <c:numCache>
                <c:formatCode>0%</c:formatCode>
                <c:ptCount val="14"/>
                <c:pt idx="0">
                  <c:v>0.35</c:v>
                </c:pt>
                <c:pt idx="1">
                  <c:v>0.2</c:v>
                </c:pt>
                <c:pt idx="2">
                  <c:v>0.4</c:v>
                </c:pt>
                <c:pt idx="3">
                  <c:v>0.28000000000000003</c:v>
                </c:pt>
                <c:pt idx="4">
                  <c:v>0.32</c:v>
                </c:pt>
                <c:pt idx="5">
                  <c:v>0.35</c:v>
                </c:pt>
                <c:pt idx="6">
                  <c:v>0.35</c:v>
                </c:pt>
                <c:pt idx="7">
                  <c:v>0.24</c:v>
                </c:pt>
                <c:pt idx="8">
                  <c:v>0.28999999999999998</c:v>
                </c:pt>
                <c:pt idx="9">
                  <c:v>0.33</c:v>
                </c:pt>
                <c:pt idx="10">
                  <c:v>0.32</c:v>
                </c:pt>
                <c:pt idx="11">
                  <c:v>0.3</c:v>
                </c:pt>
                <c:pt idx="12">
                  <c:v>0.26</c:v>
                </c:pt>
                <c:pt idx="1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0CC-414A-BC86-03C0F32750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3271312"/>
        <c:axId val="163262576"/>
      </c:radarChart>
      <c:catAx>
        <c:axId val="163271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63262576"/>
        <c:crosses val="autoZero"/>
        <c:auto val="1"/>
        <c:lblAlgn val="ctr"/>
        <c:lblOffset val="100"/>
        <c:noMultiLvlLbl val="0"/>
      </c:catAx>
      <c:valAx>
        <c:axId val="16326257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632713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>
        <a:lumMod val="90000"/>
      </a:schemeClr>
    </a:solidFill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770605193220994E-2"/>
          <c:y val="3.8267398997487281E-2"/>
          <c:w val="0.97445878961355803"/>
          <c:h val="0.677821776419211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Välinpitämätön</c:v>
                </c:pt>
                <c:pt idx="5">
                  <c:v>Luotettava</c:v>
                </c:pt>
                <c:pt idx="6">
                  <c:v>Kodikas</c:v>
                </c:pt>
                <c:pt idx="7">
                  <c:v>Kohtelee ihmisiä arvostavasti</c:v>
                </c:pt>
                <c:pt idx="8">
                  <c:v>Välittävä</c:v>
                </c:pt>
                <c:pt idx="9">
                  <c:v>Kehittää toimintatapojaan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0.56999999999999995</c:v>
                </c:pt>
                <c:pt idx="1">
                  <c:v>0.38</c:v>
                </c:pt>
                <c:pt idx="2">
                  <c:v>0.28999999999999998</c:v>
                </c:pt>
                <c:pt idx="3">
                  <c:v>0.28999999999999998</c:v>
                </c:pt>
                <c:pt idx="4">
                  <c:v>0.39</c:v>
                </c:pt>
                <c:pt idx="5">
                  <c:v>0.3</c:v>
                </c:pt>
                <c:pt idx="6">
                  <c:v>0.3</c:v>
                </c:pt>
                <c:pt idx="7">
                  <c:v>0.3</c:v>
                </c:pt>
                <c:pt idx="8">
                  <c:v>0.28999999999999998</c:v>
                </c:pt>
                <c:pt idx="9">
                  <c:v>0.28999999999999998</c:v>
                </c:pt>
                <c:pt idx="10">
                  <c:v>0.28000000000000003</c:v>
                </c:pt>
                <c:pt idx="11">
                  <c:v>0.25</c:v>
                </c:pt>
                <c:pt idx="12">
                  <c:v>0.24</c:v>
                </c:pt>
                <c:pt idx="13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9-4744-9636-801E61E3ED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Välinpitämätön</c:v>
                </c:pt>
                <c:pt idx="5">
                  <c:v>Luotettava</c:v>
                </c:pt>
                <c:pt idx="6">
                  <c:v>Kodikas</c:v>
                </c:pt>
                <c:pt idx="7">
                  <c:v>Kohtelee ihmisiä arvostavasti</c:v>
                </c:pt>
                <c:pt idx="8">
                  <c:v>Välittävä</c:v>
                </c:pt>
                <c:pt idx="9">
                  <c:v>Kehittää toimintatapojaan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0.53</c:v>
                </c:pt>
                <c:pt idx="1">
                  <c:v>0.41</c:v>
                </c:pt>
                <c:pt idx="2">
                  <c:v>0.3</c:v>
                </c:pt>
                <c:pt idx="3">
                  <c:v>0.31</c:v>
                </c:pt>
                <c:pt idx="4">
                  <c:v>0.35</c:v>
                </c:pt>
                <c:pt idx="5">
                  <c:v>0.28999999999999998</c:v>
                </c:pt>
                <c:pt idx="6">
                  <c:v>0.33</c:v>
                </c:pt>
                <c:pt idx="7">
                  <c:v>0.32</c:v>
                </c:pt>
                <c:pt idx="8">
                  <c:v>0.31</c:v>
                </c:pt>
                <c:pt idx="9">
                  <c:v>0.31</c:v>
                </c:pt>
                <c:pt idx="10">
                  <c:v>0.28999999999999998</c:v>
                </c:pt>
                <c:pt idx="11">
                  <c:v>0.25</c:v>
                </c:pt>
                <c:pt idx="12">
                  <c:v>0.24</c:v>
                </c:pt>
                <c:pt idx="13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19-4744-9636-801E61E3ED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Välinpitämätön</c:v>
                </c:pt>
                <c:pt idx="5">
                  <c:v>Luotettava</c:v>
                </c:pt>
                <c:pt idx="6">
                  <c:v>Kodikas</c:v>
                </c:pt>
                <c:pt idx="7">
                  <c:v>Kohtelee ihmisiä arvostavasti</c:v>
                </c:pt>
                <c:pt idx="8">
                  <c:v>Välittävä</c:v>
                </c:pt>
                <c:pt idx="9">
                  <c:v>Kehittää toimintatapojaan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0.55000000000000004</c:v>
                </c:pt>
                <c:pt idx="1">
                  <c:v>0.38</c:v>
                </c:pt>
                <c:pt idx="2">
                  <c:v>0.28999999999999998</c:v>
                </c:pt>
                <c:pt idx="3">
                  <c:v>0.31</c:v>
                </c:pt>
                <c:pt idx="4">
                  <c:v>0.38</c:v>
                </c:pt>
                <c:pt idx="5">
                  <c:v>0.28000000000000003</c:v>
                </c:pt>
                <c:pt idx="6">
                  <c:v>0.28999999999999998</c:v>
                </c:pt>
                <c:pt idx="7">
                  <c:v>0.3</c:v>
                </c:pt>
                <c:pt idx="8">
                  <c:v>0.28999999999999998</c:v>
                </c:pt>
                <c:pt idx="9">
                  <c:v>0.28000000000000003</c:v>
                </c:pt>
                <c:pt idx="10">
                  <c:v>0.27</c:v>
                </c:pt>
                <c:pt idx="11">
                  <c:v>0.22</c:v>
                </c:pt>
                <c:pt idx="12">
                  <c:v>0.21</c:v>
                </c:pt>
                <c:pt idx="1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19-4744-9636-801E61E3ED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Välinpitämätön</c:v>
                </c:pt>
                <c:pt idx="5">
                  <c:v>Luotettava</c:v>
                </c:pt>
                <c:pt idx="6">
                  <c:v>Kodikas</c:v>
                </c:pt>
                <c:pt idx="7">
                  <c:v>Kohtelee ihmisiä arvostavasti</c:v>
                </c:pt>
                <c:pt idx="8">
                  <c:v>Välittävä</c:v>
                </c:pt>
                <c:pt idx="9">
                  <c:v>Kehittää toimintatapojaan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Sheet1!$E$2:$E$15</c:f>
              <c:numCache>
                <c:formatCode>0%</c:formatCode>
                <c:ptCount val="14"/>
                <c:pt idx="0">
                  <c:v>0.54</c:v>
                </c:pt>
                <c:pt idx="1">
                  <c:v>0.44</c:v>
                </c:pt>
                <c:pt idx="2">
                  <c:v>0.36</c:v>
                </c:pt>
                <c:pt idx="3">
                  <c:v>0.35</c:v>
                </c:pt>
                <c:pt idx="4">
                  <c:v>0.34</c:v>
                </c:pt>
                <c:pt idx="5">
                  <c:v>0.34</c:v>
                </c:pt>
                <c:pt idx="6">
                  <c:v>0.33</c:v>
                </c:pt>
                <c:pt idx="7">
                  <c:v>0.32</c:v>
                </c:pt>
                <c:pt idx="8">
                  <c:v>0.32</c:v>
                </c:pt>
                <c:pt idx="9">
                  <c:v>0.32</c:v>
                </c:pt>
                <c:pt idx="10">
                  <c:v>0.31</c:v>
                </c:pt>
                <c:pt idx="11">
                  <c:v>0.27</c:v>
                </c:pt>
                <c:pt idx="12">
                  <c:v>0.26</c:v>
                </c:pt>
                <c:pt idx="13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9A-4B30-9D3F-27EFF4EC7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9466384"/>
        <c:axId val="1309466864"/>
      </c:barChart>
      <c:catAx>
        <c:axId val="130946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309466864"/>
        <c:crosses val="autoZero"/>
        <c:auto val="1"/>
        <c:lblAlgn val="ctr"/>
        <c:lblOffset val="100"/>
        <c:noMultiLvlLbl val="0"/>
      </c:catAx>
      <c:valAx>
        <c:axId val="13094668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30946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75086039324323"/>
          <c:y val="0.87877625951000782"/>
          <c:w val="0.42145117631307683"/>
          <c:h val="6.63020579016678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1 - Ei vastaa lainkaan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Välinpitämätön</c:v>
                </c:pt>
                <c:pt idx="5">
                  <c:v>Luotettava</c:v>
                </c:pt>
                <c:pt idx="6">
                  <c:v>Kodikas</c:v>
                </c:pt>
                <c:pt idx="7">
                  <c:v>Kohtelee ihmisiä arvostavasti</c:v>
                </c:pt>
                <c:pt idx="8">
                  <c:v>Välittävä</c:v>
                </c:pt>
                <c:pt idx="9">
                  <c:v>Kehittää toimintatapojaan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0.06</c:v>
                </c:pt>
                <c:pt idx="1">
                  <c:v>0.05</c:v>
                </c:pt>
                <c:pt idx="2">
                  <c:v>0.06</c:v>
                </c:pt>
                <c:pt idx="3">
                  <c:v>7.0000000000000007E-2</c:v>
                </c:pt>
                <c:pt idx="4">
                  <c:v>0.11</c:v>
                </c:pt>
                <c:pt idx="5">
                  <c:v>0.08</c:v>
                </c:pt>
                <c:pt idx="6">
                  <c:v>0.05</c:v>
                </c:pt>
                <c:pt idx="7">
                  <c:v>0.1</c:v>
                </c:pt>
                <c:pt idx="8">
                  <c:v>0.1</c:v>
                </c:pt>
                <c:pt idx="9">
                  <c:v>0.06</c:v>
                </c:pt>
                <c:pt idx="10">
                  <c:v>0.09</c:v>
                </c:pt>
                <c:pt idx="11">
                  <c:v>0.1</c:v>
                </c:pt>
                <c:pt idx="12">
                  <c:v>0.08</c:v>
                </c:pt>
                <c:pt idx="13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48-40C0-AE2C-724275F125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Välinpitämätön</c:v>
                </c:pt>
                <c:pt idx="5">
                  <c:v>Luotettava</c:v>
                </c:pt>
                <c:pt idx="6">
                  <c:v>Kodikas</c:v>
                </c:pt>
                <c:pt idx="7">
                  <c:v>Kohtelee ihmisiä arvostavasti</c:v>
                </c:pt>
                <c:pt idx="8">
                  <c:v>Välittävä</c:v>
                </c:pt>
                <c:pt idx="9">
                  <c:v>Kehittää toimintatapojaan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0.11</c:v>
                </c:pt>
                <c:pt idx="1">
                  <c:v>0.12</c:v>
                </c:pt>
                <c:pt idx="2">
                  <c:v>0.18</c:v>
                </c:pt>
                <c:pt idx="3">
                  <c:v>0.19</c:v>
                </c:pt>
                <c:pt idx="4">
                  <c:v>0.22</c:v>
                </c:pt>
                <c:pt idx="5">
                  <c:v>0.2</c:v>
                </c:pt>
                <c:pt idx="6">
                  <c:v>0.18</c:v>
                </c:pt>
                <c:pt idx="7">
                  <c:v>0.19</c:v>
                </c:pt>
                <c:pt idx="8">
                  <c:v>0.19</c:v>
                </c:pt>
                <c:pt idx="9">
                  <c:v>0.16</c:v>
                </c:pt>
                <c:pt idx="10">
                  <c:v>0.2</c:v>
                </c:pt>
                <c:pt idx="11">
                  <c:v>0.22</c:v>
                </c:pt>
                <c:pt idx="12">
                  <c:v>0.19</c:v>
                </c:pt>
                <c:pt idx="13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348-40C0-AE2C-724275F125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Välinpitämätön</c:v>
                </c:pt>
                <c:pt idx="5">
                  <c:v>Luotettava</c:v>
                </c:pt>
                <c:pt idx="6">
                  <c:v>Kodikas</c:v>
                </c:pt>
                <c:pt idx="7">
                  <c:v>Kohtelee ihmisiä arvostavasti</c:v>
                </c:pt>
                <c:pt idx="8">
                  <c:v>Välittävä</c:v>
                </c:pt>
                <c:pt idx="9">
                  <c:v>Kehittää toimintatapojaan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0.19</c:v>
                </c:pt>
                <c:pt idx="1">
                  <c:v>0.32</c:v>
                </c:pt>
                <c:pt idx="2">
                  <c:v>0.32</c:v>
                </c:pt>
                <c:pt idx="3">
                  <c:v>0.32</c:v>
                </c:pt>
                <c:pt idx="4">
                  <c:v>0.24</c:v>
                </c:pt>
                <c:pt idx="5">
                  <c:v>0.31</c:v>
                </c:pt>
                <c:pt idx="6">
                  <c:v>0.32</c:v>
                </c:pt>
                <c:pt idx="7">
                  <c:v>0.3</c:v>
                </c:pt>
                <c:pt idx="8">
                  <c:v>0.33</c:v>
                </c:pt>
                <c:pt idx="9">
                  <c:v>0.32</c:v>
                </c:pt>
                <c:pt idx="10">
                  <c:v>0.32</c:v>
                </c:pt>
                <c:pt idx="11">
                  <c:v>0.31</c:v>
                </c:pt>
                <c:pt idx="12">
                  <c:v>0.28000000000000003</c:v>
                </c:pt>
                <c:pt idx="13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348-40C0-AE2C-724275F125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Välinpitämätön</c:v>
                </c:pt>
                <c:pt idx="5">
                  <c:v>Luotettava</c:v>
                </c:pt>
                <c:pt idx="6">
                  <c:v>Kodikas</c:v>
                </c:pt>
                <c:pt idx="7">
                  <c:v>Kohtelee ihmisiä arvostavasti</c:v>
                </c:pt>
                <c:pt idx="8">
                  <c:v>Välittävä</c:v>
                </c:pt>
                <c:pt idx="9">
                  <c:v>Kehittää toimintatapojaan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Sheet1!$E$2:$E$15</c:f>
              <c:numCache>
                <c:formatCode>0%</c:formatCode>
                <c:ptCount val="14"/>
                <c:pt idx="0">
                  <c:v>0.26</c:v>
                </c:pt>
                <c:pt idx="1">
                  <c:v>0.31</c:v>
                </c:pt>
                <c:pt idx="2">
                  <c:v>0.27</c:v>
                </c:pt>
                <c:pt idx="3">
                  <c:v>0.26</c:v>
                </c:pt>
                <c:pt idx="4">
                  <c:v>0.21</c:v>
                </c:pt>
                <c:pt idx="5">
                  <c:v>0.25</c:v>
                </c:pt>
                <c:pt idx="6">
                  <c:v>0.23</c:v>
                </c:pt>
                <c:pt idx="7">
                  <c:v>0.24</c:v>
                </c:pt>
                <c:pt idx="8">
                  <c:v>0.23</c:v>
                </c:pt>
                <c:pt idx="9">
                  <c:v>0.22</c:v>
                </c:pt>
                <c:pt idx="10">
                  <c:v>0.22</c:v>
                </c:pt>
                <c:pt idx="11">
                  <c:v>0.2</c:v>
                </c:pt>
                <c:pt idx="12">
                  <c:v>0.19</c:v>
                </c:pt>
                <c:pt idx="13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348-40C0-AE2C-724275F125C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5 - Vastaa erittäin hyvin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Välinpitämätön</c:v>
                </c:pt>
                <c:pt idx="5">
                  <c:v>Luotettava</c:v>
                </c:pt>
                <c:pt idx="6">
                  <c:v>Kodikas</c:v>
                </c:pt>
                <c:pt idx="7">
                  <c:v>Kohtelee ihmisiä arvostavasti</c:v>
                </c:pt>
                <c:pt idx="8">
                  <c:v>Välittävä</c:v>
                </c:pt>
                <c:pt idx="9">
                  <c:v>Kehittää toimintatapojaan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Sheet1!$F$2:$F$15</c:f>
              <c:numCache>
                <c:formatCode>0%</c:formatCode>
                <c:ptCount val="14"/>
                <c:pt idx="0">
                  <c:v>0.28000000000000003</c:v>
                </c:pt>
                <c:pt idx="1">
                  <c:v>0.12</c:v>
                </c:pt>
                <c:pt idx="2">
                  <c:v>0.09</c:v>
                </c:pt>
                <c:pt idx="3">
                  <c:v>0.09</c:v>
                </c:pt>
                <c:pt idx="4">
                  <c:v>0.13</c:v>
                </c:pt>
                <c:pt idx="5">
                  <c:v>0.09</c:v>
                </c:pt>
                <c:pt idx="6">
                  <c:v>0.1</c:v>
                </c:pt>
                <c:pt idx="7">
                  <c:v>0.09</c:v>
                </c:pt>
                <c:pt idx="8">
                  <c:v>0.09</c:v>
                </c:pt>
                <c:pt idx="9">
                  <c:v>0.09</c:v>
                </c:pt>
                <c:pt idx="10">
                  <c:v>0.09</c:v>
                </c:pt>
                <c:pt idx="11">
                  <c:v>0.08</c:v>
                </c:pt>
                <c:pt idx="12">
                  <c:v>7.0000000000000007E-2</c:v>
                </c:pt>
                <c:pt idx="13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348-40C0-AE2C-724275F125C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En osaa sanoa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Välinpitämätön</c:v>
                </c:pt>
                <c:pt idx="5">
                  <c:v>Luotettava</c:v>
                </c:pt>
                <c:pt idx="6">
                  <c:v>Kodikas</c:v>
                </c:pt>
                <c:pt idx="7">
                  <c:v>Kohtelee ihmisiä arvostavasti</c:v>
                </c:pt>
                <c:pt idx="8">
                  <c:v>Välittävä</c:v>
                </c:pt>
                <c:pt idx="9">
                  <c:v>Kehittää toimintatapojaan</c:v>
                </c:pt>
                <c:pt idx="10">
                  <c:v>Inhimillinen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Sheet1!$G$2:$G$15</c:f>
              <c:numCache>
                <c:formatCode>0%</c:formatCode>
                <c:ptCount val="14"/>
                <c:pt idx="0">
                  <c:v>0.1</c:v>
                </c:pt>
                <c:pt idx="1">
                  <c:v>7.0000000000000007E-2</c:v>
                </c:pt>
                <c:pt idx="2">
                  <c:v>0.08</c:v>
                </c:pt>
                <c:pt idx="3">
                  <c:v>7.0000000000000007E-2</c:v>
                </c:pt>
                <c:pt idx="4">
                  <c:v>0.08</c:v>
                </c:pt>
                <c:pt idx="5">
                  <c:v>7.0000000000000007E-2</c:v>
                </c:pt>
                <c:pt idx="6">
                  <c:v>0.12</c:v>
                </c:pt>
                <c:pt idx="7">
                  <c:v>0.09</c:v>
                </c:pt>
                <c:pt idx="8">
                  <c:v>7.0000000000000007E-2</c:v>
                </c:pt>
                <c:pt idx="9">
                  <c:v>0.15</c:v>
                </c:pt>
                <c:pt idx="10">
                  <c:v>0.08</c:v>
                </c:pt>
                <c:pt idx="11">
                  <c:v>0.1</c:v>
                </c:pt>
                <c:pt idx="12">
                  <c:v>0.19</c:v>
                </c:pt>
                <c:pt idx="13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48-40C0-AE2C-724275F125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82"/>
        <c:overlap val="100"/>
        <c:axId val="1136242255"/>
        <c:axId val="1136240335"/>
      </c:barChart>
      <c:catAx>
        <c:axId val="113624225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136240335"/>
        <c:crosses val="autoZero"/>
        <c:auto val="1"/>
        <c:lblAlgn val="ctr"/>
        <c:lblOffset val="100"/>
        <c:noMultiLvlLbl val="0"/>
      </c:catAx>
      <c:valAx>
        <c:axId val="1136240335"/>
        <c:scaling>
          <c:orientation val="minMax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136242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415224326042732"/>
          <c:y val="0.92607838824616195"/>
          <c:w val="0.78914879525844051"/>
          <c:h val="5.71618352175251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37331915719152"/>
          <c:y val="8.9668482700049998E-2"/>
          <c:w val="0.63112183353437878"/>
          <c:h val="0.7166682940542635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Taul1!$B$1</c:f>
              <c:strCache>
                <c:ptCount val="1"/>
                <c:pt idx="0">
                  <c:v>Marraskuu 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C60C-451E-AE71-A4174D3D0798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60C-451E-AE71-A4174D3D0798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60C-451E-AE71-A4174D3D079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60C-451E-AE71-A4174D3D079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Taul1!$B$2:$B$5</c:f>
              <c:numCache>
                <c:formatCode>0.00</c:formatCode>
                <c:ptCount val="4"/>
                <c:pt idx="0">
                  <c:v>3.0535133466231001</c:v>
                </c:pt>
                <c:pt idx="1">
                  <c:v>3.0057875787933463</c:v>
                </c:pt>
                <c:pt idx="2">
                  <c:v>2.9825205214792425</c:v>
                </c:pt>
                <c:pt idx="3">
                  <c:v>2.8832873794800653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8D-4971-9F27-97BAE92A5EC1}"/>
            </c:ext>
          </c:extLst>
        </c:ser>
        <c:ser>
          <c:idx val="1"/>
          <c:order val="1"/>
          <c:tx>
            <c:strRef>
              <c:f>Taul1!$C$1</c:f>
              <c:strCache>
                <c:ptCount val="1"/>
                <c:pt idx="0">
                  <c:v>Toukokuu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Taul1!$C$2:$C$5</c:f>
              <c:numCache>
                <c:formatCode>0.00</c:formatCode>
                <c:ptCount val="4"/>
                <c:pt idx="0">
                  <c:v>2.98</c:v>
                </c:pt>
                <c:pt idx="1">
                  <c:v>2.93</c:v>
                </c:pt>
                <c:pt idx="2">
                  <c:v>2.91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B8-45A1-9439-175EA790E5E0}"/>
            </c:ext>
          </c:extLst>
        </c:ser>
        <c:ser>
          <c:idx val="2"/>
          <c:order val="2"/>
          <c:tx>
            <c:strRef>
              <c:f>Taul1!$D$1</c:f>
              <c:strCache>
                <c:ptCount val="1"/>
                <c:pt idx="0">
                  <c:v>Marraskuu 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Taul1!$D$2:$D$5</c:f>
              <c:numCache>
                <c:formatCode>0.00</c:formatCode>
                <c:ptCount val="4"/>
                <c:pt idx="0">
                  <c:v>3.13</c:v>
                </c:pt>
                <c:pt idx="1">
                  <c:v>3.09</c:v>
                </c:pt>
                <c:pt idx="2">
                  <c:v>3.06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522-4890-80A3-A092F04F6D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42734063"/>
        <c:axId val="1742711503"/>
      </c:barChart>
      <c:catAx>
        <c:axId val="174273406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742711503"/>
        <c:crosses val="autoZero"/>
        <c:auto val="1"/>
        <c:lblAlgn val="ctr"/>
        <c:lblOffset val="100"/>
        <c:noMultiLvlLbl val="0"/>
      </c:catAx>
      <c:valAx>
        <c:axId val="1742711503"/>
        <c:scaling>
          <c:orientation val="minMax"/>
          <c:max val="5"/>
          <c:min val="1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out"/>
        <c:minorTickMark val="none"/>
        <c:tickLblPos val="nextTo"/>
        <c:crossAx val="1742734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20203017957530103"/>
          <c:y val="0.84214676445421488"/>
          <c:w val="0.27217368591608981"/>
          <c:h val="0.157853235545785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8693598442418951"/>
          <c:y val="3.5070630794373635E-2"/>
          <c:w val="0.47404068817372502"/>
          <c:h val="0.6545359605762930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Taul1!$C$1</c:f>
              <c:strCache>
                <c:ptCount val="1"/>
                <c:pt idx="0">
                  <c:v>Kokemusta omaavat, n=502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Taul1!$C$2:$C$5</c:f>
              <c:numCache>
                <c:formatCode>0.00</c:formatCode>
                <c:ptCount val="4"/>
                <c:pt idx="0">
                  <c:v>3.1196770441750359</c:v>
                </c:pt>
                <c:pt idx="1">
                  <c:v>3.0809437313965145</c:v>
                </c:pt>
                <c:pt idx="2">
                  <c:v>3.0826192146053182</c:v>
                </c:pt>
                <c:pt idx="3">
                  <c:v>2.9661761375013542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C8-49C3-8727-A06F3E70A61F}"/>
            </c:ext>
          </c:extLst>
        </c:ser>
        <c:ser>
          <c:idx val="1"/>
          <c:order val="1"/>
          <c:tx>
            <c:strRef>
              <c:f>Taul1!$D$1</c:f>
              <c:strCache>
                <c:ptCount val="1"/>
                <c:pt idx="0">
                  <c:v>Ei kokemusta, n=191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Taul1!$D$2:$D$5</c:f>
              <c:numCache>
                <c:formatCode>0.00</c:formatCode>
                <c:ptCount val="4"/>
                <c:pt idx="0">
                  <c:v>2.9920482411047558</c:v>
                </c:pt>
                <c:pt idx="1">
                  <c:v>2.8284015784681986</c:v>
                </c:pt>
                <c:pt idx="2">
                  <c:v>2.7909500881769493</c:v>
                </c:pt>
                <c:pt idx="3">
                  <c:v>2.7575905120007205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C8-49C3-8727-A06F3E70A61F}"/>
            </c:ext>
          </c:extLst>
        </c:ser>
        <c:ser>
          <c:idx val="2"/>
          <c:order val="2"/>
          <c:tx>
            <c:strRef>
              <c:f>Taul1!$E$1</c:f>
              <c:strCache>
                <c:ptCount val="1"/>
                <c:pt idx="0">
                  <c:v>Suosittelijat, n=206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Taul1!$E$2:$E$5</c:f>
              <c:numCache>
                <c:formatCode>0.00</c:formatCode>
                <c:ptCount val="4"/>
                <c:pt idx="0">
                  <c:v>4.1863277610239216</c:v>
                </c:pt>
                <c:pt idx="1">
                  <c:v>4.1799633518134396</c:v>
                </c:pt>
                <c:pt idx="2">
                  <c:v>4.3512631803761641</c:v>
                </c:pt>
                <c:pt idx="3">
                  <c:v>4.1494515760268627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C8-49C3-8727-A06F3E70A61F}"/>
            </c:ext>
          </c:extLst>
        </c:ser>
        <c:ser>
          <c:idx val="3"/>
          <c:order val="3"/>
          <c:tx>
            <c:strRef>
              <c:f>Taul1!$F$1</c:f>
              <c:strCache>
                <c:ptCount val="1"/>
                <c:pt idx="0">
                  <c:v>Ammattilaiset, n=213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Taul1!$F$2:$F$5</c:f>
              <c:numCache>
                <c:formatCode>0.00</c:formatCode>
                <c:ptCount val="4"/>
                <c:pt idx="0">
                  <c:v>3.0741084797725251</c:v>
                </c:pt>
                <c:pt idx="1">
                  <c:v>3.1564166087198817</c:v>
                </c:pt>
                <c:pt idx="2">
                  <c:v>3.0850364276858837</c:v>
                </c:pt>
                <c:pt idx="3">
                  <c:v>2.9723431915250518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EC8-49C3-8727-A06F3E70A61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42734063"/>
        <c:axId val="1742711503"/>
      </c:barChart>
      <c:catAx>
        <c:axId val="174273406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742711503"/>
        <c:crosses val="autoZero"/>
        <c:auto val="1"/>
        <c:lblAlgn val="ctr"/>
        <c:lblOffset val="100"/>
        <c:noMultiLvlLbl val="0"/>
      </c:catAx>
      <c:valAx>
        <c:axId val="1742711503"/>
        <c:scaling>
          <c:orientation val="minMax"/>
          <c:max val="5"/>
          <c:min val="1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out"/>
        <c:minorTickMark val="none"/>
        <c:tickLblPos val="nextTo"/>
        <c:crossAx val="1742734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351541051198432"/>
          <c:y val="0.79433673328496579"/>
          <c:w val="0.85430319095436769"/>
          <c:h val="0.186921692327389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8476227258465171"/>
          <c:y val="3.5023679216191622E-2"/>
          <c:w val="0.48214112599328901"/>
          <c:h val="0.654998458155854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Taul1!$C$1</c:f>
              <c:strCache>
                <c:ptCount val="1"/>
                <c:pt idx="0">
                  <c:v>Kokemusta omaavat, n=505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Taul1!$C$2:$C$5</c:f>
              <c:numCache>
                <c:formatCode>0.00</c:formatCode>
                <c:ptCount val="4"/>
                <c:pt idx="0">
                  <c:v>3.03</c:v>
                </c:pt>
                <c:pt idx="1">
                  <c:v>3</c:v>
                </c:pt>
                <c:pt idx="2">
                  <c:v>2.98</c:v>
                </c:pt>
                <c:pt idx="3">
                  <c:v>2.89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D4-4E91-98EA-6DEEE6458E18}"/>
            </c:ext>
          </c:extLst>
        </c:ser>
        <c:ser>
          <c:idx val="1"/>
          <c:order val="1"/>
          <c:tx>
            <c:strRef>
              <c:f>Taul1!$D$1</c:f>
              <c:strCache>
                <c:ptCount val="1"/>
                <c:pt idx="0">
                  <c:v>Ei kokemusta, n=227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Taul1!$D$2:$D$5</c:f>
              <c:numCache>
                <c:formatCode>0.00</c:formatCode>
                <c:ptCount val="4"/>
                <c:pt idx="0">
                  <c:v>2.89</c:v>
                </c:pt>
                <c:pt idx="1">
                  <c:v>2.79</c:v>
                </c:pt>
                <c:pt idx="2">
                  <c:v>2.74</c:v>
                </c:pt>
                <c:pt idx="3">
                  <c:v>2.67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D4-4E91-98EA-6DEEE6458E18}"/>
            </c:ext>
          </c:extLst>
        </c:ser>
        <c:ser>
          <c:idx val="2"/>
          <c:order val="2"/>
          <c:tx>
            <c:strRef>
              <c:f>Taul1!$E$1</c:f>
              <c:strCache>
                <c:ptCount val="1"/>
                <c:pt idx="0">
                  <c:v>Suosittelijat, n=201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Taul1!$E$2:$E$5</c:f>
              <c:numCache>
                <c:formatCode>0.00</c:formatCode>
                <c:ptCount val="4"/>
                <c:pt idx="0">
                  <c:v>3.76</c:v>
                </c:pt>
                <c:pt idx="1">
                  <c:v>3.76</c:v>
                </c:pt>
                <c:pt idx="2">
                  <c:v>3.83</c:v>
                </c:pt>
                <c:pt idx="3">
                  <c:v>3.71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FD4-4E91-98EA-6DEEE6458E18}"/>
            </c:ext>
          </c:extLst>
        </c:ser>
        <c:ser>
          <c:idx val="3"/>
          <c:order val="3"/>
          <c:tx>
            <c:strRef>
              <c:f>Taul1!$F$1</c:f>
              <c:strCache>
                <c:ptCount val="1"/>
                <c:pt idx="0">
                  <c:v>Ammattilaiset, n=206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Taul1!$F$2:$F$5</c:f>
              <c:numCache>
                <c:formatCode>0.00</c:formatCode>
                <c:ptCount val="4"/>
                <c:pt idx="0">
                  <c:v>2.94</c:v>
                </c:pt>
                <c:pt idx="1">
                  <c:v>2.89</c:v>
                </c:pt>
                <c:pt idx="2">
                  <c:v>2.87</c:v>
                </c:pt>
                <c:pt idx="3">
                  <c:v>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FD4-4E91-98EA-6DEEE6458E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42734063"/>
        <c:axId val="1742711503"/>
      </c:barChart>
      <c:catAx>
        <c:axId val="174273406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742711503"/>
        <c:crosses val="autoZero"/>
        <c:auto val="1"/>
        <c:lblAlgn val="ctr"/>
        <c:lblOffset val="100"/>
        <c:noMultiLvlLbl val="0"/>
      </c:catAx>
      <c:valAx>
        <c:axId val="1742711503"/>
        <c:scaling>
          <c:orientation val="minMax"/>
          <c:max val="5"/>
          <c:min val="1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out"/>
        <c:minorTickMark val="none"/>
        <c:tickLblPos val="nextTo"/>
        <c:crossAx val="1742734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351541051198432"/>
          <c:y val="0.79760600491885891"/>
          <c:w val="0.83296954853519134"/>
          <c:h val="0.183652440751818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8476227258465171"/>
          <c:y val="3.5023679216191622E-2"/>
          <c:w val="0.48214112599328901"/>
          <c:h val="0.654998458155854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Taul1!$C$1</c:f>
              <c:strCache>
                <c:ptCount val="1"/>
                <c:pt idx="0">
                  <c:v>Kokemusta omaavat, n=554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Taul1!$C$2:$C$5</c:f>
              <c:numCache>
                <c:formatCode>0.00</c:formatCode>
                <c:ptCount val="4"/>
                <c:pt idx="0">
                  <c:v>3.18</c:v>
                </c:pt>
                <c:pt idx="1">
                  <c:v>3.14</c:v>
                </c:pt>
                <c:pt idx="2">
                  <c:v>3.11</c:v>
                </c:pt>
                <c:pt idx="3">
                  <c:v>3.07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E2-4244-BC24-A801BC30FC9F}"/>
            </c:ext>
          </c:extLst>
        </c:ser>
        <c:ser>
          <c:idx val="1"/>
          <c:order val="1"/>
          <c:tx>
            <c:strRef>
              <c:f>Taul1!$D$1</c:f>
              <c:strCache>
                <c:ptCount val="1"/>
                <c:pt idx="0">
                  <c:v>Ei kokemusta, n=181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Taul1!$D$2:$D$5</c:f>
              <c:numCache>
                <c:formatCode>0.00</c:formatCode>
                <c:ptCount val="4"/>
                <c:pt idx="0">
                  <c:v>3.03</c:v>
                </c:pt>
                <c:pt idx="1">
                  <c:v>2.86</c:v>
                </c:pt>
                <c:pt idx="2">
                  <c:v>2.81</c:v>
                </c:pt>
                <c:pt idx="3">
                  <c:v>2.73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E2-4244-BC24-A801BC30FC9F}"/>
            </c:ext>
          </c:extLst>
        </c:ser>
        <c:ser>
          <c:idx val="2"/>
          <c:order val="2"/>
          <c:tx>
            <c:strRef>
              <c:f>Taul1!$E$1</c:f>
              <c:strCache>
                <c:ptCount val="1"/>
                <c:pt idx="0">
                  <c:v>Suosittelijat, n=239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Taul1!$E$2:$E$5</c:f>
              <c:numCache>
                <c:formatCode>0.00</c:formatCode>
                <c:ptCount val="4"/>
                <c:pt idx="0">
                  <c:v>3.81</c:v>
                </c:pt>
                <c:pt idx="1">
                  <c:v>3.79</c:v>
                </c:pt>
                <c:pt idx="2">
                  <c:v>3.85</c:v>
                </c:pt>
                <c:pt idx="3">
                  <c:v>3.79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EE2-4244-BC24-A801BC30FC9F}"/>
            </c:ext>
          </c:extLst>
        </c:ser>
        <c:ser>
          <c:idx val="3"/>
          <c:order val="3"/>
          <c:tx>
            <c:strRef>
              <c:f>Taul1!$F$1</c:f>
              <c:strCache>
                <c:ptCount val="1"/>
                <c:pt idx="0">
                  <c:v>Ammattilaiset, n=201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Taul1!$A$2:$A$5</c:f>
              <c:strCache>
                <c:ptCount val="4"/>
                <c:pt idx="0">
                  <c:v>Katsomme eteenpäin</c:v>
                </c:pt>
                <c:pt idx="1">
                  <c:v>Ennen kaikkea olemme koti</c:v>
                </c:pt>
                <c:pt idx="2">
                  <c:v>Vahvistamme ihmistä</c:v>
                </c:pt>
                <c:pt idx="3">
                  <c:v>Ratkaisemme yhdessä</c:v>
                </c:pt>
              </c:strCache>
            </c:strRef>
          </c:cat>
          <c:val>
            <c:numRef>
              <c:f>Taul1!$F$2:$F$5</c:f>
              <c:numCache>
                <c:formatCode>0.00</c:formatCode>
                <c:ptCount val="4"/>
                <c:pt idx="0">
                  <c:v>3.06</c:v>
                </c:pt>
                <c:pt idx="1">
                  <c:v>3.1</c:v>
                </c:pt>
                <c:pt idx="2">
                  <c:v>3.04</c:v>
                </c:pt>
                <c:pt idx="3">
                  <c:v>2.95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EE2-4244-BC24-A801BC30FC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42734063"/>
        <c:axId val="1742711503"/>
      </c:barChart>
      <c:catAx>
        <c:axId val="174273406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742711503"/>
        <c:crosses val="autoZero"/>
        <c:auto val="1"/>
        <c:lblAlgn val="ctr"/>
        <c:lblOffset val="100"/>
        <c:noMultiLvlLbl val="0"/>
      </c:catAx>
      <c:valAx>
        <c:axId val="1742711503"/>
        <c:scaling>
          <c:orientation val="minMax"/>
          <c:max val="5"/>
          <c:min val="1"/>
        </c:scaling>
        <c:delete val="1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out"/>
        <c:minorTickMark val="none"/>
        <c:tickLblPos val="nextTo"/>
        <c:crossAx val="1742734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351541051198432"/>
          <c:y val="0.79760600491885891"/>
          <c:w val="0.83296954853519134"/>
          <c:h val="0.1836524407518182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770605193220994E-2"/>
          <c:y val="3.8267398997487281E-2"/>
          <c:w val="0.97445878961355803"/>
          <c:h val="0.677821776419211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Kohtelee ihmisiä arvostavasti</c:v>
                </c:pt>
                <c:pt idx="5">
                  <c:v>Välittävä</c:v>
                </c:pt>
                <c:pt idx="6">
                  <c:v>Kodikas</c:v>
                </c:pt>
                <c:pt idx="7">
                  <c:v>Välinpitämätön</c:v>
                </c:pt>
                <c:pt idx="8">
                  <c:v>Inhimillinen</c:v>
                </c:pt>
                <c:pt idx="9">
                  <c:v>Luotettava</c:v>
                </c:pt>
                <c:pt idx="10">
                  <c:v>Kehittää toimintatapojaan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0.46</c:v>
                </c:pt>
                <c:pt idx="1">
                  <c:v>0.31</c:v>
                </c:pt>
                <c:pt idx="2">
                  <c:v>0.2</c:v>
                </c:pt>
                <c:pt idx="3">
                  <c:v>0.21</c:v>
                </c:pt>
                <c:pt idx="4">
                  <c:v>0.19</c:v>
                </c:pt>
                <c:pt idx="5">
                  <c:v>0.2</c:v>
                </c:pt>
                <c:pt idx="6">
                  <c:v>0.22</c:v>
                </c:pt>
                <c:pt idx="7">
                  <c:v>0.37</c:v>
                </c:pt>
                <c:pt idx="8">
                  <c:v>0.22</c:v>
                </c:pt>
                <c:pt idx="9">
                  <c:v>0.22</c:v>
                </c:pt>
                <c:pt idx="10">
                  <c:v>0.2</c:v>
                </c:pt>
                <c:pt idx="11">
                  <c:v>0.2</c:v>
                </c:pt>
                <c:pt idx="12">
                  <c:v>0.22</c:v>
                </c:pt>
                <c:pt idx="13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9-4744-9636-801E61E3ED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Kohtelee ihmisiä arvostavasti</c:v>
                </c:pt>
                <c:pt idx="5">
                  <c:v>Välittävä</c:v>
                </c:pt>
                <c:pt idx="6">
                  <c:v>Kodikas</c:v>
                </c:pt>
                <c:pt idx="7">
                  <c:v>Välinpitämätön</c:v>
                </c:pt>
                <c:pt idx="8">
                  <c:v>Inhimillinen</c:v>
                </c:pt>
                <c:pt idx="9">
                  <c:v>Luotettava</c:v>
                </c:pt>
                <c:pt idx="10">
                  <c:v>Kehittää toimintatapojaan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0.46</c:v>
                </c:pt>
                <c:pt idx="1">
                  <c:v>0.34</c:v>
                </c:pt>
                <c:pt idx="2">
                  <c:v>0.25</c:v>
                </c:pt>
                <c:pt idx="3">
                  <c:v>0.24</c:v>
                </c:pt>
                <c:pt idx="4">
                  <c:v>0.24</c:v>
                </c:pt>
                <c:pt idx="5">
                  <c:v>0.24</c:v>
                </c:pt>
                <c:pt idx="6">
                  <c:v>0.24</c:v>
                </c:pt>
                <c:pt idx="7">
                  <c:v>0.32</c:v>
                </c:pt>
                <c:pt idx="8">
                  <c:v>0.24</c:v>
                </c:pt>
                <c:pt idx="9">
                  <c:v>0.23</c:v>
                </c:pt>
                <c:pt idx="10">
                  <c:v>0.24</c:v>
                </c:pt>
                <c:pt idx="11">
                  <c:v>0.22</c:v>
                </c:pt>
                <c:pt idx="12">
                  <c:v>0.21</c:v>
                </c:pt>
                <c:pt idx="13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19-4744-9636-801E61E3ED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Kohtelee ihmisiä arvostavasti</c:v>
                </c:pt>
                <c:pt idx="5">
                  <c:v>Välittävä</c:v>
                </c:pt>
                <c:pt idx="6">
                  <c:v>Kodikas</c:v>
                </c:pt>
                <c:pt idx="7">
                  <c:v>Välinpitämätön</c:v>
                </c:pt>
                <c:pt idx="8">
                  <c:v>Inhimillinen</c:v>
                </c:pt>
                <c:pt idx="9">
                  <c:v>Luotettava</c:v>
                </c:pt>
                <c:pt idx="10">
                  <c:v>Kehittää toimintatapojaan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0.48</c:v>
                </c:pt>
                <c:pt idx="1">
                  <c:v>0.35</c:v>
                </c:pt>
                <c:pt idx="2">
                  <c:v>0.28000000000000003</c:v>
                </c:pt>
                <c:pt idx="3">
                  <c:v>0.28000000000000003</c:v>
                </c:pt>
                <c:pt idx="4">
                  <c:v>0.28000000000000003</c:v>
                </c:pt>
                <c:pt idx="5">
                  <c:v>0.27</c:v>
                </c:pt>
                <c:pt idx="6">
                  <c:v>0.27</c:v>
                </c:pt>
                <c:pt idx="7">
                  <c:v>0.3</c:v>
                </c:pt>
                <c:pt idx="8">
                  <c:v>0.27</c:v>
                </c:pt>
                <c:pt idx="9">
                  <c:v>0.26</c:v>
                </c:pt>
                <c:pt idx="10">
                  <c:v>0.25</c:v>
                </c:pt>
                <c:pt idx="11">
                  <c:v>0.24</c:v>
                </c:pt>
                <c:pt idx="12">
                  <c:v>0.22</c:v>
                </c:pt>
                <c:pt idx="13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19-4744-9636-801E61E3ED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Ahne</c:v>
                </c:pt>
                <c:pt idx="1">
                  <c:v>Ammattitaitoinen</c:v>
                </c:pt>
                <c:pt idx="2">
                  <c:v>Mahdollistaa hyvän arjen</c:v>
                </c:pt>
                <c:pt idx="3">
                  <c:v>Tarjoaa laadukkaita hoivapalveluita</c:v>
                </c:pt>
                <c:pt idx="4">
                  <c:v>Kohtelee ihmisiä arvostavasti</c:v>
                </c:pt>
                <c:pt idx="5">
                  <c:v>Välittävä</c:v>
                </c:pt>
                <c:pt idx="6">
                  <c:v>Kodikas</c:v>
                </c:pt>
                <c:pt idx="7">
                  <c:v>Välinpitämätön</c:v>
                </c:pt>
                <c:pt idx="8">
                  <c:v>Inhimillinen</c:v>
                </c:pt>
                <c:pt idx="9">
                  <c:v>Luotettava</c:v>
                </c:pt>
                <c:pt idx="10">
                  <c:v>Kehittää toimintatapojaan</c:v>
                </c:pt>
                <c:pt idx="11">
                  <c:v>Rehellinen</c:v>
                </c:pt>
                <c:pt idx="12">
                  <c:v>Tarjoaa monipuolista ruokaa</c:v>
                </c:pt>
                <c:pt idx="13">
                  <c:v>Edelläkävijä</c:v>
                </c:pt>
              </c:strCache>
            </c:strRef>
          </c:cat>
          <c:val>
            <c:numRef>
              <c:f>Sheet1!$E$2:$E$15</c:f>
              <c:numCache>
                <c:formatCode>0%</c:formatCode>
                <c:ptCount val="14"/>
                <c:pt idx="0">
                  <c:v>0.44</c:v>
                </c:pt>
                <c:pt idx="1">
                  <c:v>0.36</c:v>
                </c:pt>
                <c:pt idx="2">
                  <c:v>0.31</c:v>
                </c:pt>
                <c:pt idx="3">
                  <c:v>0.31</c:v>
                </c:pt>
                <c:pt idx="4">
                  <c:v>0.3</c:v>
                </c:pt>
                <c:pt idx="5">
                  <c:v>0.3</c:v>
                </c:pt>
                <c:pt idx="6">
                  <c:v>0.3</c:v>
                </c:pt>
                <c:pt idx="7">
                  <c:v>0.28999999999999998</c:v>
                </c:pt>
                <c:pt idx="8">
                  <c:v>0.28999999999999998</c:v>
                </c:pt>
                <c:pt idx="9">
                  <c:v>0.28999999999999998</c:v>
                </c:pt>
                <c:pt idx="10">
                  <c:v>0.26</c:v>
                </c:pt>
                <c:pt idx="11">
                  <c:v>0.24</c:v>
                </c:pt>
                <c:pt idx="12">
                  <c:v>0.24</c:v>
                </c:pt>
                <c:pt idx="1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A9-4FF0-B384-323193B0A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9466384"/>
        <c:axId val="1309466864"/>
      </c:barChart>
      <c:catAx>
        <c:axId val="130946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309466864"/>
        <c:crosses val="autoZero"/>
        <c:auto val="1"/>
        <c:lblAlgn val="ctr"/>
        <c:lblOffset val="100"/>
        <c:noMultiLvlLbl val="0"/>
      </c:catAx>
      <c:valAx>
        <c:axId val="13094668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30946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75086039324323"/>
          <c:y val="0.87877625951000782"/>
          <c:w val="0.42145117631307683"/>
          <c:h val="6.63020579016678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770605193220994E-2"/>
          <c:y val="3.8267398997487281E-2"/>
          <c:w val="0.97445878961355803"/>
          <c:h val="0.677821776419211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Mahdollistaa hyvän arjen</c:v>
                </c:pt>
                <c:pt idx="1">
                  <c:v>Välittävä</c:v>
                </c:pt>
                <c:pt idx="2">
                  <c:v>Kohtelee ihmisiä arvostavasti</c:v>
                </c:pt>
                <c:pt idx="3">
                  <c:v>Inhimillinen</c:v>
                </c:pt>
                <c:pt idx="4">
                  <c:v>Ammattitaitoinen</c:v>
                </c:pt>
                <c:pt idx="5">
                  <c:v>Kodikas</c:v>
                </c:pt>
                <c:pt idx="6">
                  <c:v>Luotettava</c:v>
                </c:pt>
                <c:pt idx="7">
                  <c:v>Rehellinen</c:v>
                </c:pt>
                <c:pt idx="8">
                  <c:v>Tarjoaa laadukkaita hoivapalveluita</c:v>
                </c:pt>
                <c:pt idx="9">
                  <c:v>Kehittää toimintatapojaan</c:v>
                </c:pt>
                <c:pt idx="10">
                  <c:v>Tarjoaa monipuolista ruokaa</c:v>
                </c:pt>
                <c:pt idx="11">
                  <c:v>Ahne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0.39</c:v>
                </c:pt>
                <c:pt idx="1">
                  <c:v>0.43</c:v>
                </c:pt>
                <c:pt idx="2">
                  <c:v>0.43</c:v>
                </c:pt>
                <c:pt idx="3">
                  <c:v>0.4</c:v>
                </c:pt>
                <c:pt idx="4">
                  <c:v>0.41</c:v>
                </c:pt>
                <c:pt idx="5">
                  <c:v>0.43</c:v>
                </c:pt>
                <c:pt idx="6">
                  <c:v>0.4</c:v>
                </c:pt>
                <c:pt idx="7">
                  <c:v>0.39</c:v>
                </c:pt>
                <c:pt idx="8">
                  <c:v>0.38</c:v>
                </c:pt>
                <c:pt idx="9">
                  <c:v>0.36</c:v>
                </c:pt>
                <c:pt idx="10">
                  <c:v>0.38</c:v>
                </c:pt>
                <c:pt idx="11">
                  <c:v>0.33</c:v>
                </c:pt>
                <c:pt idx="12">
                  <c:v>0.28000000000000003</c:v>
                </c:pt>
                <c:pt idx="1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9-4744-9636-801E61E3ED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Mahdollistaa hyvän arjen</c:v>
                </c:pt>
                <c:pt idx="1">
                  <c:v>Välittävä</c:v>
                </c:pt>
                <c:pt idx="2">
                  <c:v>Kohtelee ihmisiä arvostavasti</c:v>
                </c:pt>
                <c:pt idx="3">
                  <c:v>Inhimillinen</c:v>
                </c:pt>
                <c:pt idx="4">
                  <c:v>Ammattitaitoinen</c:v>
                </c:pt>
                <c:pt idx="5">
                  <c:v>Kodikas</c:v>
                </c:pt>
                <c:pt idx="6">
                  <c:v>Luotettava</c:v>
                </c:pt>
                <c:pt idx="7">
                  <c:v>Rehellinen</c:v>
                </c:pt>
                <c:pt idx="8">
                  <c:v>Tarjoaa laadukkaita hoivapalveluita</c:v>
                </c:pt>
                <c:pt idx="9">
                  <c:v>Kehittää toimintatapojaan</c:v>
                </c:pt>
                <c:pt idx="10">
                  <c:v>Tarjoaa monipuolista ruokaa</c:v>
                </c:pt>
                <c:pt idx="11">
                  <c:v>Ahne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0.4</c:v>
                </c:pt>
                <c:pt idx="1">
                  <c:v>0.37</c:v>
                </c:pt>
                <c:pt idx="2">
                  <c:v>0.38</c:v>
                </c:pt>
                <c:pt idx="3">
                  <c:v>0.39</c:v>
                </c:pt>
                <c:pt idx="4">
                  <c:v>0.43</c:v>
                </c:pt>
                <c:pt idx="5">
                  <c:v>0.41</c:v>
                </c:pt>
                <c:pt idx="6">
                  <c:v>0.39</c:v>
                </c:pt>
                <c:pt idx="7">
                  <c:v>0.37</c:v>
                </c:pt>
                <c:pt idx="8">
                  <c:v>0.37</c:v>
                </c:pt>
                <c:pt idx="9">
                  <c:v>0.34</c:v>
                </c:pt>
                <c:pt idx="10">
                  <c:v>0.37</c:v>
                </c:pt>
                <c:pt idx="11">
                  <c:v>0.34</c:v>
                </c:pt>
                <c:pt idx="12">
                  <c:v>0.27</c:v>
                </c:pt>
                <c:pt idx="13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19-4744-9636-801E61E3ED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Mahdollistaa hyvän arjen</c:v>
                </c:pt>
                <c:pt idx="1">
                  <c:v>Välittävä</c:v>
                </c:pt>
                <c:pt idx="2">
                  <c:v>Kohtelee ihmisiä arvostavasti</c:v>
                </c:pt>
                <c:pt idx="3">
                  <c:v>Inhimillinen</c:v>
                </c:pt>
                <c:pt idx="4">
                  <c:v>Ammattitaitoinen</c:v>
                </c:pt>
                <c:pt idx="5">
                  <c:v>Kodikas</c:v>
                </c:pt>
                <c:pt idx="6">
                  <c:v>Luotettava</c:v>
                </c:pt>
                <c:pt idx="7">
                  <c:v>Rehellinen</c:v>
                </c:pt>
                <c:pt idx="8">
                  <c:v>Tarjoaa laadukkaita hoivapalveluita</c:v>
                </c:pt>
                <c:pt idx="9">
                  <c:v>Kehittää toimintatapojaan</c:v>
                </c:pt>
                <c:pt idx="10">
                  <c:v>Tarjoaa monipuolista ruokaa</c:v>
                </c:pt>
                <c:pt idx="11">
                  <c:v>Ahne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0.42</c:v>
                </c:pt>
                <c:pt idx="1">
                  <c:v>0.38</c:v>
                </c:pt>
                <c:pt idx="2">
                  <c:v>0.42</c:v>
                </c:pt>
                <c:pt idx="3">
                  <c:v>0.42</c:v>
                </c:pt>
                <c:pt idx="4">
                  <c:v>0.45</c:v>
                </c:pt>
                <c:pt idx="5">
                  <c:v>0.41</c:v>
                </c:pt>
                <c:pt idx="6">
                  <c:v>0.38</c:v>
                </c:pt>
                <c:pt idx="7">
                  <c:v>0.35</c:v>
                </c:pt>
                <c:pt idx="8">
                  <c:v>0.39</c:v>
                </c:pt>
                <c:pt idx="9">
                  <c:v>0.35</c:v>
                </c:pt>
                <c:pt idx="10">
                  <c:v>0.35</c:v>
                </c:pt>
                <c:pt idx="11">
                  <c:v>0.31</c:v>
                </c:pt>
                <c:pt idx="12">
                  <c:v>0.25</c:v>
                </c:pt>
                <c:pt idx="13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19-4744-9636-801E61E3ED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Mahdollistaa hyvän arjen</c:v>
                </c:pt>
                <c:pt idx="1">
                  <c:v>Välittävä</c:v>
                </c:pt>
                <c:pt idx="2">
                  <c:v>Kohtelee ihmisiä arvostavasti</c:v>
                </c:pt>
                <c:pt idx="3">
                  <c:v>Inhimillinen</c:v>
                </c:pt>
                <c:pt idx="4">
                  <c:v>Ammattitaitoinen</c:v>
                </c:pt>
                <c:pt idx="5">
                  <c:v>Kodikas</c:v>
                </c:pt>
                <c:pt idx="6">
                  <c:v>Luotettava</c:v>
                </c:pt>
                <c:pt idx="7">
                  <c:v>Rehellinen</c:v>
                </c:pt>
                <c:pt idx="8">
                  <c:v>Tarjoaa laadukkaita hoivapalveluita</c:v>
                </c:pt>
                <c:pt idx="9">
                  <c:v>Kehittää toimintatapojaan</c:v>
                </c:pt>
                <c:pt idx="10">
                  <c:v>Tarjoaa monipuolista ruokaa</c:v>
                </c:pt>
                <c:pt idx="11">
                  <c:v>Ahne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Sheet1!$E$2:$E$15</c:f>
              <c:numCache>
                <c:formatCode>0%</c:formatCode>
                <c:ptCount val="14"/>
                <c:pt idx="0">
                  <c:v>0.41</c:v>
                </c:pt>
                <c:pt idx="1">
                  <c:v>0.41</c:v>
                </c:pt>
                <c:pt idx="2">
                  <c:v>0.38</c:v>
                </c:pt>
                <c:pt idx="3">
                  <c:v>0.38</c:v>
                </c:pt>
                <c:pt idx="4">
                  <c:v>0.37</c:v>
                </c:pt>
                <c:pt idx="5">
                  <c:v>0.37</c:v>
                </c:pt>
                <c:pt idx="6">
                  <c:v>0.36</c:v>
                </c:pt>
                <c:pt idx="7">
                  <c:v>0.35</c:v>
                </c:pt>
                <c:pt idx="8">
                  <c:v>0.34</c:v>
                </c:pt>
                <c:pt idx="9">
                  <c:v>0.33</c:v>
                </c:pt>
                <c:pt idx="10">
                  <c:v>0.33</c:v>
                </c:pt>
                <c:pt idx="11">
                  <c:v>0.33</c:v>
                </c:pt>
                <c:pt idx="12">
                  <c:v>0.26</c:v>
                </c:pt>
                <c:pt idx="13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11-4CCC-89CD-5769C3D4FA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9466384"/>
        <c:axId val="1309466864"/>
      </c:barChart>
      <c:catAx>
        <c:axId val="130946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309466864"/>
        <c:crosses val="autoZero"/>
        <c:auto val="1"/>
        <c:lblAlgn val="ctr"/>
        <c:lblOffset val="100"/>
        <c:noMultiLvlLbl val="0"/>
      </c:catAx>
      <c:valAx>
        <c:axId val="13094668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30946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75086039324323"/>
          <c:y val="0.87877625951000782"/>
          <c:w val="0.42145117631307683"/>
          <c:h val="6.63020579016678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770605193220994E-2"/>
          <c:y val="3.8267398997487281E-2"/>
          <c:w val="0.97445878961355803"/>
          <c:h val="0.677821776419211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Luotettava</c:v>
                </c:pt>
                <c:pt idx="2">
                  <c:v>Välittävä</c:v>
                </c:pt>
                <c:pt idx="3">
                  <c:v>Kodikas</c:v>
                </c:pt>
                <c:pt idx="4">
                  <c:v>Kohtelee ihmisiä arvostavasti</c:v>
                </c:pt>
                <c:pt idx="5">
                  <c:v>Mahdollistaa hyvän arjen</c:v>
                </c:pt>
                <c:pt idx="6">
                  <c:v>Inhimillinen</c:v>
                </c:pt>
                <c:pt idx="7">
                  <c:v>Kehittää toimintatapojaan</c:v>
                </c:pt>
                <c:pt idx="8">
                  <c:v>Tarjoaa laadukkaita hoivapalveluita</c:v>
                </c:pt>
                <c:pt idx="9">
                  <c:v>Ahne</c:v>
                </c:pt>
                <c:pt idx="10">
                  <c:v>Rehellinen</c:v>
                </c:pt>
                <c:pt idx="11">
                  <c:v>Tarjoaa monipuolista ruokaa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0.46</c:v>
                </c:pt>
                <c:pt idx="1">
                  <c:v>0.46</c:v>
                </c:pt>
                <c:pt idx="2">
                  <c:v>0.42</c:v>
                </c:pt>
                <c:pt idx="3">
                  <c:v>0.42</c:v>
                </c:pt>
                <c:pt idx="4">
                  <c:v>0.47</c:v>
                </c:pt>
                <c:pt idx="5">
                  <c:v>0.45</c:v>
                </c:pt>
                <c:pt idx="6">
                  <c:v>0.43</c:v>
                </c:pt>
                <c:pt idx="7">
                  <c:v>0.43</c:v>
                </c:pt>
                <c:pt idx="8">
                  <c:v>0.45</c:v>
                </c:pt>
                <c:pt idx="9">
                  <c:v>0.45</c:v>
                </c:pt>
                <c:pt idx="10">
                  <c:v>0.46</c:v>
                </c:pt>
                <c:pt idx="11">
                  <c:v>0.43</c:v>
                </c:pt>
                <c:pt idx="12">
                  <c:v>0.42</c:v>
                </c:pt>
                <c:pt idx="13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9-4744-9636-801E61E3ED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Luotettava</c:v>
                </c:pt>
                <c:pt idx="2">
                  <c:v>Välittävä</c:v>
                </c:pt>
                <c:pt idx="3">
                  <c:v>Kodikas</c:v>
                </c:pt>
                <c:pt idx="4">
                  <c:v>Kohtelee ihmisiä arvostavasti</c:v>
                </c:pt>
                <c:pt idx="5">
                  <c:v>Mahdollistaa hyvän arjen</c:v>
                </c:pt>
                <c:pt idx="6">
                  <c:v>Inhimillinen</c:v>
                </c:pt>
                <c:pt idx="7">
                  <c:v>Kehittää toimintatapojaan</c:v>
                </c:pt>
                <c:pt idx="8">
                  <c:v>Tarjoaa laadukkaita hoivapalveluita</c:v>
                </c:pt>
                <c:pt idx="9">
                  <c:v>Ahne</c:v>
                </c:pt>
                <c:pt idx="10">
                  <c:v>Rehellinen</c:v>
                </c:pt>
                <c:pt idx="11">
                  <c:v>Tarjoaa monipuolista ruokaa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0.39</c:v>
                </c:pt>
                <c:pt idx="1">
                  <c:v>0.42</c:v>
                </c:pt>
                <c:pt idx="2">
                  <c:v>0.42</c:v>
                </c:pt>
                <c:pt idx="3">
                  <c:v>0.36</c:v>
                </c:pt>
                <c:pt idx="4">
                  <c:v>0.41</c:v>
                </c:pt>
                <c:pt idx="5">
                  <c:v>0.49</c:v>
                </c:pt>
                <c:pt idx="6">
                  <c:v>0.36</c:v>
                </c:pt>
                <c:pt idx="7">
                  <c:v>0.39</c:v>
                </c:pt>
                <c:pt idx="8">
                  <c:v>0.41</c:v>
                </c:pt>
                <c:pt idx="9">
                  <c:v>0.42</c:v>
                </c:pt>
                <c:pt idx="10">
                  <c:v>0.42</c:v>
                </c:pt>
                <c:pt idx="11">
                  <c:v>0.36</c:v>
                </c:pt>
                <c:pt idx="12">
                  <c:v>0.37</c:v>
                </c:pt>
                <c:pt idx="13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19-4744-9636-801E61E3ED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Luotettava</c:v>
                </c:pt>
                <c:pt idx="2">
                  <c:v>Välittävä</c:v>
                </c:pt>
                <c:pt idx="3">
                  <c:v>Kodikas</c:v>
                </c:pt>
                <c:pt idx="4">
                  <c:v>Kohtelee ihmisiä arvostavasti</c:v>
                </c:pt>
                <c:pt idx="5">
                  <c:v>Mahdollistaa hyvän arjen</c:v>
                </c:pt>
                <c:pt idx="6">
                  <c:v>Inhimillinen</c:v>
                </c:pt>
                <c:pt idx="7">
                  <c:v>Kehittää toimintatapojaan</c:v>
                </c:pt>
                <c:pt idx="8">
                  <c:v>Tarjoaa laadukkaita hoivapalveluita</c:v>
                </c:pt>
                <c:pt idx="9">
                  <c:v>Ahne</c:v>
                </c:pt>
                <c:pt idx="10">
                  <c:v>Rehellinen</c:v>
                </c:pt>
                <c:pt idx="11">
                  <c:v>Tarjoaa monipuolista ruokaa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0.47</c:v>
                </c:pt>
                <c:pt idx="1">
                  <c:v>0.4</c:v>
                </c:pt>
                <c:pt idx="2">
                  <c:v>0.45</c:v>
                </c:pt>
                <c:pt idx="3">
                  <c:v>0.4</c:v>
                </c:pt>
                <c:pt idx="4">
                  <c:v>0.47</c:v>
                </c:pt>
                <c:pt idx="5">
                  <c:v>0.43</c:v>
                </c:pt>
                <c:pt idx="6">
                  <c:v>0.41</c:v>
                </c:pt>
                <c:pt idx="7">
                  <c:v>0.44</c:v>
                </c:pt>
                <c:pt idx="8">
                  <c:v>0.42</c:v>
                </c:pt>
                <c:pt idx="9">
                  <c:v>0.39</c:v>
                </c:pt>
                <c:pt idx="10">
                  <c:v>0.41</c:v>
                </c:pt>
                <c:pt idx="11">
                  <c:v>0.39</c:v>
                </c:pt>
                <c:pt idx="12">
                  <c:v>0.35</c:v>
                </c:pt>
                <c:pt idx="13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19-4744-9636-801E61E3ED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Luotettava</c:v>
                </c:pt>
                <c:pt idx="2">
                  <c:v>Välittävä</c:v>
                </c:pt>
                <c:pt idx="3">
                  <c:v>Kodikas</c:v>
                </c:pt>
                <c:pt idx="4">
                  <c:v>Kohtelee ihmisiä arvostavasti</c:v>
                </c:pt>
                <c:pt idx="5">
                  <c:v>Mahdollistaa hyvän arjen</c:v>
                </c:pt>
                <c:pt idx="6">
                  <c:v>Inhimillinen</c:v>
                </c:pt>
                <c:pt idx="7">
                  <c:v>Kehittää toimintatapojaan</c:v>
                </c:pt>
                <c:pt idx="8">
                  <c:v>Tarjoaa laadukkaita hoivapalveluita</c:v>
                </c:pt>
                <c:pt idx="9">
                  <c:v>Ahne</c:v>
                </c:pt>
                <c:pt idx="10">
                  <c:v>Rehellinen</c:v>
                </c:pt>
                <c:pt idx="11">
                  <c:v>Tarjoaa monipuolista ruokaa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Sheet1!$E$2:$E$15</c:f>
              <c:numCache>
                <c:formatCode>0%</c:formatCode>
                <c:ptCount val="14"/>
                <c:pt idx="0">
                  <c:v>0.47</c:v>
                </c:pt>
                <c:pt idx="1">
                  <c:v>0.46</c:v>
                </c:pt>
                <c:pt idx="2">
                  <c:v>0.44</c:v>
                </c:pt>
                <c:pt idx="3">
                  <c:v>0.43</c:v>
                </c:pt>
                <c:pt idx="4">
                  <c:v>0.42</c:v>
                </c:pt>
                <c:pt idx="5">
                  <c:v>0.42</c:v>
                </c:pt>
                <c:pt idx="6">
                  <c:v>0.42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0.37</c:v>
                </c:pt>
                <c:pt idx="11">
                  <c:v>0.36</c:v>
                </c:pt>
                <c:pt idx="12">
                  <c:v>0.34</c:v>
                </c:pt>
                <c:pt idx="13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D5-476C-9F0E-F249E629DA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9466384"/>
        <c:axId val="1309466864"/>
      </c:barChart>
      <c:catAx>
        <c:axId val="130946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309466864"/>
        <c:crosses val="autoZero"/>
        <c:auto val="1"/>
        <c:lblAlgn val="ctr"/>
        <c:lblOffset val="100"/>
        <c:noMultiLvlLbl val="0"/>
      </c:catAx>
      <c:valAx>
        <c:axId val="13094668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30946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75086039324323"/>
          <c:y val="0.87877625951000782"/>
          <c:w val="0.42145117631307683"/>
          <c:h val="6.63020579016678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770605193220994E-2"/>
          <c:y val="3.8267398997487281E-2"/>
          <c:w val="0.97445878961355803"/>
          <c:h val="0.677821776419211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Mahdollistaa hyvän arjen</c:v>
                </c:pt>
                <c:pt idx="2">
                  <c:v>Kohtelee ihmisiä arvostavasti</c:v>
                </c:pt>
                <c:pt idx="3">
                  <c:v>Inhimillinen</c:v>
                </c:pt>
                <c:pt idx="4">
                  <c:v>Tarjoaa laadukkaita hoivapalveluita</c:v>
                </c:pt>
                <c:pt idx="5">
                  <c:v>Kodikas</c:v>
                </c:pt>
                <c:pt idx="6">
                  <c:v>Rehellinen</c:v>
                </c:pt>
                <c:pt idx="7">
                  <c:v>Välittävä</c:v>
                </c:pt>
                <c:pt idx="8">
                  <c:v>Luotettava</c:v>
                </c:pt>
                <c:pt idx="9">
                  <c:v>Tarjoaa monipuolista ruokaa</c:v>
                </c:pt>
                <c:pt idx="10">
                  <c:v>Kehittää toimintatapojaan</c:v>
                </c:pt>
                <c:pt idx="11">
                  <c:v>Edelläkävijä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0.51</c:v>
                </c:pt>
                <c:pt idx="1">
                  <c:v>0.48</c:v>
                </c:pt>
                <c:pt idx="2">
                  <c:v>0.52</c:v>
                </c:pt>
                <c:pt idx="3">
                  <c:v>0.49</c:v>
                </c:pt>
                <c:pt idx="4">
                  <c:v>0.5</c:v>
                </c:pt>
                <c:pt idx="5">
                  <c:v>0.48</c:v>
                </c:pt>
                <c:pt idx="6">
                  <c:v>0.46</c:v>
                </c:pt>
                <c:pt idx="7">
                  <c:v>0.46</c:v>
                </c:pt>
                <c:pt idx="8">
                  <c:v>0.47</c:v>
                </c:pt>
                <c:pt idx="9">
                  <c:v>0.49</c:v>
                </c:pt>
                <c:pt idx="10">
                  <c:v>0.47</c:v>
                </c:pt>
                <c:pt idx="11">
                  <c:v>0.34</c:v>
                </c:pt>
                <c:pt idx="12">
                  <c:v>0.32</c:v>
                </c:pt>
                <c:pt idx="13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9-4744-9636-801E61E3ED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Mahdollistaa hyvän arjen</c:v>
                </c:pt>
                <c:pt idx="2">
                  <c:v>Kohtelee ihmisiä arvostavasti</c:v>
                </c:pt>
                <c:pt idx="3">
                  <c:v>Inhimillinen</c:v>
                </c:pt>
                <c:pt idx="4">
                  <c:v>Tarjoaa laadukkaita hoivapalveluita</c:v>
                </c:pt>
                <c:pt idx="5">
                  <c:v>Kodikas</c:v>
                </c:pt>
                <c:pt idx="6">
                  <c:v>Rehellinen</c:v>
                </c:pt>
                <c:pt idx="7">
                  <c:v>Välittävä</c:v>
                </c:pt>
                <c:pt idx="8">
                  <c:v>Luotettava</c:v>
                </c:pt>
                <c:pt idx="9">
                  <c:v>Tarjoaa monipuolista ruokaa</c:v>
                </c:pt>
                <c:pt idx="10">
                  <c:v>Kehittää toimintatapojaan</c:v>
                </c:pt>
                <c:pt idx="11">
                  <c:v>Edelläkävijä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0.39</c:v>
                </c:pt>
                <c:pt idx="1">
                  <c:v>0.43</c:v>
                </c:pt>
                <c:pt idx="2">
                  <c:v>0.41</c:v>
                </c:pt>
                <c:pt idx="3">
                  <c:v>0.42</c:v>
                </c:pt>
                <c:pt idx="4">
                  <c:v>0.41</c:v>
                </c:pt>
                <c:pt idx="5">
                  <c:v>0.41</c:v>
                </c:pt>
                <c:pt idx="6">
                  <c:v>0.38</c:v>
                </c:pt>
                <c:pt idx="7">
                  <c:v>0.43</c:v>
                </c:pt>
                <c:pt idx="8">
                  <c:v>0.4</c:v>
                </c:pt>
                <c:pt idx="9">
                  <c:v>0.41</c:v>
                </c:pt>
                <c:pt idx="10">
                  <c:v>0.36</c:v>
                </c:pt>
                <c:pt idx="11">
                  <c:v>0.31</c:v>
                </c:pt>
                <c:pt idx="12">
                  <c:v>0.3</c:v>
                </c:pt>
                <c:pt idx="13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19-4744-9636-801E61E3ED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Mahdollistaa hyvän arjen</c:v>
                </c:pt>
                <c:pt idx="2">
                  <c:v>Kohtelee ihmisiä arvostavasti</c:v>
                </c:pt>
                <c:pt idx="3">
                  <c:v>Inhimillinen</c:v>
                </c:pt>
                <c:pt idx="4">
                  <c:v>Tarjoaa laadukkaita hoivapalveluita</c:v>
                </c:pt>
                <c:pt idx="5">
                  <c:v>Kodikas</c:v>
                </c:pt>
                <c:pt idx="6">
                  <c:v>Rehellinen</c:v>
                </c:pt>
                <c:pt idx="7">
                  <c:v>Välittävä</c:v>
                </c:pt>
                <c:pt idx="8">
                  <c:v>Luotettava</c:v>
                </c:pt>
                <c:pt idx="9">
                  <c:v>Tarjoaa monipuolista ruokaa</c:v>
                </c:pt>
                <c:pt idx="10">
                  <c:v>Kehittää toimintatapojaan</c:v>
                </c:pt>
                <c:pt idx="11">
                  <c:v>Edelläkävijä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0.43</c:v>
                </c:pt>
                <c:pt idx="1">
                  <c:v>0.43</c:v>
                </c:pt>
                <c:pt idx="2">
                  <c:v>0.46</c:v>
                </c:pt>
                <c:pt idx="3">
                  <c:v>0.42</c:v>
                </c:pt>
                <c:pt idx="4">
                  <c:v>0.44</c:v>
                </c:pt>
                <c:pt idx="5">
                  <c:v>0.43</c:v>
                </c:pt>
                <c:pt idx="6">
                  <c:v>0.38</c:v>
                </c:pt>
                <c:pt idx="7">
                  <c:v>0.41</c:v>
                </c:pt>
                <c:pt idx="8">
                  <c:v>0.41</c:v>
                </c:pt>
                <c:pt idx="9">
                  <c:v>0.32</c:v>
                </c:pt>
                <c:pt idx="10">
                  <c:v>0.35</c:v>
                </c:pt>
                <c:pt idx="11">
                  <c:v>0.26</c:v>
                </c:pt>
                <c:pt idx="12">
                  <c:v>0.28000000000000003</c:v>
                </c:pt>
                <c:pt idx="13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19-4744-9636-801E61E3ED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Mahdollistaa hyvän arjen</c:v>
                </c:pt>
                <c:pt idx="2">
                  <c:v>Kohtelee ihmisiä arvostavasti</c:v>
                </c:pt>
                <c:pt idx="3">
                  <c:v>Inhimillinen</c:v>
                </c:pt>
                <c:pt idx="4">
                  <c:v>Tarjoaa laadukkaita hoivapalveluita</c:v>
                </c:pt>
                <c:pt idx="5">
                  <c:v>Kodikas</c:v>
                </c:pt>
                <c:pt idx="6">
                  <c:v>Rehellinen</c:v>
                </c:pt>
                <c:pt idx="7">
                  <c:v>Välittävä</c:v>
                </c:pt>
                <c:pt idx="8">
                  <c:v>Luotettava</c:v>
                </c:pt>
                <c:pt idx="9">
                  <c:v>Tarjoaa monipuolista ruokaa</c:v>
                </c:pt>
                <c:pt idx="10">
                  <c:v>Kehittää toimintatapojaan</c:v>
                </c:pt>
                <c:pt idx="11">
                  <c:v>Edelläkävijä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Sheet1!$E$2:$E$15</c:f>
              <c:numCache>
                <c:formatCode>0%</c:formatCode>
                <c:ptCount val="14"/>
                <c:pt idx="0">
                  <c:v>0.55000000000000004</c:v>
                </c:pt>
                <c:pt idx="1">
                  <c:v>0.54</c:v>
                </c:pt>
                <c:pt idx="2">
                  <c:v>0.51</c:v>
                </c:pt>
                <c:pt idx="3">
                  <c:v>0.51</c:v>
                </c:pt>
                <c:pt idx="4">
                  <c:v>0.5</c:v>
                </c:pt>
                <c:pt idx="5">
                  <c:v>0.49</c:v>
                </c:pt>
                <c:pt idx="6">
                  <c:v>0.46</c:v>
                </c:pt>
                <c:pt idx="7">
                  <c:v>0.45</c:v>
                </c:pt>
                <c:pt idx="8">
                  <c:v>0.45</c:v>
                </c:pt>
                <c:pt idx="9">
                  <c:v>0.42</c:v>
                </c:pt>
                <c:pt idx="10">
                  <c:v>0.42</c:v>
                </c:pt>
                <c:pt idx="11">
                  <c:v>0.37</c:v>
                </c:pt>
                <c:pt idx="12">
                  <c:v>0.25</c:v>
                </c:pt>
                <c:pt idx="1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5A-41E1-955C-53BDBE94B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9466384"/>
        <c:axId val="1309466864"/>
      </c:barChart>
      <c:catAx>
        <c:axId val="130946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309466864"/>
        <c:crosses val="autoZero"/>
        <c:auto val="1"/>
        <c:lblAlgn val="ctr"/>
        <c:lblOffset val="100"/>
        <c:noMultiLvlLbl val="0"/>
      </c:catAx>
      <c:valAx>
        <c:axId val="13094668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30946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75086039324323"/>
          <c:y val="0.87877625951000782"/>
          <c:w val="0.42145117631307683"/>
          <c:h val="6.63020579016678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770605193220994E-2"/>
          <c:y val="3.8267398997487281E-2"/>
          <c:w val="0.97445878961355803"/>
          <c:h val="0.677821776419211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Kodikas</c:v>
                </c:pt>
                <c:pt idx="1">
                  <c:v>Inhimillinen</c:v>
                </c:pt>
                <c:pt idx="2">
                  <c:v>Kohtelee ihmisiä arvostavasti</c:v>
                </c:pt>
                <c:pt idx="3">
                  <c:v>Mahdollistaa hyvän arjen</c:v>
                </c:pt>
                <c:pt idx="4">
                  <c:v>Ammattitaitoinen</c:v>
                </c:pt>
                <c:pt idx="5">
                  <c:v>Luotettava</c:v>
                </c:pt>
                <c:pt idx="6">
                  <c:v>Tarjoaa laadukkaita hoivapalveluita</c:v>
                </c:pt>
                <c:pt idx="7">
                  <c:v>Välittävä</c:v>
                </c:pt>
                <c:pt idx="8">
                  <c:v>Kehittää toimintatapojaan</c:v>
                </c:pt>
                <c:pt idx="9">
                  <c:v>Rehellinen</c:v>
                </c:pt>
                <c:pt idx="10">
                  <c:v>Tarjoaa monipuolista ruokaa</c:v>
                </c:pt>
                <c:pt idx="11">
                  <c:v>Edelläkävijä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0.49</c:v>
                </c:pt>
                <c:pt idx="1">
                  <c:v>0.5</c:v>
                </c:pt>
                <c:pt idx="2">
                  <c:v>0.5</c:v>
                </c:pt>
                <c:pt idx="3">
                  <c:v>0.52</c:v>
                </c:pt>
                <c:pt idx="4">
                  <c:v>0.49</c:v>
                </c:pt>
                <c:pt idx="5">
                  <c:v>0.51</c:v>
                </c:pt>
                <c:pt idx="6">
                  <c:v>0.49</c:v>
                </c:pt>
                <c:pt idx="7">
                  <c:v>0.49</c:v>
                </c:pt>
                <c:pt idx="8">
                  <c:v>0.47</c:v>
                </c:pt>
                <c:pt idx="9">
                  <c:v>0.48</c:v>
                </c:pt>
                <c:pt idx="10">
                  <c:v>0.46</c:v>
                </c:pt>
                <c:pt idx="11">
                  <c:v>0.42</c:v>
                </c:pt>
                <c:pt idx="12">
                  <c:v>0.4</c:v>
                </c:pt>
                <c:pt idx="1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9-4744-9636-801E61E3ED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Kodikas</c:v>
                </c:pt>
                <c:pt idx="1">
                  <c:v>Inhimillinen</c:v>
                </c:pt>
                <c:pt idx="2">
                  <c:v>Kohtelee ihmisiä arvostavasti</c:v>
                </c:pt>
                <c:pt idx="3">
                  <c:v>Mahdollistaa hyvän arjen</c:v>
                </c:pt>
                <c:pt idx="4">
                  <c:v>Ammattitaitoinen</c:v>
                </c:pt>
                <c:pt idx="5">
                  <c:v>Luotettava</c:v>
                </c:pt>
                <c:pt idx="6">
                  <c:v>Tarjoaa laadukkaita hoivapalveluita</c:v>
                </c:pt>
                <c:pt idx="7">
                  <c:v>Välittävä</c:v>
                </c:pt>
                <c:pt idx="8">
                  <c:v>Kehittää toimintatapojaan</c:v>
                </c:pt>
                <c:pt idx="9">
                  <c:v>Rehellinen</c:v>
                </c:pt>
                <c:pt idx="10">
                  <c:v>Tarjoaa monipuolista ruokaa</c:v>
                </c:pt>
                <c:pt idx="11">
                  <c:v>Edelläkävijä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0.39</c:v>
                </c:pt>
                <c:pt idx="1">
                  <c:v>0.39</c:v>
                </c:pt>
                <c:pt idx="2">
                  <c:v>0.42</c:v>
                </c:pt>
                <c:pt idx="3">
                  <c:v>0.41</c:v>
                </c:pt>
                <c:pt idx="4">
                  <c:v>0.45</c:v>
                </c:pt>
                <c:pt idx="5">
                  <c:v>0.41</c:v>
                </c:pt>
                <c:pt idx="6">
                  <c:v>0.4</c:v>
                </c:pt>
                <c:pt idx="7">
                  <c:v>0.42</c:v>
                </c:pt>
                <c:pt idx="8">
                  <c:v>0.38</c:v>
                </c:pt>
                <c:pt idx="9">
                  <c:v>0.4</c:v>
                </c:pt>
                <c:pt idx="10">
                  <c:v>0.41</c:v>
                </c:pt>
                <c:pt idx="11">
                  <c:v>0.31</c:v>
                </c:pt>
                <c:pt idx="12">
                  <c:v>0.36</c:v>
                </c:pt>
                <c:pt idx="13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19-4744-9636-801E61E3ED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Kodikas</c:v>
                </c:pt>
                <c:pt idx="1">
                  <c:v>Inhimillinen</c:v>
                </c:pt>
                <c:pt idx="2">
                  <c:v>Kohtelee ihmisiä arvostavasti</c:v>
                </c:pt>
                <c:pt idx="3">
                  <c:v>Mahdollistaa hyvän arjen</c:v>
                </c:pt>
                <c:pt idx="4">
                  <c:v>Ammattitaitoinen</c:v>
                </c:pt>
                <c:pt idx="5">
                  <c:v>Luotettava</c:v>
                </c:pt>
                <c:pt idx="6">
                  <c:v>Tarjoaa laadukkaita hoivapalveluita</c:v>
                </c:pt>
                <c:pt idx="7">
                  <c:v>Välittävä</c:v>
                </c:pt>
                <c:pt idx="8">
                  <c:v>Kehittää toimintatapojaan</c:v>
                </c:pt>
                <c:pt idx="9">
                  <c:v>Rehellinen</c:v>
                </c:pt>
                <c:pt idx="10">
                  <c:v>Tarjoaa monipuolista ruokaa</c:v>
                </c:pt>
                <c:pt idx="11">
                  <c:v>Edelläkävijä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0.38</c:v>
                </c:pt>
                <c:pt idx="1">
                  <c:v>0.41</c:v>
                </c:pt>
                <c:pt idx="2">
                  <c:v>0.4</c:v>
                </c:pt>
                <c:pt idx="3">
                  <c:v>0.42</c:v>
                </c:pt>
                <c:pt idx="4">
                  <c:v>0.44</c:v>
                </c:pt>
                <c:pt idx="5">
                  <c:v>0.39</c:v>
                </c:pt>
                <c:pt idx="6">
                  <c:v>0.38</c:v>
                </c:pt>
                <c:pt idx="7">
                  <c:v>0.38</c:v>
                </c:pt>
                <c:pt idx="8">
                  <c:v>0.31</c:v>
                </c:pt>
                <c:pt idx="9">
                  <c:v>0.35</c:v>
                </c:pt>
                <c:pt idx="10">
                  <c:v>0.28999999999999998</c:v>
                </c:pt>
                <c:pt idx="11">
                  <c:v>0.25</c:v>
                </c:pt>
                <c:pt idx="12">
                  <c:v>0.27</c:v>
                </c:pt>
                <c:pt idx="1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19-4744-9636-801E61E3ED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Kodikas</c:v>
                </c:pt>
                <c:pt idx="1">
                  <c:v>Inhimillinen</c:v>
                </c:pt>
                <c:pt idx="2">
                  <c:v>Kohtelee ihmisiä arvostavasti</c:v>
                </c:pt>
                <c:pt idx="3">
                  <c:v>Mahdollistaa hyvän arjen</c:v>
                </c:pt>
                <c:pt idx="4">
                  <c:v>Ammattitaitoinen</c:v>
                </c:pt>
                <c:pt idx="5">
                  <c:v>Luotettava</c:v>
                </c:pt>
                <c:pt idx="6">
                  <c:v>Tarjoaa laadukkaita hoivapalveluita</c:v>
                </c:pt>
                <c:pt idx="7">
                  <c:v>Välittävä</c:v>
                </c:pt>
                <c:pt idx="8">
                  <c:v>Kehittää toimintatapojaan</c:v>
                </c:pt>
                <c:pt idx="9">
                  <c:v>Rehellinen</c:v>
                </c:pt>
                <c:pt idx="10">
                  <c:v>Tarjoaa monipuolista ruokaa</c:v>
                </c:pt>
                <c:pt idx="11">
                  <c:v>Edelläkävijä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Sheet1!$E$2:$E$15</c:f>
              <c:numCache>
                <c:formatCode>0%</c:formatCode>
                <c:ptCount val="14"/>
                <c:pt idx="0">
                  <c:v>0.44</c:v>
                </c:pt>
                <c:pt idx="1">
                  <c:v>0.41</c:v>
                </c:pt>
                <c:pt idx="2">
                  <c:v>0.41</c:v>
                </c:pt>
                <c:pt idx="3">
                  <c:v>0.4</c:v>
                </c:pt>
                <c:pt idx="4">
                  <c:v>0.39</c:v>
                </c:pt>
                <c:pt idx="5">
                  <c:v>0.38</c:v>
                </c:pt>
                <c:pt idx="6">
                  <c:v>0.37</c:v>
                </c:pt>
                <c:pt idx="7">
                  <c:v>0.37</c:v>
                </c:pt>
                <c:pt idx="8">
                  <c:v>0.37</c:v>
                </c:pt>
                <c:pt idx="9">
                  <c:v>0.35</c:v>
                </c:pt>
                <c:pt idx="10">
                  <c:v>0.35</c:v>
                </c:pt>
                <c:pt idx="11">
                  <c:v>0.28999999999999998</c:v>
                </c:pt>
                <c:pt idx="12">
                  <c:v>0.28000000000000003</c:v>
                </c:pt>
                <c:pt idx="13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1-4605-BD15-EB4C0FB5C9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9466384"/>
        <c:axId val="1309466864"/>
      </c:barChart>
      <c:catAx>
        <c:axId val="130946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309466864"/>
        <c:crosses val="autoZero"/>
        <c:auto val="1"/>
        <c:lblAlgn val="ctr"/>
        <c:lblOffset val="100"/>
        <c:noMultiLvlLbl val="0"/>
      </c:catAx>
      <c:valAx>
        <c:axId val="13094668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30946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75086039324323"/>
          <c:y val="0.87877625951000782"/>
          <c:w val="0.42145117631307683"/>
          <c:h val="6.63020579016678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770605193220994E-2"/>
          <c:y val="3.8267398997487281E-2"/>
          <c:w val="0.97445878961355803"/>
          <c:h val="0.677821776419211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Toukokuu 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Kohtelee ihmisiä arvostavasti</c:v>
                </c:pt>
                <c:pt idx="2">
                  <c:v>Välittävä</c:v>
                </c:pt>
                <c:pt idx="3">
                  <c:v>Kodikas</c:v>
                </c:pt>
                <c:pt idx="4">
                  <c:v>Tarjoaa laadukkaita hoivapalveluita</c:v>
                </c:pt>
                <c:pt idx="5">
                  <c:v>Luotettava</c:v>
                </c:pt>
                <c:pt idx="6">
                  <c:v>Mahdollistaa hyvän arjen</c:v>
                </c:pt>
                <c:pt idx="7">
                  <c:v>Inhimillinen</c:v>
                </c:pt>
                <c:pt idx="8">
                  <c:v>Rehellinen</c:v>
                </c:pt>
                <c:pt idx="9">
                  <c:v>Kehittää toimintatapojaan</c:v>
                </c:pt>
                <c:pt idx="10">
                  <c:v>Edelläkävijä</c:v>
                </c:pt>
                <c:pt idx="11">
                  <c:v>Tarjoaa monipuolista ruokaa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0.37</c:v>
                </c:pt>
                <c:pt idx="1">
                  <c:v>0.31</c:v>
                </c:pt>
                <c:pt idx="2">
                  <c:v>0.41</c:v>
                </c:pt>
                <c:pt idx="3">
                  <c:v>0.22</c:v>
                </c:pt>
                <c:pt idx="4">
                  <c:v>0.28999999999999998</c:v>
                </c:pt>
                <c:pt idx="5">
                  <c:v>0.32</c:v>
                </c:pt>
                <c:pt idx="6">
                  <c:v>0.37</c:v>
                </c:pt>
                <c:pt idx="7">
                  <c:v>0.38</c:v>
                </c:pt>
                <c:pt idx="8">
                  <c:v>0.35</c:v>
                </c:pt>
                <c:pt idx="9">
                  <c:v>0.26</c:v>
                </c:pt>
                <c:pt idx="10">
                  <c:v>0.28000000000000003</c:v>
                </c:pt>
                <c:pt idx="11">
                  <c:v>0.37</c:v>
                </c:pt>
                <c:pt idx="12">
                  <c:v>0.37</c:v>
                </c:pt>
                <c:pt idx="13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9-4744-9636-801E61E3ED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Marraskuu 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Kohtelee ihmisiä arvostavasti</c:v>
                </c:pt>
                <c:pt idx="2">
                  <c:v>Välittävä</c:v>
                </c:pt>
                <c:pt idx="3">
                  <c:v>Kodikas</c:v>
                </c:pt>
                <c:pt idx="4">
                  <c:v>Tarjoaa laadukkaita hoivapalveluita</c:v>
                </c:pt>
                <c:pt idx="5">
                  <c:v>Luotettava</c:v>
                </c:pt>
                <c:pt idx="6">
                  <c:v>Mahdollistaa hyvän arjen</c:v>
                </c:pt>
                <c:pt idx="7">
                  <c:v>Inhimillinen</c:v>
                </c:pt>
                <c:pt idx="8">
                  <c:v>Rehellinen</c:v>
                </c:pt>
                <c:pt idx="9">
                  <c:v>Kehittää toimintatapojaan</c:v>
                </c:pt>
                <c:pt idx="10">
                  <c:v>Edelläkävijä</c:v>
                </c:pt>
                <c:pt idx="11">
                  <c:v>Tarjoaa monipuolista ruokaa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0.43</c:v>
                </c:pt>
                <c:pt idx="1">
                  <c:v>0.37</c:v>
                </c:pt>
                <c:pt idx="2">
                  <c:v>0.38</c:v>
                </c:pt>
                <c:pt idx="3">
                  <c:v>0.35</c:v>
                </c:pt>
                <c:pt idx="4">
                  <c:v>0.37</c:v>
                </c:pt>
                <c:pt idx="5">
                  <c:v>0.37</c:v>
                </c:pt>
                <c:pt idx="6">
                  <c:v>0.4</c:v>
                </c:pt>
                <c:pt idx="7">
                  <c:v>0.39</c:v>
                </c:pt>
                <c:pt idx="8">
                  <c:v>0.31</c:v>
                </c:pt>
                <c:pt idx="9">
                  <c:v>0.32</c:v>
                </c:pt>
                <c:pt idx="10">
                  <c:v>0.28999999999999998</c:v>
                </c:pt>
                <c:pt idx="11">
                  <c:v>0.28999999999999998</c:v>
                </c:pt>
                <c:pt idx="12">
                  <c:v>0.25</c:v>
                </c:pt>
                <c:pt idx="13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19-4744-9636-801E61E3ED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Toukokuu 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Kohtelee ihmisiä arvostavasti</c:v>
                </c:pt>
                <c:pt idx="2">
                  <c:v>Välittävä</c:v>
                </c:pt>
                <c:pt idx="3">
                  <c:v>Kodikas</c:v>
                </c:pt>
                <c:pt idx="4">
                  <c:v>Tarjoaa laadukkaita hoivapalveluita</c:v>
                </c:pt>
                <c:pt idx="5">
                  <c:v>Luotettava</c:v>
                </c:pt>
                <c:pt idx="6">
                  <c:v>Mahdollistaa hyvän arjen</c:v>
                </c:pt>
                <c:pt idx="7">
                  <c:v>Inhimillinen</c:v>
                </c:pt>
                <c:pt idx="8">
                  <c:v>Rehellinen</c:v>
                </c:pt>
                <c:pt idx="9">
                  <c:v>Kehittää toimintatapojaan</c:v>
                </c:pt>
                <c:pt idx="10">
                  <c:v>Edelläkävijä</c:v>
                </c:pt>
                <c:pt idx="11">
                  <c:v>Tarjoaa monipuolista ruokaa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0.47</c:v>
                </c:pt>
                <c:pt idx="1">
                  <c:v>0.43</c:v>
                </c:pt>
                <c:pt idx="2">
                  <c:v>0.38</c:v>
                </c:pt>
                <c:pt idx="3">
                  <c:v>0.36</c:v>
                </c:pt>
                <c:pt idx="4">
                  <c:v>0.41</c:v>
                </c:pt>
                <c:pt idx="5">
                  <c:v>0.4</c:v>
                </c:pt>
                <c:pt idx="6">
                  <c:v>0.38</c:v>
                </c:pt>
                <c:pt idx="7">
                  <c:v>0.4</c:v>
                </c:pt>
                <c:pt idx="8">
                  <c:v>0.33</c:v>
                </c:pt>
                <c:pt idx="9">
                  <c:v>0.31</c:v>
                </c:pt>
                <c:pt idx="10">
                  <c:v>0.28000000000000003</c:v>
                </c:pt>
                <c:pt idx="11">
                  <c:v>0.28000000000000003</c:v>
                </c:pt>
                <c:pt idx="12">
                  <c:v>0.24</c:v>
                </c:pt>
                <c:pt idx="13">
                  <c:v>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319-4744-9636-801E61E3ED7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Marraskuu 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Kohtelee ihmisiä arvostavasti</c:v>
                </c:pt>
                <c:pt idx="2">
                  <c:v>Välittävä</c:v>
                </c:pt>
                <c:pt idx="3">
                  <c:v>Kodikas</c:v>
                </c:pt>
                <c:pt idx="4">
                  <c:v>Tarjoaa laadukkaita hoivapalveluita</c:v>
                </c:pt>
                <c:pt idx="5">
                  <c:v>Luotettava</c:v>
                </c:pt>
                <c:pt idx="6">
                  <c:v>Mahdollistaa hyvän arjen</c:v>
                </c:pt>
                <c:pt idx="7">
                  <c:v>Inhimillinen</c:v>
                </c:pt>
                <c:pt idx="8">
                  <c:v>Rehellinen</c:v>
                </c:pt>
                <c:pt idx="9">
                  <c:v>Kehittää toimintatapojaan</c:v>
                </c:pt>
                <c:pt idx="10">
                  <c:v>Edelläkävijä</c:v>
                </c:pt>
                <c:pt idx="11">
                  <c:v>Tarjoaa monipuolista ruokaa</c:v>
                </c:pt>
                <c:pt idx="12">
                  <c:v>Ahne</c:v>
                </c:pt>
                <c:pt idx="13">
                  <c:v>Välinpitämätön</c:v>
                </c:pt>
              </c:strCache>
            </c:strRef>
          </c:cat>
          <c:val>
            <c:numRef>
              <c:f>Sheet1!$E$2:$E$15</c:f>
              <c:numCache>
                <c:formatCode>0%</c:formatCode>
                <c:ptCount val="14"/>
                <c:pt idx="0">
                  <c:v>0.47</c:v>
                </c:pt>
                <c:pt idx="1">
                  <c:v>0.41</c:v>
                </c:pt>
                <c:pt idx="2">
                  <c:v>0.4</c:v>
                </c:pt>
                <c:pt idx="3">
                  <c:v>0.4</c:v>
                </c:pt>
                <c:pt idx="4">
                  <c:v>0.39</c:v>
                </c:pt>
                <c:pt idx="5">
                  <c:v>0.39</c:v>
                </c:pt>
                <c:pt idx="6">
                  <c:v>0.39</c:v>
                </c:pt>
                <c:pt idx="7">
                  <c:v>0.37</c:v>
                </c:pt>
                <c:pt idx="8">
                  <c:v>0.36</c:v>
                </c:pt>
                <c:pt idx="9">
                  <c:v>0.34</c:v>
                </c:pt>
                <c:pt idx="10">
                  <c:v>0.32</c:v>
                </c:pt>
                <c:pt idx="11">
                  <c:v>0.28999999999999998</c:v>
                </c:pt>
                <c:pt idx="12">
                  <c:v>0.22</c:v>
                </c:pt>
                <c:pt idx="13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FD-4DF2-A337-379A808243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9466384"/>
        <c:axId val="1309466864"/>
      </c:barChart>
      <c:catAx>
        <c:axId val="130946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309466864"/>
        <c:crosses val="autoZero"/>
        <c:auto val="1"/>
        <c:lblAlgn val="ctr"/>
        <c:lblOffset val="100"/>
        <c:noMultiLvlLbl val="0"/>
      </c:catAx>
      <c:valAx>
        <c:axId val="13094668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30946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75086039324323"/>
          <c:y val="0.87877625951000782"/>
          <c:w val="0.42145117631307683"/>
          <c:h val="6.63020579016678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2770605193220994E-2"/>
          <c:y val="3.8267398997487281E-2"/>
          <c:w val="0.97445878961355803"/>
          <c:h val="0.677821776419211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Marraskuu 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Välittävä</c:v>
                </c:pt>
                <c:pt idx="2">
                  <c:v>Tarjoaa laadukkaita hoivapalveluita</c:v>
                </c:pt>
                <c:pt idx="3">
                  <c:v>Inhimillinen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Rehellinen</c:v>
                </c:pt>
                <c:pt idx="7">
                  <c:v>Mahdollistaa hyvän arjen</c:v>
                </c:pt>
                <c:pt idx="8">
                  <c:v>Ahne</c:v>
                </c:pt>
                <c:pt idx="9">
                  <c:v>Kehittää toimintatapojaan</c:v>
                </c:pt>
                <c:pt idx="10">
                  <c:v>Kodikas</c:v>
                </c:pt>
                <c:pt idx="11">
                  <c:v>Tarjoaa monipuolista ruokaa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0.39</c:v>
                </c:pt>
                <c:pt idx="1">
                  <c:v>0.31</c:v>
                </c:pt>
                <c:pt idx="2">
                  <c:v>0.34</c:v>
                </c:pt>
                <c:pt idx="3">
                  <c:v>0.31</c:v>
                </c:pt>
                <c:pt idx="4">
                  <c:v>0.31</c:v>
                </c:pt>
                <c:pt idx="5">
                  <c:v>0.35</c:v>
                </c:pt>
                <c:pt idx="6">
                  <c:v>0.28999999999999998</c:v>
                </c:pt>
                <c:pt idx="7">
                  <c:v>0.34</c:v>
                </c:pt>
                <c:pt idx="8">
                  <c:v>0.37</c:v>
                </c:pt>
                <c:pt idx="9">
                  <c:v>0.28000000000000003</c:v>
                </c:pt>
                <c:pt idx="10">
                  <c:v>0.28999999999999998</c:v>
                </c:pt>
                <c:pt idx="11">
                  <c:v>0.27</c:v>
                </c:pt>
                <c:pt idx="12">
                  <c:v>0.23</c:v>
                </c:pt>
                <c:pt idx="13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9-4744-9636-801E61E3ED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Toukokuu 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Välittävä</c:v>
                </c:pt>
                <c:pt idx="2">
                  <c:v>Tarjoaa laadukkaita hoivapalveluita</c:v>
                </c:pt>
                <c:pt idx="3">
                  <c:v>Inhimillinen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Rehellinen</c:v>
                </c:pt>
                <c:pt idx="7">
                  <c:v>Mahdollistaa hyvän arjen</c:v>
                </c:pt>
                <c:pt idx="8">
                  <c:v>Ahne</c:v>
                </c:pt>
                <c:pt idx="9">
                  <c:v>Kehittää toimintatapojaan</c:v>
                </c:pt>
                <c:pt idx="10">
                  <c:v>Kodikas</c:v>
                </c:pt>
                <c:pt idx="11">
                  <c:v>Tarjoaa monipuolista ruokaa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0.4</c:v>
                </c:pt>
                <c:pt idx="1">
                  <c:v>0.28999999999999998</c:v>
                </c:pt>
                <c:pt idx="2">
                  <c:v>0.33</c:v>
                </c:pt>
                <c:pt idx="3">
                  <c:v>0.32</c:v>
                </c:pt>
                <c:pt idx="4">
                  <c:v>0.32</c:v>
                </c:pt>
                <c:pt idx="5">
                  <c:v>0.35</c:v>
                </c:pt>
                <c:pt idx="6">
                  <c:v>0.3</c:v>
                </c:pt>
                <c:pt idx="7">
                  <c:v>0.35</c:v>
                </c:pt>
                <c:pt idx="8">
                  <c:v>0.35</c:v>
                </c:pt>
                <c:pt idx="9">
                  <c:v>0.24</c:v>
                </c:pt>
                <c:pt idx="10">
                  <c:v>0.28000000000000003</c:v>
                </c:pt>
                <c:pt idx="11">
                  <c:v>0.26</c:v>
                </c:pt>
                <c:pt idx="12">
                  <c:v>0.25</c:v>
                </c:pt>
                <c:pt idx="1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19-4744-9636-801E61E3ED7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Marraskuu 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Ammattitaitoinen</c:v>
                </c:pt>
                <c:pt idx="1">
                  <c:v>Välittävä</c:v>
                </c:pt>
                <c:pt idx="2">
                  <c:v>Tarjoaa laadukkaita hoivapalveluita</c:v>
                </c:pt>
                <c:pt idx="3">
                  <c:v>Inhimillinen</c:v>
                </c:pt>
                <c:pt idx="4">
                  <c:v>Luotettava</c:v>
                </c:pt>
                <c:pt idx="5">
                  <c:v>Kohtelee ihmisiä arvostavasti</c:v>
                </c:pt>
                <c:pt idx="6">
                  <c:v>Rehellinen</c:v>
                </c:pt>
                <c:pt idx="7">
                  <c:v>Mahdollistaa hyvän arjen</c:v>
                </c:pt>
                <c:pt idx="8">
                  <c:v>Ahne</c:v>
                </c:pt>
                <c:pt idx="9">
                  <c:v>Kehittää toimintatapojaan</c:v>
                </c:pt>
                <c:pt idx="10">
                  <c:v>Kodikas</c:v>
                </c:pt>
                <c:pt idx="11">
                  <c:v>Tarjoaa monipuolista ruokaa</c:v>
                </c:pt>
                <c:pt idx="12">
                  <c:v>Edelläkävijä</c:v>
                </c:pt>
                <c:pt idx="13">
                  <c:v>Välinpitämätön</c:v>
                </c:pt>
              </c:strCache>
            </c:strRef>
          </c:cat>
          <c:val>
            <c:numRef>
              <c:f>Sheet1!$D$2:$D$15</c:f>
              <c:numCache>
                <c:formatCode>0%</c:formatCode>
                <c:ptCount val="14"/>
                <c:pt idx="0">
                  <c:v>0.39</c:v>
                </c:pt>
                <c:pt idx="1">
                  <c:v>0.36</c:v>
                </c:pt>
                <c:pt idx="2">
                  <c:v>0.35</c:v>
                </c:pt>
                <c:pt idx="3">
                  <c:v>0.35</c:v>
                </c:pt>
                <c:pt idx="4">
                  <c:v>0.34</c:v>
                </c:pt>
                <c:pt idx="5">
                  <c:v>0.32</c:v>
                </c:pt>
                <c:pt idx="6">
                  <c:v>0.32</c:v>
                </c:pt>
                <c:pt idx="7">
                  <c:v>0.31</c:v>
                </c:pt>
                <c:pt idx="8">
                  <c:v>0.3</c:v>
                </c:pt>
                <c:pt idx="9">
                  <c:v>0.3</c:v>
                </c:pt>
                <c:pt idx="10">
                  <c:v>0.28000000000000003</c:v>
                </c:pt>
                <c:pt idx="11">
                  <c:v>0.26</c:v>
                </c:pt>
                <c:pt idx="12">
                  <c:v>0.26</c:v>
                </c:pt>
                <c:pt idx="13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75-4A04-A830-EFC3A59B2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9466384"/>
        <c:axId val="1309466864"/>
      </c:barChart>
      <c:catAx>
        <c:axId val="1309466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309466864"/>
        <c:crosses val="autoZero"/>
        <c:auto val="1"/>
        <c:lblAlgn val="ctr"/>
        <c:lblOffset val="100"/>
        <c:noMultiLvlLbl val="0"/>
      </c:catAx>
      <c:valAx>
        <c:axId val="13094668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309466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75086039324323"/>
          <c:y val="0.87877625951000782"/>
          <c:w val="0.31914334580662429"/>
          <c:h val="6.63020579016678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Marraskuu 2025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Esperi</c:v>
                </c:pt>
                <c:pt idx="3">
                  <c:v>Rinnekodit</c:v>
                </c:pt>
                <c:pt idx="4">
                  <c:v>Onnikodit</c:v>
                </c:pt>
                <c:pt idx="5">
                  <c:v>Mainio-kodit</c:v>
                </c:pt>
                <c:pt idx="6">
                  <c:v>Validia</c:v>
                </c:pt>
                <c:pt idx="7">
                  <c:v>Ykköskodit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0.37</c:v>
                </c:pt>
                <c:pt idx="1">
                  <c:v>0.28999999999999998</c:v>
                </c:pt>
                <c:pt idx="2">
                  <c:v>0.18</c:v>
                </c:pt>
                <c:pt idx="3">
                  <c:v>0.18</c:v>
                </c:pt>
                <c:pt idx="4">
                  <c:v>0.17</c:v>
                </c:pt>
                <c:pt idx="5">
                  <c:v>0.13</c:v>
                </c:pt>
                <c:pt idx="6">
                  <c:v>0.11</c:v>
                </c:pt>
                <c:pt idx="7">
                  <c:v>0.11</c:v>
                </c:pt>
                <c:pt idx="8">
                  <c:v>0.09</c:v>
                </c:pt>
                <c:pt idx="9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F5-4CAD-AAA8-A958B3F031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Toukokuu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Esperi</c:v>
                </c:pt>
                <c:pt idx="3">
                  <c:v>Rinnekodit</c:v>
                </c:pt>
                <c:pt idx="4">
                  <c:v>Onnikodit</c:v>
                </c:pt>
                <c:pt idx="5">
                  <c:v>Mainio-kodit</c:v>
                </c:pt>
                <c:pt idx="6">
                  <c:v>Validia</c:v>
                </c:pt>
                <c:pt idx="7">
                  <c:v>Ykköskodit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0.4</c:v>
                </c:pt>
                <c:pt idx="1">
                  <c:v>0.25</c:v>
                </c:pt>
                <c:pt idx="2">
                  <c:v>0.19</c:v>
                </c:pt>
                <c:pt idx="3">
                  <c:v>0.18</c:v>
                </c:pt>
                <c:pt idx="4">
                  <c:v>0.17</c:v>
                </c:pt>
                <c:pt idx="5">
                  <c:v>0.12</c:v>
                </c:pt>
                <c:pt idx="6">
                  <c:v>0.12</c:v>
                </c:pt>
                <c:pt idx="7">
                  <c:v>0.09</c:v>
                </c:pt>
                <c:pt idx="8">
                  <c:v>0.08</c:v>
                </c:pt>
                <c:pt idx="9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FEB-4FA3-9FCD-9F963E48812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Marraskuu 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Esperi</c:v>
                </c:pt>
                <c:pt idx="3">
                  <c:v>Rinnekodit</c:v>
                </c:pt>
                <c:pt idx="4">
                  <c:v>Onnikodit</c:v>
                </c:pt>
                <c:pt idx="5">
                  <c:v>Mainio-kodit</c:v>
                </c:pt>
                <c:pt idx="6">
                  <c:v>Validia</c:v>
                </c:pt>
                <c:pt idx="7">
                  <c:v>Ykköskodit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Sheet1!$D$2:$D$11</c:f>
              <c:numCache>
                <c:formatCode>0%</c:formatCode>
                <c:ptCount val="10"/>
                <c:pt idx="0">
                  <c:v>0.39</c:v>
                </c:pt>
                <c:pt idx="1">
                  <c:v>0.27</c:v>
                </c:pt>
                <c:pt idx="2">
                  <c:v>0.18</c:v>
                </c:pt>
                <c:pt idx="3">
                  <c:v>0.18</c:v>
                </c:pt>
                <c:pt idx="4">
                  <c:v>0.15</c:v>
                </c:pt>
                <c:pt idx="5">
                  <c:v>0.16</c:v>
                </c:pt>
                <c:pt idx="6">
                  <c:v>0.12</c:v>
                </c:pt>
                <c:pt idx="7">
                  <c:v>0.13</c:v>
                </c:pt>
                <c:pt idx="8">
                  <c:v>0.11</c:v>
                </c:pt>
                <c:pt idx="9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27-4FDB-A759-FBC42BC62CE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Toukokuu 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Esperi</c:v>
                </c:pt>
                <c:pt idx="3">
                  <c:v>Rinnekodit</c:v>
                </c:pt>
                <c:pt idx="4">
                  <c:v>Onnikodit</c:v>
                </c:pt>
                <c:pt idx="5">
                  <c:v>Mainio-kodit</c:v>
                </c:pt>
                <c:pt idx="6">
                  <c:v>Validia</c:v>
                </c:pt>
                <c:pt idx="7">
                  <c:v>Ykköskodit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Sheet1!$E$2:$E$11</c:f>
              <c:numCache>
                <c:formatCode>###0%</c:formatCode>
                <c:ptCount val="10"/>
                <c:pt idx="0">
                  <c:v>0.41</c:v>
                </c:pt>
                <c:pt idx="1">
                  <c:v>0.26</c:v>
                </c:pt>
                <c:pt idx="2">
                  <c:v>0.18</c:v>
                </c:pt>
                <c:pt idx="3">
                  <c:v>0.2</c:v>
                </c:pt>
                <c:pt idx="4">
                  <c:v>0.16</c:v>
                </c:pt>
                <c:pt idx="5">
                  <c:v>0.12</c:v>
                </c:pt>
                <c:pt idx="7">
                  <c:v>0.12</c:v>
                </c:pt>
                <c:pt idx="8">
                  <c:v>0.08</c:v>
                </c:pt>
                <c:pt idx="9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D3-420B-A388-9351381EDE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11560095"/>
        <c:axId val="1111559615"/>
      </c:barChart>
      <c:catAx>
        <c:axId val="111156009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111559615"/>
        <c:crosses val="autoZero"/>
        <c:auto val="1"/>
        <c:lblAlgn val="ctr"/>
        <c:lblOffset val="100"/>
        <c:noMultiLvlLbl val="0"/>
      </c:catAx>
      <c:valAx>
        <c:axId val="1111559615"/>
        <c:scaling>
          <c:orientation val="minMax"/>
          <c:max val="0.60000000000000009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111560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973687062053019"/>
          <c:y val="0.40477327505323302"/>
          <c:w val="0.11338239543451564"/>
          <c:h val="0.253937607495054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3392568742741374"/>
          <c:y val="3.4608788154826389E-2"/>
          <c:w val="0.35105483450477021"/>
          <c:h val="0.930782423690347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Kaikki vastaajat, n=857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0.39</c:v>
                </c:pt>
                <c:pt idx="1">
                  <c:v>0.27</c:v>
                </c:pt>
                <c:pt idx="2">
                  <c:v>0.18</c:v>
                </c:pt>
                <c:pt idx="3">
                  <c:v>0.18</c:v>
                </c:pt>
                <c:pt idx="4">
                  <c:v>0.15</c:v>
                </c:pt>
                <c:pt idx="5">
                  <c:v>0.16</c:v>
                </c:pt>
                <c:pt idx="6">
                  <c:v>0.13</c:v>
                </c:pt>
                <c:pt idx="7">
                  <c:v>0.12</c:v>
                </c:pt>
                <c:pt idx="8">
                  <c:v>0.11</c:v>
                </c:pt>
                <c:pt idx="9" formatCode="###0%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AF-4CE2-B828-4945FA652C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Kokemusta omaavat, n=587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0.41</c:v>
                </c:pt>
                <c:pt idx="1">
                  <c:v>0.32</c:v>
                </c:pt>
                <c:pt idx="2">
                  <c:v>0.21</c:v>
                </c:pt>
                <c:pt idx="3">
                  <c:v>0.2</c:v>
                </c:pt>
                <c:pt idx="4">
                  <c:v>0.17</c:v>
                </c:pt>
                <c:pt idx="5">
                  <c:v>0.19</c:v>
                </c:pt>
                <c:pt idx="6">
                  <c:v>0.14000000000000001</c:v>
                </c:pt>
                <c:pt idx="7">
                  <c:v>0.14000000000000001</c:v>
                </c:pt>
                <c:pt idx="8">
                  <c:v>0.12</c:v>
                </c:pt>
                <c:pt idx="9" formatCode="###0%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AF-4CE2-B828-4945FA652CD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Ei kokemusta, n=270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Sheet1!$D$2:$D$11</c:f>
              <c:numCache>
                <c:formatCode>0%</c:formatCode>
                <c:ptCount val="10"/>
                <c:pt idx="0">
                  <c:v>0.34</c:v>
                </c:pt>
                <c:pt idx="1">
                  <c:v>0.17</c:v>
                </c:pt>
                <c:pt idx="2">
                  <c:v>0.1</c:v>
                </c:pt>
                <c:pt idx="3">
                  <c:v>0.14000000000000001</c:v>
                </c:pt>
                <c:pt idx="4">
                  <c:v>0.11</c:v>
                </c:pt>
                <c:pt idx="5">
                  <c:v>0.11</c:v>
                </c:pt>
                <c:pt idx="6">
                  <c:v>0.11</c:v>
                </c:pt>
                <c:pt idx="7">
                  <c:v>0.06</c:v>
                </c:pt>
                <c:pt idx="8">
                  <c:v>7.0000000000000007E-2</c:v>
                </c:pt>
                <c:pt idx="9" formatCode="###0%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AF-4CE2-B828-4945FA652CD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Suosittelijat, n=212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Sheet1!$E$2:$E$11</c:f>
              <c:numCache>
                <c:formatCode>0%</c:formatCode>
                <c:ptCount val="10"/>
                <c:pt idx="0">
                  <c:v>0.47</c:v>
                </c:pt>
                <c:pt idx="1">
                  <c:v>1</c:v>
                </c:pt>
                <c:pt idx="2">
                  <c:v>0.26</c:v>
                </c:pt>
                <c:pt idx="3">
                  <c:v>0.44</c:v>
                </c:pt>
                <c:pt idx="4">
                  <c:v>0.24</c:v>
                </c:pt>
                <c:pt idx="5">
                  <c:v>0.25</c:v>
                </c:pt>
                <c:pt idx="6">
                  <c:v>0.26</c:v>
                </c:pt>
                <c:pt idx="7">
                  <c:v>0.25</c:v>
                </c:pt>
                <c:pt idx="8">
                  <c:v>0.24</c:v>
                </c:pt>
                <c:pt idx="9" formatCode="###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2AF-4CE2-B828-4945FA652CD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11560095"/>
        <c:axId val="1111559615"/>
      </c:barChart>
      <c:catAx>
        <c:axId val="111156009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111559615"/>
        <c:crosses val="autoZero"/>
        <c:auto val="1"/>
        <c:lblAlgn val="ctr"/>
        <c:lblOffset val="100"/>
        <c:noMultiLvlLbl val="0"/>
      </c:catAx>
      <c:valAx>
        <c:axId val="1111559615"/>
        <c:scaling>
          <c:orientation val="minMax"/>
          <c:max val="1"/>
        </c:scaling>
        <c:delete val="1"/>
        <c:axPos val="t"/>
        <c:numFmt formatCode="0%" sourceLinked="1"/>
        <c:majorTickMark val="none"/>
        <c:minorTickMark val="none"/>
        <c:tickLblPos val="nextTo"/>
        <c:crossAx val="11115600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1566704237640528"/>
          <c:y val="8.6080141968390034E-2"/>
          <c:w val="0.47740317436724111"/>
          <c:h val="0.8809352517136294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Kaikki vastaajat, n=884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Humana</c:v>
                </c:pt>
                <c:pt idx="8">
                  <c:v>En mitään näistä</c:v>
                </c:pt>
              </c:strCache>
            </c:strRef>
          </c:cat>
          <c:val>
            <c:numRef>
              <c:f>Sheet1!$B$2:$B$10</c:f>
              <c:numCache>
                <c:formatCode>###0%</c:formatCode>
                <c:ptCount val="9"/>
                <c:pt idx="0">
                  <c:v>0.4099526066350711</c:v>
                </c:pt>
                <c:pt idx="1">
                  <c:v>0.26066350710900471</c:v>
                </c:pt>
                <c:pt idx="2">
                  <c:v>0.19549763033175357</c:v>
                </c:pt>
                <c:pt idx="3">
                  <c:v>0.18364928909952608</c:v>
                </c:pt>
                <c:pt idx="4">
                  <c:v>0.15758293838862561</c:v>
                </c:pt>
                <c:pt idx="5">
                  <c:v>0.12322274881516587</c:v>
                </c:pt>
                <c:pt idx="6">
                  <c:v>0.11729857819905214</c:v>
                </c:pt>
                <c:pt idx="7">
                  <c:v>8.175355450236968E-2</c:v>
                </c:pt>
                <c:pt idx="8">
                  <c:v>0.30687203791469192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CE-485D-A158-2449F83340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Kokemusta omaavat, n=692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Humana</c:v>
                </c:pt>
                <c:pt idx="8">
                  <c:v>En mitään näistä</c:v>
                </c:pt>
              </c:strCache>
            </c:strRef>
          </c:cat>
          <c:val>
            <c:numRef>
              <c:f>Sheet1!$C$2:$C$10</c:f>
              <c:numCache>
                <c:formatCode>###0%</c:formatCode>
                <c:ptCount val="9"/>
                <c:pt idx="0">
                  <c:v>0.43786127167630057</c:v>
                </c:pt>
                <c:pt idx="1">
                  <c:v>0.28179190751445088</c:v>
                </c:pt>
                <c:pt idx="2">
                  <c:v>0.2167630057803468</c:v>
                </c:pt>
                <c:pt idx="3">
                  <c:v>0.20231213872832371</c:v>
                </c:pt>
                <c:pt idx="4">
                  <c:v>0.17630057803468208</c:v>
                </c:pt>
                <c:pt idx="5">
                  <c:v>0.13728323699421965</c:v>
                </c:pt>
                <c:pt idx="6">
                  <c:v>0.12427745664739884</c:v>
                </c:pt>
                <c:pt idx="7">
                  <c:v>9.2485549132947986E-2</c:v>
                </c:pt>
                <c:pt idx="8">
                  <c:v>0.25578034682080925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CE-485D-A158-2449F83340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Ei kokemusta, 55v+, n=152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Humana</c:v>
                </c:pt>
                <c:pt idx="8">
                  <c:v>En mitään näistä</c:v>
                </c:pt>
              </c:strCache>
            </c:strRef>
          </c:cat>
          <c:val>
            <c:numRef>
              <c:f>Sheet1!$D$2:$D$10</c:f>
              <c:numCache>
                <c:formatCode>###0%</c:formatCode>
                <c:ptCount val="9"/>
                <c:pt idx="0">
                  <c:v>0.28289473684210525</c:v>
                </c:pt>
                <c:pt idx="1">
                  <c:v>0.1644736842105263</c:v>
                </c:pt>
                <c:pt idx="2">
                  <c:v>9.8684210526315791E-2</c:v>
                </c:pt>
                <c:pt idx="3">
                  <c:v>9.8684210526315791E-2</c:v>
                </c:pt>
                <c:pt idx="4">
                  <c:v>7.2368421052631582E-2</c:v>
                </c:pt>
                <c:pt idx="5">
                  <c:v>5.9210526315789477E-2</c:v>
                </c:pt>
                <c:pt idx="6">
                  <c:v>8.5526315789473686E-2</c:v>
                </c:pt>
                <c:pt idx="7">
                  <c:v>3.2894736842105261E-2</c:v>
                </c:pt>
                <c:pt idx="8">
                  <c:v>0.53947368421052633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CE-485D-A158-2449F833406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Suosittelijat, n=220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Humana</c:v>
                </c:pt>
                <c:pt idx="8">
                  <c:v>En mitään näistä</c:v>
                </c:pt>
              </c:strCache>
            </c:strRef>
          </c:cat>
          <c:val>
            <c:numRef>
              <c:f>Sheet1!$E$2:$E$10</c:f>
              <c:numCache>
                <c:formatCode>###0%</c:formatCode>
                <c:ptCount val="9"/>
                <c:pt idx="0">
                  <c:v>0.47272727272727272</c:v>
                </c:pt>
                <c:pt idx="1">
                  <c:v>1</c:v>
                </c:pt>
                <c:pt idx="2">
                  <c:v>0.35454545454545455</c:v>
                </c:pt>
                <c:pt idx="3">
                  <c:v>0.4</c:v>
                </c:pt>
                <c:pt idx="4">
                  <c:v>0.27727272727272728</c:v>
                </c:pt>
                <c:pt idx="5">
                  <c:v>0.25</c:v>
                </c:pt>
                <c:pt idx="6">
                  <c:v>0.22727272727272727</c:v>
                </c:pt>
                <c:pt idx="7">
                  <c:v>0.19545454545454546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CE-485D-A158-2449F83340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11560095"/>
        <c:axId val="1111559615"/>
      </c:barChart>
      <c:catAx>
        <c:axId val="111156009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111559615"/>
        <c:crosses val="autoZero"/>
        <c:auto val="1"/>
        <c:lblAlgn val="ctr"/>
        <c:lblOffset val="100"/>
        <c:noMultiLvlLbl val="0"/>
      </c:catAx>
      <c:valAx>
        <c:axId val="1111559615"/>
        <c:scaling>
          <c:orientation val="minMax"/>
          <c:max val="1"/>
        </c:scaling>
        <c:delete val="1"/>
        <c:axPos val="t"/>
        <c:numFmt formatCode="###0%" sourceLinked="1"/>
        <c:majorTickMark val="none"/>
        <c:minorTickMark val="none"/>
        <c:tickLblPos val="nextTo"/>
        <c:crossAx val="11115600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42509546764561"/>
          <c:y val="1.643929824178933E-2"/>
          <c:w val="0.38273042266248031"/>
          <c:h val="0.930782423690347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Kaikki vastaajat, n=865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Sheet1!$B$2:$B$11</c:f>
              <c:numCache>
                <c:formatCode>###0%</c:formatCode>
                <c:ptCount val="10"/>
                <c:pt idx="0">
                  <c:v>0.37341040462427749</c:v>
                </c:pt>
                <c:pt idx="1">
                  <c:v>0.28786127167630055</c:v>
                </c:pt>
                <c:pt idx="2" formatCode="0%">
                  <c:v>0.18</c:v>
                </c:pt>
                <c:pt idx="3" formatCode="0%">
                  <c:v>0.18</c:v>
                </c:pt>
                <c:pt idx="4" formatCode="0%">
                  <c:v>0.17</c:v>
                </c:pt>
                <c:pt idx="5" formatCode="0%">
                  <c:v>0.13</c:v>
                </c:pt>
                <c:pt idx="6" formatCode="0%">
                  <c:v>0.11</c:v>
                </c:pt>
                <c:pt idx="7" formatCode="0%">
                  <c:v>0.11</c:v>
                </c:pt>
                <c:pt idx="8" formatCode="0%">
                  <c:v>0.08</c:v>
                </c:pt>
                <c:pt idx="9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74-464F-B586-AE5FF7E683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Kokemusta omaavat, n=636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Sheet1!$C$2:$C$11</c:f>
              <c:numCache>
                <c:formatCode>###0%</c:formatCode>
                <c:ptCount val="10"/>
                <c:pt idx="0">
                  <c:v>0.41823899371069184</c:v>
                </c:pt>
                <c:pt idx="1">
                  <c:v>0.32547169811320759</c:v>
                </c:pt>
                <c:pt idx="2" formatCode="0%">
                  <c:v>0.2</c:v>
                </c:pt>
                <c:pt idx="3" formatCode="0%">
                  <c:v>0.2</c:v>
                </c:pt>
                <c:pt idx="4" formatCode="0%">
                  <c:v>0.19</c:v>
                </c:pt>
                <c:pt idx="5" formatCode="0%">
                  <c:v>0.15</c:v>
                </c:pt>
                <c:pt idx="6" formatCode="0%">
                  <c:v>0.13</c:v>
                </c:pt>
                <c:pt idx="7" formatCode="0%">
                  <c:v>0.13</c:v>
                </c:pt>
                <c:pt idx="8" formatCode="0%">
                  <c:v>0.1</c:v>
                </c:pt>
                <c:pt idx="9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74-464F-B586-AE5FF7E683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Ei kokemusta, n=229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Sheet1!$D$2:$D$11</c:f>
              <c:numCache>
                <c:formatCode>###0%</c:formatCode>
                <c:ptCount val="10"/>
                <c:pt idx="0">
                  <c:v>0.24890829694323144</c:v>
                </c:pt>
                <c:pt idx="1">
                  <c:v>0.18340611353711789</c:v>
                </c:pt>
                <c:pt idx="2" formatCode="0%">
                  <c:v>0.12</c:v>
                </c:pt>
                <c:pt idx="3" formatCode="0%">
                  <c:v>0.1</c:v>
                </c:pt>
                <c:pt idx="4" formatCode="0%">
                  <c:v>0.09</c:v>
                </c:pt>
                <c:pt idx="5" formatCode="0%">
                  <c:v>0.08</c:v>
                </c:pt>
                <c:pt idx="6" formatCode="0%">
                  <c:v>0.06</c:v>
                </c:pt>
                <c:pt idx="7" formatCode="0%">
                  <c:v>0.03</c:v>
                </c:pt>
                <c:pt idx="8" formatCode="0%">
                  <c:v>0.05</c:v>
                </c:pt>
                <c:pt idx="9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E74-464F-B586-AE5FF7E6836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Suosittelijat, n=249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Sheet1!$E$2:$E$11</c:f>
              <c:numCache>
                <c:formatCode>###0%</c:formatCode>
                <c:ptCount val="10"/>
                <c:pt idx="0">
                  <c:v>0.46250000000000002</c:v>
                </c:pt>
                <c:pt idx="1">
                  <c:v>1</c:v>
                </c:pt>
                <c:pt idx="2" formatCode="0%">
                  <c:v>0.28999999999999998</c:v>
                </c:pt>
                <c:pt idx="3" formatCode="0%">
                  <c:v>0.41</c:v>
                </c:pt>
                <c:pt idx="4" formatCode="0%">
                  <c:v>0.27</c:v>
                </c:pt>
                <c:pt idx="5" formatCode="0%">
                  <c:v>0.2</c:v>
                </c:pt>
                <c:pt idx="6" formatCode="0%">
                  <c:v>0.19</c:v>
                </c:pt>
                <c:pt idx="7" formatCode="0%">
                  <c:v>0.22</c:v>
                </c:pt>
                <c:pt idx="8" formatCode="0%">
                  <c:v>0.18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E74-464F-B586-AE5FF7E683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11560095"/>
        <c:axId val="1111559615"/>
      </c:barChart>
      <c:catAx>
        <c:axId val="111156009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111559615"/>
        <c:crosses val="autoZero"/>
        <c:auto val="1"/>
        <c:lblAlgn val="ctr"/>
        <c:lblOffset val="100"/>
        <c:noMultiLvlLbl val="0"/>
      </c:catAx>
      <c:valAx>
        <c:axId val="1111559615"/>
        <c:scaling>
          <c:orientation val="minMax"/>
          <c:max val="1"/>
        </c:scaling>
        <c:delete val="1"/>
        <c:axPos val="t"/>
        <c:numFmt formatCode="###0%" sourceLinked="1"/>
        <c:majorTickMark val="none"/>
        <c:minorTickMark val="none"/>
        <c:tickLblPos val="nextTo"/>
        <c:crossAx val="1111560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6732505636871966"/>
          <c:y val="0.28799441701038042"/>
          <c:w val="0.20682408259693874"/>
          <c:h val="0.603347365954118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742509546764561"/>
          <c:y val="1.643929824178933E-2"/>
          <c:w val="0.37389204548366628"/>
          <c:h val="0.930782423690347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Kaikki vastaajat, n=857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0.4</c:v>
                </c:pt>
                <c:pt idx="1">
                  <c:v>0.25</c:v>
                </c:pt>
                <c:pt idx="2">
                  <c:v>0.18</c:v>
                </c:pt>
                <c:pt idx="3">
                  <c:v>0.19</c:v>
                </c:pt>
                <c:pt idx="4">
                  <c:v>0.17</c:v>
                </c:pt>
                <c:pt idx="5">
                  <c:v>0.12</c:v>
                </c:pt>
                <c:pt idx="6">
                  <c:v>0.09</c:v>
                </c:pt>
                <c:pt idx="7">
                  <c:v>0.12</c:v>
                </c:pt>
                <c:pt idx="8">
                  <c:v>0.08</c:v>
                </c:pt>
                <c:pt idx="9" formatCode="###0%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A4-4E5F-9A35-AAB322D9E93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Kokemusta omaavat, n=587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0.43</c:v>
                </c:pt>
                <c:pt idx="1">
                  <c:v>0.28000000000000003</c:v>
                </c:pt>
                <c:pt idx="2">
                  <c:v>0.21</c:v>
                </c:pt>
                <c:pt idx="3">
                  <c:v>0.21</c:v>
                </c:pt>
                <c:pt idx="4">
                  <c:v>0.19</c:v>
                </c:pt>
                <c:pt idx="5">
                  <c:v>0.15</c:v>
                </c:pt>
                <c:pt idx="6">
                  <c:v>0.1</c:v>
                </c:pt>
                <c:pt idx="7">
                  <c:v>0.14000000000000001</c:v>
                </c:pt>
                <c:pt idx="8">
                  <c:v>0.1</c:v>
                </c:pt>
                <c:pt idx="9" formatCode="###0%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A4-4E5F-9A35-AAB322D9E93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Ei kokemusta, n=270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Sheet1!$D$2:$D$11</c:f>
              <c:numCache>
                <c:formatCode>0%</c:formatCode>
                <c:ptCount val="10"/>
                <c:pt idx="0">
                  <c:v>0.33</c:v>
                </c:pt>
                <c:pt idx="1">
                  <c:v>0.17</c:v>
                </c:pt>
                <c:pt idx="2">
                  <c:v>0.13</c:v>
                </c:pt>
                <c:pt idx="3">
                  <c:v>0.14000000000000001</c:v>
                </c:pt>
                <c:pt idx="4">
                  <c:v>0.13</c:v>
                </c:pt>
                <c:pt idx="5">
                  <c:v>7.0000000000000007E-2</c:v>
                </c:pt>
                <c:pt idx="6">
                  <c:v>7.0000000000000007E-2</c:v>
                </c:pt>
                <c:pt idx="7">
                  <c:v>0.06</c:v>
                </c:pt>
                <c:pt idx="8">
                  <c:v>0.05</c:v>
                </c:pt>
                <c:pt idx="9" formatCode="###0%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BA4-4E5F-9A35-AAB322D9E93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Suosittelijat, n=212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Rinnekodit</c:v>
                </c:pt>
                <c:pt idx="3">
                  <c:v>Esperi</c:v>
                </c:pt>
                <c:pt idx="4">
                  <c:v>Onnikodit</c:v>
                </c:pt>
                <c:pt idx="5">
                  <c:v>Mainio-kodit</c:v>
                </c:pt>
                <c:pt idx="6">
                  <c:v>Ykköskodit</c:v>
                </c:pt>
                <c:pt idx="7">
                  <c:v>Validia</c:v>
                </c:pt>
                <c:pt idx="8">
                  <c:v>Humana</c:v>
                </c:pt>
                <c:pt idx="9">
                  <c:v>En mitään näistä</c:v>
                </c:pt>
              </c:strCache>
            </c:strRef>
          </c:cat>
          <c:val>
            <c:numRef>
              <c:f>Sheet1!$E$2:$E$11</c:f>
              <c:numCache>
                <c:formatCode>0%</c:formatCode>
                <c:ptCount val="10"/>
                <c:pt idx="0">
                  <c:v>0.44</c:v>
                </c:pt>
                <c:pt idx="1">
                  <c:v>1</c:v>
                </c:pt>
                <c:pt idx="2">
                  <c:v>0.26</c:v>
                </c:pt>
                <c:pt idx="3">
                  <c:v>0.42</c:v>
                </c:pt>
                <c:pt idx="4">
                  <c:v>0.28000000000000003</c:v>
                </c:pt>
                <c:pt idx="5">
                  <c:v>0.23</c:v>
                </c:pt>
                <c:pt idx="6">
                  <c:v>0.21</c:v>
                </c:pt>
                <c:pt idx="7">
                  <c:v>0.27</c:v>
                </c:pt>
                <c:pt idx="8">
                  <c:v>0.18</c:v>
                </c:pt>
                <c:pt idx="9" formatCode="###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BA4-4E5F-9A35-AAB322D9E9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11560095"/>
        <c:axId val="1111559615"/>
      </c:barChart>
      <c:catAx>
        <c:axId val="111156009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111559615"/>
        <c:crosses val="autoZero"/>
        <c:auto val="1"/>
        <c:lblAlgn val="ctr"/>
        <c:lblOffset val="100"/>
        <c:noMultiLvlLbl val="0"/>
      </c:catAx>
      <c:valAx>
        <c:axId val="1111559615"/>
        <c:scaling>
          <c:orientation val="minMax"/>
          <c:max val="1"/>
        </c:scaling>
        <c:delete val="1"/>
        <c:axPos val="t"/>
        <c:numFmt formatCode="0%" sourceLinked="1"/>
        <c:majorTickMark val="none"/>
        <c:minorTickMark val="none"/>
        <c:tickLblPos val="nextTo"/>
        <c:crossAx val="11115600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Marraskuu 2025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Esperi</c:v>
                </c:pt>
                <c:pt idx="3">
                  <c:v>Rinnekodit</c:v>
                </c:pt>
                <c:pt idx="4">
                  <c:v>Validia</c:v>
                </c:pt>
                <c:pt idx="5">
                  <c:v>Onnikodit</c:v>
                </c:pt>
                <c:pt idx="6">
                  <c:v>Mainio-kodit</c:v>
                </c:pt>
                <c:pt idx="7">
                  <c:v>Humana</c:v>
                </c:pt>
                <c:pt idx="8">
                  <c:v>Ykköskodit</c:v>
                </c:pt>
                <c:pt idx="9">
                  <c:v>En mitään näistä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0.47</c:v>
                </c:pt>
                <c:pt idx="1">
                  <c:v>0.2</c:v>
                </c:pt>
                <c:pt idx="2">
                  <c:v>0.15</c:v>
                </c:pt>
                <c:pt idx="3">
                  <c:v>0.13</c:v>
                </c:pt>
                <c:pt idx="4">
                  <c:v>0.09</c:v>
                </c:pt>
                <c:pt idx="5">
                  <c:v>7.0000000000000007E-2</c:v>
                </c:pt>
                <c:pt idx="6">
                  <c:v>7.0000000000000007E-2</c:v>
                </c:pt>
                <c:pt idx="7">
                  <c:v>0.06</c:v>
                </c:pt>
                <c:pt idx="8">
                  <c:v>0.06</c:v>
                </c:pt>
                <c:pt idx="9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05-4019-AF07-0932251FA8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Toukokuu 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Esperi</c:v>
                </c:pt>
                <c:pt idx="3">
                  <c:v>Rinnekodit</c:v>
                </c:pt>
                <c:pt idx="4">
                  <c:v>Validia</c:v>
                </c:pt>
                <c:pt idx="5">
                  <c:v>Onnikodit</c:v>
                </c:pt>
                <c:pt idx="6">
                  <c:v>Mainio-kodit</c:v>
                </c:pt>
                <c:pt idx="7">
                  <c:v>Humana</c:v>
                </c:pt>
                <c:pt idx="8">
                  <c:v>Ykköskodit</c:v>
                </c:pt>
                <c:pt idx="9">
                  <c:v>En mitään näistä</c:v>
                </c:pt>
              </c:strCache>
            </c:strRef>
          </c:cat>
          <c:val>
            <c:numRef>
              <c:f>Sheet1!$C$2:$C$11</c:f>
              <c:numCache>
                <c:formatCode>0%</c:formatCode>
                <c:ptCount val="10"/>
                <c:pt idx="0">
                  <c:v>0.49</c:v>
                </c:pt>
                <c:pt idx="1">
                  <c:v>0.22</c:v>
                </c:pt>
                <c:pt idx="2">
                  <c:v>0.17</c:v>
                </c:pt>
                <c:pt idx="3">
                  <c:v>0.15</c:v>
                </c:pt>
                <c:pt idx="4">
                  <c:v>0.15</c:v>
                </c:pt>
                <c:pt idx="5">
                  <c:v>0.17</c:v>
                </c:pt>
                <c:pt idx="6">
                  <c:v>0.12</c:v>
                </c:pt>
                <c:pt idx="7">
                  <c:v>0.09</c:v>
                </c:pt>
                <c:pt idx="8">
                  <c:v>0.09</c:v>
                </c:pt>
                <c:pt idx="9">
                  <c:v>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B1-44FB-9A10-F6E2CEBA55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Marraskuu 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Esperi</c:v>
                </c:pt>
                <c:pt idx="3">
                  <c:v>Rinnekodit</c:v>
                </c:pt>
                <c:pt idx="4">
                  <c:v>Validia</c:v>
                </c:pt>
                <c:pt idx="5">
                  <c:v>Onnikodit</c:v>
                </c:pt>
                <c:pt idx="6">
                  <c:v>Mainio-kodit</c:v>
                </c:pt>
                <c:pt idx="7">
                  <c:v>Humana</c:v>
                </c:pt>
                <c:pt idx="8">
                  <c:v>Ykköskodit</c:v>
                </c:pt>
                <c:pt idx="9">
                  <c:v>En mitään näistä</c:v>
                </c:pt>
              </c:strCache>
            </c:strRef>
          </c:cat>
          <c:val>
            <c:numRef>
              <c:f>Sheet1!$D$2:$D$11</c:f>
              <c:numCache>
                <c:formatCode>0%</c:formatCode>
                <c:ptCount val="10"/>
                <c:pt idx="0">
                  <c:v>0.47</c:v>
                </c:pt>
                <c:pt idx="1">
                  <c:v>0.21</c:v>
                </c:pt>
                <c:pt idx="2">
                  <c:v>0.22</c:v>
                </c:pt>
                <c:pt idx="3">
                  <c:v>0.2</c:v>
                </c:pt>
                <c:pt idx="4">
                  <c:v>0.19</c:v>
                </c:pt>
                <c:pt idx="5">
                  <c:v>0.13</c:v>
                </c:pt>
                <c:pt idx="6">
                  <c:v>0.16</c:v>
                </c:pt>
                <c:pt idx="7">
                  <c:v>0.13</c:v>
                </c:pt>
                <c:pt idx="8">
                  <c:v>0.12</c:v>
                </c:pt>
                <c:pt idx="9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F4-4BDE-BA81-53676357948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Toukokuu 2024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i-FI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Julkiset hoivapalvelut</c:v>
                </c:pt>
                <c:pt idx="1">
                  <c:v>Attendo</c:v>
                </c:pt>
                <c:pt idx="2">
                  <c:v>Esperi</c:v>
                </c:pt>
                <c:pt idx="3">
                  <c:v>Rinnekodit</c:v>
                </c:pt>
                <c:pt idx="4">
                  <c:v>Validia</c:v>
                </c:pt>
                <c:pt idx="5">
                  <c:v>Onnikodit</c:v>
                </c:pt>
                <c:pt idx="6">
                  <c:v>Mainio-kodit</c:v>
                </c:pt>
                <c:pt idx="7">
                  <c:v>Humana</c:v>
                </c:pt>
                <c:pt idx="8">
                  <c:v>Ykköskodit</c:v>
                </c:pt>
                <c:pt idx="9">
                  <c:v>En mitään näistä</c:v>
                </c:pt>
              </c:strCache>
            </c:strRef>
          </c:cat>
          <c:val>
            <c:numRef>
              <c:f>Sheet1!$E$2:$E$11</c:f>
              <c:numCache>
                <c:formatCode>0%</c:formatCode>
                <c:ptCount val="10"/>
                <c:pt idx="0">
                  <c:v>0.49420849420849422</c:v>
                </c:pt>
                <c:pt idx="1">
                  <c:v>0.20849420849420849</c:v>
                </c:pt>
                <c:pt idx="2">
                  <c:v>0.11583011583011583</c:v>
                </c:pt>
                <c:pt idx="3">
                  <c:v>0.13513513513513514</c:v>
                </c:pt>
                <c:pt idx="5">
                  <c:v>0.11196911196911197</c:v>
                </c:pt>
                <c:pt idx="6">
                  <c:v>0.14671814671814673</c:v>
                </c:pt>
                <c:pt idx="7">
                  <c:v>7.7220077220077218E-2</c:v>
                </c:pt>
                <c:pt idx="8">
                  <c:v>8.8803088803088792E-2</c:v>
                </c:pt>
                <c:pt idx="9">
                  <c:v>0.28957528957528955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BF-478B-B130-279F2062820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707318383"/>
        <c:axId val="1707312623"/>
      </c:barChart>
      <c:catAx>
        <c:axId val="1707318383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707312623"/>
        <c:crosses val="autoZero"/>
        <c:auto val="1"/>
        <c:lblAlgn val="ctr"/>
        <c:lblOffset val="100"/>
        <c:noMultiLvlLbl val="0"/>
      </c:catAx>
      <c:valAx>
        <c:axId val="1707312623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i-FI"/>
          </a:p>
        </c:txPr>
        <c:crossAx val="17073183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973687062053019"/>
          <c:y val="0.40980790818238777"/>
          <c:w val="0.11338239543451564"/>
          <c:h val="0.240512244846966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i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i-F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rawing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0.17316</cdr:x>
      <cdr:y>0.16481</cdr:y>
    </cdr:from>
    <cdr:to>
      <cdr:x>0.44708</cdr:x>
      <cdr:y>0.33371</cdr:y>
    </cdr:to>
    <cdr:pic>
      <cdr:nvPicPr>
        <cdr:cNvPr id="3" name="Graphic 2" descr="Man with solid fill">
          <a:extLst xmlns:a="http://schemas.openxmlformats.org/drawingml/2006/main">
            <a:ext uri="{FF2B5EF4-FFF2-40B4-BE49-F238E27FC236}">
              <a16:creationId xmlns:a16="http://schemas.microsoft.com/office/drawing/2014/main" id="{85FBEF3F-54B1-7B7F-25AB-FD078960ACBF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  <a:ext uri="{96DAC541-7B7A-43D3-8B79-37D633B846F1}">
              <asvg:svgBlip xmlns:asvg="http://schemas.microsoft.com/office/drawing/2016/SVG/main" r:embed="rId2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515858" y="803939"/>
          <a:ext cx="816007" cy="823883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0.17316</cdr:x>
      <cdr:y>0.47631</cdr:y>
    </cdr:from>
    <cdr:to>
      <cdr:x>0.44708</cdr:x>
      <cdr:y>0.64391</cdr:y>
    </cdr:to>
    <cdr:pic>
      <cdr:nvPicPr>
        <cdr:cNvPr id="5" name="Graphic 4" descr="Woman with solid fill">
          <a:extLst xmlns:a="http://schemas.openxmlformats.org/drawingml/2006/main">
            <a:ext uri="{FF2B5EF4-FFF2-40B4-BE49-F238E27FC236}">
              <a16:creationId xmlns:a16="http://schemas.microsoft.com/office/drawing/2014/main" id="{4FBA8D16-1524-A357-96DF-F787F78FB69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3">
          <a:extLst>
            <a:ext uri="{28A0092B-C50C-407E-A947-70E740481C1C}">
              <a14:useLocalDpi xmlns:a14="http://schemas.microsoft.com/office/drawing/2010/main" val="0"/>
            </a:ext>
            <a:ext uri="{96DAC541-7B7A-43D3-8B79-37D633B846F1}">
              <asvg:svgBlip xmlns:asvg="http://schemas.microsoft.com/office/drawing/2016/SVG/main" r:embed="rId4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515858" y="2323416"/>
          <a:ext cx="816007" cy="817541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0.22608</cdr:x>
      <cdr:y>0.11575</cdr:y>
    </cdr:from>
    <cdr:to>
      <cdr:x>0.5</cdr:x>
      <cdr:y>0.28465</cdr:y>
    </cdr:to>
    <cdr:pic>
      <cdr:nvPicPr>
        <cdr:cNvPr id="3" name="Graphic 2" descr="Man with solid fill">
          <a:extLst xmlns:a="http://schemas.openxmlformats.org/drawingml/2006/main">
            <a:ext uri="{FF2B5EF4-FFF2-40B4-BE49-F238E27FC236}">
              <a16:creationId xmlns:a16="http://schemas.microsoft.com/office/drawing/2014/main" id="{85FBEF3F-54B1-7B7F-25AB-FD078960ACBF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extLst>
            <a:ext uri="{28A0092B-C50C-407E-A947-70E740481C1C}">
              <a14:useLocalDpi xmlns:a14="http://schemas.microsoft.com/office/drawing/2010/main" val="0"/>
            </a:ext>
            <a:ext uri="{96DAC541-7B7A-43D3-8B79-37D633B846F1}">
              <asvg:svgBlip xmlns:asvg="http://schemas.microsoft.com/office/drawing/2016/SVG/main" r:embed="rId2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721085" y="614190"/>
          <a:ext cx="873671" cy="896201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0.22608</cdr:x>
      <cdr:y>0.4162</cdr:y>
    </cdr:from>
    <cdr:to>
      <cdr:x>0.5</cdr:x>
      <cdr:y>0.5838</cdr:y>
    </cdr:to>
    <cdr:pic>
      <cdr:nvPicPr>
        <cdr:cNvPr id="5" name="Graphic 4" descr="Woman with solid fill">
          <a:extLst xmlns:a="http://schemas.openxmlformats.org/drawingml/2006/main">
            <a:ext uri="{FF2B5EF4-FFF2-40B4-BE49-F238E27FC236}">
              <a16:creationId xmlns:a16="http://schemas.microsoft.com/office/drawing/2014/main" id="{4FBA8D16-1524-A357-96DF-F787F78FB69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3">
          <a:extLst>
            <a:ext uri="{28A0092B-C50C-407E-A947-70E740481C1C}">
              <a14:useLocalDpi xmlns:a14="http://schemas.microsoft.com/office/drawing/2010/main" val="0"/>
            </a:ext>
            <a:ext uri="{96DAC541-7B7A-43D3-8B79-37D633B846F1}">
              <asvg:svgBlip xmlns:asvg="http://schemas.microsoft.com/office/drawing/2016/SVG/main" r:embed="rId4"/>
            </a:ext>
          </a:extLst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721085" y="2208401"/>
          <a:ext cx="873671" cy="889304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B5481247-FE9C-445A-B9B5-D8B7792D06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B0585FF7-15EE-4721-9878-A410B59954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1DECE-4117-486E-A20A-98EEECEEB217}" type="datetimeFigureOut">
              <a:rPr lang="sv-SE" smtClean="0"/>
              <a:t>2025-12-10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C826BA28-F479-4629-852A-6EDDF09BE0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BC3B015B-6841-4F9E-90A9-89FD72BB2D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88E65-9D67-4828-BE08-8093C6CD3CF6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12569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7DA45-2D27-4988-8FAB-90FC9BBA06D5}" type="datetimeFigureOut">
              <a:rPr lang="sv-SE" smtClean="0"/>
              <a:t>2025-12-09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73075-F45F-49C2-9BA0-CDDC8DD60DA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6601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3075-F45F-49C2-9BA0-CDDC8DD60DAB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62389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3075-F45F-49C2-9BA0-CDDC8DD60DAB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12798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3075-F45F-49C2-9BA0-CDDC8DD60DAB}" type="slidenum">
              <a:rPr lang="sv-SE" smtClean="0"/>
              <a:t>15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75278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3075-F45F-49C2-9BA0-CDDC8DD60DAB}" type="slidenum">
              <a:rPr lang="sv-SE" smtClean="0"/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98863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3075-F45F-49C2-9BA0-CDDC8DD60DAB}" type="slidenum">
              <a:rPr lang="sv-SE" smtClean="0"/>
              <a:t>25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37379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3075-F45F-49C2-9BA0-CDDC8DD60DAB}" type="slidenum">
              <a:rPr lang="sv-SE" smtClean="0"/>
              <a:t>31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516964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3075-F45F-49C2-9BA0-CDDC8DD60DAB}" type="slidenum">
              <a:rPr lang="sv-SE" smtClean="0"/>
              <a:t>34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082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3075-F45F-49C2-9BA0-CDDC8DD60DAB}" type="slidenum">
              <a:rPr lang="sv-SE" smtClean="0"/>
              <a:t>35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99454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FC14-82C1-7308-F41C-06E754D4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8532FD55-DD9E-9957-2AE9-59E729724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90A6C67E-E215-A4FD-637E-AB0C3D6D4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0DB53108-BF17-FCA7-5677-D1CF764D5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3075-F45F-49C2-9BA0-CDDC8DD60DAB}" type="slidenum">
              <a:rPr lang="sv-SE" smtClean="0"/>
              <a:t>47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876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14F89-C8F2-2FE5-1FD7-9D9917670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3C20EE40-EA5C-18B5-9984-E202838EF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8D5787DA-972A-E670-E36C-5A590D19A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21D9B1B1-24F1-797B-E4EA-0BF7429AC2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73075-F45F-49C2-9BA0-CDDC8DD60DAB}" type="slidenum">
              <a:rPr lang="sv-SE" smtClean="0"/>
              <a:t>49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72413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8.png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3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14.png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5.bin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8.png"/><Relationship Id="rId4" Type="http://schemas.openxmlformats.org/officeDocument/2006/relationships/image" Target="../media/image3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8.png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tshållare för bild 14">
            <a:extLst>
              <a:ext uri="{FF2B5EF4-FFF2-40B4-BE49-F238E27FC236}">
                <a16:creationId xmlns:a16="http://schemas.microsoft.com/office/drawing/2014/main" id="{2F386FC4-B371-4EC1-A3A0-A46046AEC3C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2088" y="188913"/>
            <a:ext cx="11807825" cy="6480175"/>
          </a:xfrm>
          <a:custGeom>
            <a:avLst/>
            <a:gdLst>
              <a:gd name="connsiteX0" fmla="*/ 520677 w 11807825"/>
              <a:gd name="connsiteY0" fmla="*/ 3995990 h 6480175"/>
              <a:gd name="connsiteX1" fmla="*/ 520677 w 11807825"/>
              <a:gd name="connsiteY1" fmla="*/ 4008183 h 6480175"/>
              <a:gd name="connsiteX2" fmla="*/ 11287146 w 11807825"/>
              <a:gd name="connsiteY2" fmla="*/ 4008183 h 6480175"/>
              <a:gd name="connsiteX3" fmla="*/ 11287146 w 11807825"/>
              <a:gd name="connsiteY3" fmla="*/ 3995990 h 6480175"/>
              <a:gd name="connsiteX4" fmla="*/ 0 w 11807825"/>
              <a:gd name="connsiteY4" fmla="*/ 0 h 6480175"/>
              <a:gd name="connsiteX5" fmla="*/ 11807825 w 11807825"/>
              <a:gd name="connsiteY5" fmla="*/ 0 h 6480175"/>
              <a:gd name="connsiteX6" fmla="*/ 11807825 w 11807825"/>
              <a:gd name="connsiteY6" fmla="*/ 6480175 h 6480175"/>
              <a:gd name="connsiteX7" fmla="*/ 0 w 11807825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07825" h="6480175">
                <a:moveTo>
                  <a:pt x="520677" y="3995990"/>
                </a:moveTo>
                <a:lnTo>
                  <a:pt x="520677" y="4008183"/>
                </a:lnTo>
                <a:lnTo>
                  <a:pt x="11287146" y="4008183"/>
                </a:lnTo>
                <a:lnTo>
                  <a:pt x="11287146" y="3995990"/>
                </a:lnTo>
                <a:close/>
                <a:moveTo>
                  <a:pt x="0" y="0"/>
                </a:moveTo>
                <a:lnTo>
                  <a:pt x="11807825" y="0"/>
                </a:lnTo>
                <a:lnTo>
                  <a:pt x="11807825" y="6480175"/>
                </a:lnTo>
                <a:lnTo>
                  <a:pt x="0" y="648017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sv-SE"/>
          </a:p>
        </p:txBody>
      </p:sp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3F5C15F-EB89-480C-8226-A247500219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038056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3F5C15F-EB89-480C-8226-A247500219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ktangel 6">
            <a:extLst>
              <a:ext uri="{FF2B5EF4-FFF2-40B4-BE49-F238E27FC236}">
                <a16:creationId xmlns:a16="http://schemas.microsoft.com/office/drawing/2014/main" id="{E90139AC-378D-4600-8614-76B820BD4078}"/>
              </a:ext>
            </a:extLst>
          </p:cNvPr>
          <p:cNvSpPr/>
          <p:nvPr userDrawn="1"/>
        </p:nvSpPr>
        <p:spPr>
          <a:xfrm>
            <a:off x="-2732623" y="0"/>
            <a:ext cx="2547420" cy="5126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r>
              <a:rPr lang="en-GB" b="1" noProof="0">
                <a:solidFill>
                  <a:schemeClr val="tx1"/>
                </a:solidFill>
              </a:rPr>
              <a:t>To add image</a:t>
            </a:r>
            <a:r>
              <a:rPr lang="en-GB" noProof="0">
                <a:solidFill>
                  <a:schemeClr val="tx1"/>
                </a:solidFill>
              </a:rPr>
              <a:t>: go to Insert tab. Click on Image and go to </a:t>
            </a:r>
            <a:r>
              <a:rPr lang="en-GB" noProof="0" err="1">
                <a:solidFill>
                  <a:schemeClr val="tx1"/>
                </a:solidFill>
              </a:rPr>
              <a:t>xxxxxx</a:t>
            </a:r>
            <a:r>
              <a:rPr lang="en-GB" noProof="0">
                <a:solidFill>
                  <a:schemeClr val="tx1"/>
                </a:solidFill>
              </a:rPr>
              <a:t> (folder for PPT-images). Click on preferred image. </a:t>
            </a:r>
          </a:p>
          <a:p>
            <a:pPr algn="l" rtl="0"/>
            <a:endParaRPr lang="en-GB" noProof="0">
              <a:solidFill>
                <a:schemeClr val="tx1"/>
              </a:solidFill>
            </a:endParaRPr>
          </a:p>
          <a:p>
            <a:pPr algn="l" rtl="0"/>
            <a:r>
              <a:rPr lang="en-GB" b="1" noProof="0">
                <a:solidFill>
                  <a:schemeClr val="tx1"/>
                </a:solidFill>
              </a:rPr>
              <a:t>To change image: </a:t>
            </a:r>
            <a:r>
              <a:rPr lang="en-GB" noProof="0">
                <a:solidFill>
                  <a:schemeClr val="tx1"/>
                </a:solidFill>
              </a:rPr>
              <a:t>Click on image and press delete, follow the instructions above followed by pressing the “Reset” button in the Start menu to reorder objects to be placed on top of image</a:t>
            </a:r>
          </a:p>
        </p:txBody>
      </p:sp>
      <p:sp>
        <p:nvSpPr>
          <p:cNvPr id="20" name="Bildruta 19">
            <a:extLst>
              <a:ext uri="{FF2B5EF4-FFF2-40B4-BE49-F238E27FC236}">
                <a16:creationId xmlns:a16="http://schemas.microsoft.com/office/drawing/2014/main" id="{BA910DF0-438F-4D15-BB42-415D5853E197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D7B91BCB-5ED5-432A-81DB-FE71FB6B4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4399"/>
            <a:ext cx="9144000" cy="505505"/>
          </a:xfrm>
        </p:spPr>
        <p:txBody>
          <a:bodyPr anchor="ctr">
            <a:noAutofit/>
          </a:bodyPr>
          <a:lstStyle>
            <a:lvl1pPr marL="0" indent="0" algn="ctr" rtl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16" name="Logo">
            <a:extLst>
              <a:ext uri="{FF2B5EF4-FFF2-40B4-BE49-F238E27FC236}">
                <a16:creationId xmlns:a16="http://schemas.microsoft.com/office/drawing/2014/main" id="{4F7293F8-BF72-4EA5-AA1F-054DD8CBDDE2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5019675" y="5174966"/>
            <a:ext cx="2154238" cy="985043"/>
          </a:xfr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tIns="720000"/>
          <a:lstStyle>
            <a:lvl1pPr rtl="0">
              <a:defRPr sz="100"/>
            </a:lvl1pPr>
          </a:lstStyle>
          <a:p>
            <a:pPr lvl="0"/>
            <a:r>
              <a:rPr lang="en-GB" noProof="0"/>
              <a:t>  </a:t>
            </a:r>
          </a:p>
        </p:txBody>
      </p:sp>
      <p:sp>
        <p:nvSpPr>
          <p:cNvPr id="18" name="Rubrik 14">
            <a:extLst>
              <a:ext uri="{FF2B5EF4-FFF2-40B4-BE49-F238E27FC236}">
                <a16:creationId xmlns:a16="http://schemas.microsoft.com/office/drawing/2014/main" id="{22E5539A-AF29-4AFB-ACF6-3099D3DFD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336799"/>
            <a:ext cx="9144000" cy="1857375"/>
          </a:xfrm>
        </p:spPr>
        <p:txBody>
          <a:bodyPr vert="horz" anchor="b">
            <a:noAutofit/>
          </a:bodyPr>
          <a:lstStyle>
            <a:lvl1pPr algn="ctr" rtl="0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34715105-4421-417E-9273-55B25B3CD70A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8578228" y="889791"/>
            <a:ext cx="2888557" cy="2626103"/>
          </a:xfr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tIns="720000"/>
          <a:lstStyle>
            <a:lvl1pPr rtl="0">
              <a:defRPr sz="100"/>
            </a:lvl1pPr>
          </a:lstStyle>
          <a:p>
            <a:pPr lvl="0"/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9018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ttendo Blue">
    <p:bg>
      <p:bgPr>
        <a:solidFill>
          <a:srgbClr val="122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 descr="En bild som visar text, clipart, vektorgrafik&#10;&#10;Automatiskt genererad beskrivning">
            <a:extLst>
              <a:ext uri="{FF2B5EF4-FFF2-40B4-BE49-F238E27FC236}">
                <a16:creationId xmlns:a16="http://schemas.microsoft.com/office/drawing/2014/main" id="{7D6964E9-D40F-4C1D-8838-DBCCE735D4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234" y="5174442"/>
            <a:ext cx="2154484" cy="982088"/>
          </a:xfrm>
          <a:prstGeom prst="rect">
            <a:avLst/>
          </a:prstGeom>
        </p:spPr>
      </p:pic>
      <p:sp>
        <p:nvSpPr>
          <p:cNvPr id="13" name="Bildruta 12">
            <a:extLst>
              <a:ext uri="{FF2B5EF4-FFF2-40B4-BE49-F238E27FC236}">
                <a16:creationId xmlns:a16="http://schemas.microsoft.com/office/drawing/2014/main" id="{C90CD2AC-8602-4D2F-B182-C371BE04F373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82FD575-D18D-497E-9E97-8B28526300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6690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82FD575-D18D-497E-9E97-8B2852630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Underrubrik 2">
            <a:extLst>
              <a:ext uri="{FF2B5EF4-FFF2-40B4-BE49-F238E27FC236}">
                <a16:creationId xmlns:a16="http://schemas.microsoft.com/office/drawing/2014/main" id="{D7B91BCB-5ED5-432A-81DB-FE71FB6B4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4468"/>
            <a:ext cx="9144000" cy="505505"/>
          </a:xfrm>
        </p:spPr>
        <p:txBody>
          <a:bodyPr anchor="ctr">
            <a:noAutofit/>
          </a:bodyPr>
          <a:lstStyle>
            <a:lvl1pPr marL="0" indent="0" algn="ctr" rtl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15" name="Rubrik 14">
            <a:extLst>
              <a:ext uri="{FF2B5EF4-FFF2-40B4-BE49-F238E27FC236}">
                <a16:creationId xmlns:a16="http://schemas.microsoft.com/office/drawing/2014/main" id="{D0555BDB-D614-4CCF-B173-D45449D19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7752"/>
            <a:ext cx="9144000" cy="1857375"/>
          </a:xfrm>
        </p:spPr>
        <p:txBody>
          <a:bodyPr vert="horz" anchor="b">
            <a:noAutofit/>
          </a:bodyPr>
          <a:lstStyle>
            <a:lvl1pPr algn="ctr" rtl="0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17" name="Google Shape;135;p26">
            <a:extLst>
              <a:ext uri="{FF2B5EF4-FFF2-40B4-BE49-F238E27FC236}">
                <a16:creationId xmlns:a16="http://schemas.microsoft.com/office/drawing/2014/main" id="{762234D6-55EE-4096-A584-C87306586D8C}"/>
              </a:ext>
            </a:extLst>
          </p:cNvPr>
          <p:cNvCxnSpPr/>
          <p:nvPr userDrawn="1"/>
        </p:nvCxnSpPr>
        <p:spPr>
          <a:xfrm>
            <a:off x="715365" y="4171387"/>
            <a:ext cx="10755108" cy="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" name="Picture 10">
            <a:extLst>
              <a:ext uri="{FF2B5EF4-FFF2-40B4-BE49-F238E27FC236}">
                <a16:creationId xmlns:a16="http://schemas.microsoft.com/office/drawing/2014/main" id="{A1A218CD-785E-4EFB-A7B4-7AA392CBF9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8229" y="893097"/>
            <a:ext cx="2885879" cy="261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64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lide">
    <p:bg>
      <p:bgPr>
        <a:solidFill>
          <a:srgbClr val="FAD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282FDEED-B200-4A80-AE25-BD557F1D083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88" y="901350"/>
            <a:ext cx="2249428" cy="960122"/>
          </a:xfrm>
          <a:prstGeom prst="rect">
            <a:avLst/>
          </a:prstGeom>
        </p:spPr>
      </p:pic>
      <p:sp>
        <p:nvSpPr>
          <p:cNvPr id="14" name="Bildruta 13">
            <a:extLst>
              <a:ext uri="{FF2B5EF4-FFF2-40B4-BE49-F238E27FC236}">
                <a16:creationId xmlns:a16="http://schemas.microsoft.com/office/drawing/2014/main" id="{644966A8-02C2-49A0-A0E7-78E14E67A574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3F66F30D-676F-42B4-90EC-FA9BE3CE37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7625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3F66F30D-676F-42B4-90EC-FA9BE3CE37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6329BAC-E89D-464B-80F5-7975021F2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2065681"/>
            <a:ext cx="7330168" cy="4063647"/>
          </a:xfrm>
        </p:spPr>
        <p:txBody>
          <a:bodyPr>
            <a:noAutofit/>
          </a:bodyPr>
          <a:lstStyle>
            <a:lvl1pPr marL="0" indent="0" rtl="0">
              <a:spcAft>
                <a:spcPts val="1200"/>
              </a:spcAft>
              <a:buNone/>
              <a:defRPr sz="2400">
                <a:latin typeface="Georgia" panose="02040502050405020303" pitchFamily="18" charset="0"/>
              </a:defRPr>
            </a:lvl1pPr>
            <a:lvl2pPr marL="360363" indent="-360363" rtl="0">
              <a:spcAft>
                <a:spcPts val="1200"/>
              </a:spcAft>
              <a:buFont typeface="Arial" panose="020B0604020202020204" pitchFamily="34" charset="0"/>
              <a:buChar char="•"/>
              <a:defRPr sz="2400">
                <a:latin typeface="Georgia" panose="02040502050405020303" pitchFamily="18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0" name="Bildruta 9">
            <a:extLst>
              <a:ext uri="{FF2B5EF4-FFF2-40B4-BE49-F238E27FC236}">
                <a16:creationId xmlns:a16="http://schemas.microsoft.com/office/drawing/2014/main" id="{079D035D-E5D2-43FC-AB06-4B98E8DB4ED8}"/>
              </a:ext>
            </a:extLst>
          </p:cNvPr>
          <p:cNvSpPr/>
          <p:nvPr userDrawn="1"/>
        </p:nvSpPr>
        <p:spPr>
          <a:xfrm>
            <a:off x="0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" name="Google Shape;163;p29">
            <a:extLst>
              <a:ext uri="{FF2B5EF4-FFF2-40B4-BE49-F238E27FC236}">
                <a16:creationId xmlns:a16="http://schemas.microsoft.com/office/drawing/2014/main" id="{46D8B85C-BFA6-44A7-9A4D-3D99181BF88E}"/>
              </a:ext>
            </a:extLst>
          </p:cNvPr>
          <p:cNvCxnSpPr/>
          <p:nvPr userDrawn="1"/>
        </p:nvCxnSpPr>
        <p:spPr>
          <a:xfrm>
            <a:off x="499003" y="1665020"/>
            <a:ext cx="7718971" cy="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7" name="Bildobjekt 16">
            <a:extLst>
              <a:ext uri="{FF2B5EF4-FFF2-40B4-BE49-F238E27FC236}">
                <a16:creationId xmlns:a16="http://schemas.microsoft.com/office/drawing/2014/main" id="{C66F20D0-4ABB-42A9-9CBE-5F770C2A731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824" y="845725"/>
            <a:ext cx="3002749" cy="27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551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Lax">
    <p:bg>
      <p:bgPr>
        <a:solidFill>
          <a:srgbClr val="FC9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ruta 9">
            <a:extLst>
              <a:ext uri="{FF2B5EF4-FFF2-40B4-BE49-F238E27FC236}">
                <a16:creationId xmlns:a16="http://schemas.microsoft.com/office/drawing/2014/main" id="{1B7D9AFF-8CA0-49C0-A04E-4EBD93F01C3A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1410EA4-ACD7-4F7E-86D2-5CB83519EA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5885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1410EA4-ACD7-4F7E-86D2-5CB83519E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Rak koppling 6">
            <a:extLst>
              <a:ext uri="{FF2B5EF4-FFF2-40B4-BE49-F238E27FC236}">
                <a16:creationId xmlns:a16="http://schemas.microsoft.com/office/drawing/2014/main" id="{5B1B5966-5E4F-4A67-9FC0-014B8AFDA717}"/>
              </a:ext>
            </a:extLst>
          </p:cNvPr>
          <p:cNvCxnSpPr>
            <a:cxnSpLocks/>
          </p:cNvCxnSpPr>
          <p:nvPr userDrawn="1"/>
        </p:nvCxnSpPr>
        <p:spPr>
          <a:xfrm flipV="1">
            <a:off x="545111" y="4758213"/>
            <a:ext cx="11096027" cy="60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ubrik 1">
            <a:extLst>
              <a:ext uri="{FF2B5EF4-FFF2-40B4-BE49-F238E27FC236}">
                <a16:creationId xmlns:a16="http://schemas.microsoft.com/office/drawing/2014/main" id="{4DA8C7BC-EB01-4403-BDF4-E224DAD0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1" y="2647826"/>
            <a:ext cx="7878763" cy="2124075"/>
          </a:xfrm>
        </p:spPr>
        <p:txBody>
          <a:bodyPr vert="horz" anchor="b">
            <a:noAutofit/>
          </a:bodyPr>
          <a:lstStyle>
            <a:lvl1pPr rtl="0"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2" name="Underrubrik 2">
            <a:extLst>
              <a:ext uri="{FF2B5EF4-FFF2-40B4-BE49-F238E27FC236}">
                <a16:creationId xmlns:a16="http://schemas.microsoft.com/office/drawing/2014/main" id="{95784819-32D8-472C-8A6D-F17387A93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1" y="4797401"/>
            <a:ext cx="9144000" cy="505505"/>
          </a:xfrm>
        </p:spPr>
        <p:txBody>
          <a:bodyPr anchor="t">
            <a:noAutofit/>
          </a:bodyPr>
          <a:lstStyle>
            <a:lvl1pPr marL="0" indent="0" algn="l" rtl="0">
              <a:buNone/>
              <a:defRPr sz="24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718828C0-96A8-4983-B0A5-D4834D8A3D1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88889" y="849698"/>
            <a:ext cx="2205792" cy="370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21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ayout area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080CA8ED-6FC5-4B68-9451-02CA8338DBC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743474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080CA8ED-6FC5-4B68-9451-02CA8338DB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6329BAC-E89D-464B-80F5-7975021F2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Rubrik 1">
            <a:extLst>
              <a:ext uri="{FF2B5EF4-FFF2-40B4-BE49-F238E27FC236}">
                <a16:creationId xmlns:a16="http://schemas.microsoft.com/office/drawing/2014/main" id="{AEA38EAD-F3D0-4FE6-A42F-173A25DA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224970"/>
            <a:ext cx="11075081" cy="86858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2" name="Platshållare för bildnummer 5">
            <a:extLst>
              <a:ext uri="{FF2B5EF4-FFF2-40B4-BE49-F238E27FC236}">
                <a16:creationId xmlns:a16="http://schemas.microsoft.com/office/drawing/2014/main" id="{F6699344-28C7-42F5-A7A9-5CCF2D2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D83A04DC-A4C1-444F-854C-BCCA9871FA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6738" y="6307298"/>
            <a:ext cx="9301162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5122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ayoutarea + 1/2 image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61194504-1264-4C18-9955-9A4ED8F544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66591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61194504-1264-4C18-9955-9A4ED8F544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ktangel 11">
            <a:extLst>
              <a:ext uri="{FF2B5EF4-FFF2-40B4-BE49-F238E27FC236}">
                <a16:creationId xmlns:a16="http://schemas.microsoft.com/office/drawing/2014/main" id="{145F9EA3-ECA1-484B-B714-E665B1B27BEE}"/>
              </a:ext>
            </a:extLst>
          </p:cNvPr>
          <p:cNvSpPr/>
          <p:nvPr userDrawn="1"/>
        </p:nvSpPr>
        <p:spPr>
          <a:xfrm>
            <a:off x="6232031" y="0"/>
            <a:ext cx="595996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5F887E39-95C6-42B7-8660-DD1892737E22}"/>
              </a:ext>
            </a:extLst>
          </p:cNvPr>
          <p:cNvSpPr/>
          <p:nvPr userDrawn="1"/>
        </p:nvSpPr>
        <p:spPr>
          <a:xfrm>
            <a:off x="199685" y="188913"/>
            <a:ext cx="6007687" cy="6480175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6329BAC-E89D-464B-80F5-7975021F2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315810"/>
            <a:ext cx="5529943" cy="4813521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Rubrik 1">
            <a:extLst>
              <a:ext uri="{FF2B5EF4-FFF2-40B4-BE49-F238E27FC236}">
                <a16:creationId xmlns:a16="http://schemas.microsoft.com/office/drawing/2014/main" id="{AEA38EAD-F3D0-4FE6-A42F-173A25DA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224970"/>
            <a:ext cx="5529943" cy="86858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Platshållare för bild 3">
            <a:extLst>
              <a:ext uri="{FF2B5EF4-FFF2-40B4-BE49-F238E27FC236}">
                <a16:creationId xmlns:a16="http://schemas.microsoft.com/office/drawing/2014/main" id="{897E8681-6E7B-4927-B6BA-0845286342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43403" y="188912"/>
            <a:ext cx="5656509" cy="64801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4FFC3279-A5FA-46F7-B841-F9C6C0457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52419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Platshållare för text 4">
            <a:extLst>
              <a:ext uri="{FF2B5EF4-FFF2-40B4-BE49-F238E27FC236}">
                <a16:creationId xmlns:a16="http://schemas.microsoft.com/office/drawing/2014/main" id="{6A5EC008-164B-4CAD-A66D-10AE692D34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6738" y="6307298"/>
            <a:ext cx="5089503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98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layoutarea + 1/3 image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808A3FC4-A11B-4B32-9257-F7B8E37388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52150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808A3FC4-A11B-4B32-9257-F7B8E37388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ktangel 1">
            <a:extLst>
              <a:ext uri="{FF2B5EF4-FFF2-40B4-BE49-F238E27FC236}">
                <a16:creationId xmlns:a16="http://schemas.microsoft.com/office/drawing/2014/main" id="{76048FBB-3319-4E27-BDDF-C4B4A6D41FBE}"/>
              </a:ext>
            </a:extLst>
          </p:cNvPr>
          <p:cNvSpPr/>
          <p:nvPr userDrawn="1"/>
        </p:nvSpPr>
        <p:spPr>
          <a:xfrm>
            <a:off x="7896225" y="0"/>
            <a:ext cx="429577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097B76B8-E3C4-495F-9E38-8E44DF2F2854}"/>
              </a:ext>
            </a:extLst>
          </p:cNvPr>
          <p:cNvSpPr/>
          <p:nvPr userDrawn="1"/>
        </p:nvSpPr>
        <p:spPr>
          <a:xfrm>
            <a:off x="199684" y="188913"/>
            <a:ext cx="7756865" cy="6480175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6329BAC-E89D-464B-80F5-7975021F2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315810"/>
            <a:ext cx="7206343" cy="4813521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0" name="Rubrik 1">
            <a:extLst>
              <a:ext uri="{FF2B5EF4-FFF2-40B4-BE49-F238E27FC236}">
                <a16:creationId xmlns:a16="http://schemas.microsoft.com/office/drawing/2014/main" id="{AEA38EAD-F3D0-4FE6-A42F-173A25DA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224970"/>
            <a:ext cx="7206343" cy="86858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6" name="Platshållare för bild 3">
            <a:extLst>
              <a:ext uri="{FF2B5EF4-FFF2-40B4-BE49-F238E27FC236}">
                <a16:creationId xmlns:a16="http://schemas.microsoft.com/office/drawing/2014/main" id="{2BDC2D88-6D93-4FE0-B89A-8321E0217A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48638" y="188912"/>
            <a:ext cx="3851274" cy="64801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110A1E34-ADB3-455D-966C-1091BCA513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413625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Platshållare för text 4">
            <a:extLst>
              <a:ext uri="{FF2B5EF4-FFF2-40B4-BE49-F238E27FC236}">
                <a16:creationId xmlns:a16="http://schemas.microsoft.com/office/drawing/2014/main" id="{2F50F1D2-4460-45E0-9B74-91CABDE13B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6738" y="6307298"/>
            <a:ext cx="6777037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709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/1 image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90841B7-0AB7-49E7-8936-D53447300B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525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90841B7-0AB7-49E7-8936-D53447300B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ktangel 1">
            <a:extLst>
              <a:ext uri="{FF2B5EF4-FFF2-40B4-BE49-F238E27FC236}">
                <a16:creationId xmlns:a16="http://schemas.microsoft.com/office/drawing/2014/main" id="{AD86A0EB-14C3-47BF-B5D6-3363D583824A}"/>
              </a:ext>
            </a:extLst>
          </p:cNvPr>
          <p:cNvSpPr/>
          <p:nvPr userDrawn="1"/>
        </p:nvSpPr>
        <p:spPr>
          <a:xfrm>
            <a:off x="10858500" y="6237288"/>
            <a:ext cx="1141412" cy="395742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Platshållare för bild 4">
            <a:extLst>
              <a:ext uri="{FF2B5EF4-FFF2-40B4-BE49-F238E27FC236}">
                <a16:creationId xmlns:a16="http://schemas.microsoft.com/office/drawing/2014/main" id="{A68D207A-487F-4CC1-B58D-398874DE99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2088" y="188913"/>
            <a:ext cx="11807825" cy="648017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CB78F89B-9820-4680-93BC-EABF44B68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endParaRPr lang="en-GB" noProof="0"/>
          </a:p>
        </p:txBody>
      </p:sp>
      <p:sp>
        <p:nvSpPr>
          <p:cNvPr id="9" name="Platshållare för text 8">
            <a:extLst>
              <a:ext uri="{FF2B5EF4-FFF2-40B4-BE49-F238E27FC236}">
                <a16:creationId xmlns:a16="http://schemas.microsoft.com/office/drawing/2014/main" id="{E6CC88A7-082D-4BD2-9BEB-19DBA65622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8237" y="1314450"/>
            <a:ext cx="7345362" cy="482441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E341225-61BD-482B-B28C-E5902CE62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1137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 rtl="0">
              <a:defRPr sz="1000">
                <a:solidFill>
                  <a:schemeClr val="bg1">
                    <a:lumMod val="6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Rubrik 1">
            <a:extLst>
              <a:ext uri="{FF2B5EF4-FFF2-40B4-BE49-F238E27FC236}">
                <a16:creationId xmlns:a16="http://schemas.microsoft.com/office/drawing/2014/main" id="{0235C507-8BB1-4D80-A633-E2964E8D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224970"/>
            <a:ext cx="11075081" cy="868589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18632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ayout areas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tshållare för text 5">
            <a:extLst>
              <a:ext uri="{FF2B5EF4-FFF2-40B4-BE49-F238E27FC236}">
                <a16:creationId xmlns:a16="http://schemas.microsoft.com/office/drawing/2014/main" id="{B0B180CF-F969-45B5-9456-8D22FD55C97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7653" y="1304925"/>
            <a:ext cx="5355206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D2BC6C42-6097-492B-9F99-D348590B54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67420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D2BC6C42-6097-492B-9F99-D348590B54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4687F628-21BE-4E7E-AFD0-FB54A6B9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26E4FE-27BF-4B1A-ABF6-F9A662EE6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1763828"/>
            <a:ext cx="5351997" cy="4362121"/>
          </a:xfrm>
          <a:noFill/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D80B363-807F-4835-8349-A506FA17D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9138" y="1763828"/>
            <a:ext cx="5351997" cy="4362121"/>
          </a:xfrm>
          <a:noFill/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Platshållare för bildnummer 5">
            <a:extLst>
              <a:ext uri="{FF2B5EF4-FFF2-40B4-BE49-F238E27FC236}">
                <a16:creationId xmlns:a16="http://schemas.microsoft.com/office/drawing/2014/main" id="{D76DF0D5-7E91-45C0-B88D-743E0305D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Platshållare för text 4">
            <a:extLst>
              <a:ext uri="{FF2B5EF4-FFF2-40B4-BE49-F238E27FC236}">
                <a16:creationId xmlns:a16="http://schemas.microsoft.com/office/drawing/2014/main" id="{5F42BF1E-6F02-4628-9153-402C131A71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6738" y="6307298"/>
            <a:ext cx="9377362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Platshållare för text 5">
            <a:extLst>
              <a:ext uri="{FF2B5EF4-FFF2-40B4-BE49-F238E27FC236}">
                <a16:creationId xmlns:a16="http://schemas.microsoft.com/office/drawing/2014/main" id="{BDBF1B81-0ACC-4C93-8D48-06D582CB61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89138" y="1304925"/>
            <a:ext cx="5355206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77713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ayout areas 2/3 + 1/3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ACA4E967-6DDC-4EA6-9781-49A318846E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4880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ACA4E967-6DDC-4EA6-9781-49A318846E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26E4FE-27BF-4B1A-ABF6-F9A662EE6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3" y="1763783"/>
            <a:ext cx="7308850" cy="436936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687F628-21BE-4E7E-AFD0-FB54A6B9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2" name="Platshållare för innehåll 3">
            <a:extLst>
              <a:ext uri="{FF2B5EF4-FFF2-40B4-BE49-F238E27FC236}">
                <a16:creationId xmlns:a16="http://schemas.microsoft.com/office/drawing/2014/main" id="{52B041DA-FF45-460B-9E4E-49CD1933F034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158163" y="1763783"/>
            <a:ext cx="3492498" cy="4369365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Platshållare för bildnummer 5">
            <a:extLst>
              <a:ext uri="{FF2B5EF4-FFF2-40B4-BE49-F238E27FC236}">
                <a16:creationId xmlns:a16="http://schemas.microsoft.com/office/drawing/2014/main" id="{38A0189D-8E98-4156-A703-4BE7876EC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3" name="Platshållare för text 4">
            <a:extLst>
              <a:ext uri="{FF2B5EF4-FFF2-40B4-BE49-F238E27FC236}">
                <a16:creationId xmlns:a16="http://schemas.microsoft.com/office/drawing/2014/main" id="{FA01F2E9-CD8F-4091-B6A3-033821BECE2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6738" y="6307298"/>
            <a:ext cx="9377362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Platshållare för text 5">
            <a:extLst>
              <a:ext uri="{FF2B5EF4-FFF2-40B4-BE49-F238E27FC236}">
                <a16:creationId xmlns:a16="http://schemas.microsoft.com/office/drawing/2014/main" id="{98FEF1BC-9194-4513-A8CD-FE5FF39284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7652" y="1304925"/>
            <a:ext cx="7308849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22" name="Platshållare för text 5">
            <a:extLst>
              <a:ext uri="{FF2B5EF4-FFF2-40B4-BE49-F238E27FC236}">
                <a16:creationId xmlns:a16="http://schemas.microsoft.com/office/drawing/2014/main" id="{22963BAD-C9BF-407A-B60E-42A6183726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1846" y="1304925"/>
            <a:ext cx="3492498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58970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layout areas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43D43E25-8616-411C-A5FF-90B84543BB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821108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43D43E25-8616-411C-A5FF-90B84543BB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4687F628-21BE-4E7E-AFD0-FB54A6B9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26E4FE-27BF-4B1A-ABF6-F9A662EE6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4" y="1763510"/>
            <a:ext cx="3506400" cy="437154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D80B363-807F-4835-8349-A506FA17D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52923" y="1763510"/>
            <a:ext cx="3506400" cy="437154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2" name="Platshållare för innehåll 3">
            <a:extLst>
              <a:ext uri="{FF2B5EF4-FFF2-40B4-BE49-F238E27FC236}">
                <a16:creationId xmlns:a16="http://schemas.microsoft.com/office/drawing/2014/main" id="{52B041DA-FF45-460B-9E4E-49CD1933F034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153684" y="1760335"/>
            <a:ext cx="3506400" cy="437154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Platshållare för bildnummer 5">
            <a:extLst>
              <a:ext uri="{FF2B5EF4-FFF2-40B4-BE49-F238E27FC236}">
                <a16:creationId xmlns:a16="http://schemas.microsoft.com/office/drawing/2014/main" id="{B937864F-0950-4693-B152-BB3CD8AB4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8" name="Platshållare för text 4">
            <a:extLst>
              <a:ext uri="{FF2B5EF4-FFF2-40B4-BE49-F238E27FC236}">
                <a16:creationId xmlns:a16="http://schemas.microsoft.com/office/drawing/2014/main" id="{36284F2E-FA67-4EFF-858D-442267B80A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66738" y="6307298"/>
            <a:ext cx="9377362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Platshållare för text 5">
            <a:extLst>
              <a:ext uri="{FF2B5EF4-FFF2-40B4-BE49-F238E27FC236}">
                <a16:creationId xmlns:a16="http://schemas.microsoft.com/office/drawing/2014/main" id="{F9423104-8012-4BCE-972E-F21069CC2C4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7653" y="1304925"/>
            <a:ext cx="3506400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22" name="Platshållare för text 5">
            <a:extLst>
              <a:ext uri="{FF2B5EF4-FFF2-40B4-BE49-F238E27FC236}">
                <a16:creationId xmlns:a16="http://schemas.microsoft.com/office/drawing/2014/main" id="{C0C860A6-ED7A-4D05-B304-A38D8CEEFFB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52924" y="1304925"/>
            <a:ext cx="3506400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25" name="Platshållare för text 5">
            <a:extLst>
              <a:ext uri="{FF2B5EF4-FFF2-40B4-BE49-F238E27FC236}">
                <a16:creationId xmlns:a16="http://schemas.microsoft.com/office/drawing/2014/main" id="{23215DE6-EA61-4BF2-A92C-498C46EF44D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3684" y="1304925"/>
            <a:ext cx="3506400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3483512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layout areas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A43860A0-31C0-4308-A6AE-3637315D2B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1196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A43860A0-31C0-4308-A6AE-3637315D2B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4687F628-21BE-4E7E-AFD0-FB54A6B9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26E4FE-27BF-4B1A-ABF6-F9A662EE6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1760949"/>
            <a:ext cx="5353200" cy="1933563"/>
          </a:xfrm>
          <a:noFill/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D80B363-807F-4835-8349-A506FA17D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939" y="1760949"/>
            <a:ext cx="5353200" cy="1933563"/>
          </a:xfrm>
          <a:noFill/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2" name="Platshållare för innehåll 2">
            <a:extLst>
              <a:ext uri="{FF2B5EF4-FFF2-40B4-BE49-F238E27FC236}">
                <a16:creationId xmlns:a16="http://schemas.microsoft.com/office/drawing/2014/main" id="{370372E8-F845-4E97-917B-056EA8BFBB3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550862" y="4195775"/>
            <a:ext cx="5351997" cy="1933563"/>
          </a:xfrm>
          <a:noFill/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3" name="Platshållare för innehåll 3">
            <a:extLst>
              <a:ext uri="{FF2B5EF4-FFF2-40B4-BE49-F238E27FC236}">
                <a16:creationId xmlns:a16="http://schemas.microsoft.com/office/drawing/2014/main" id="{C5B6A511-8A25-417F-AE6B-1C20E9D6A4A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285933" y="4195775"/>
            <a:ext cx="5355206" cy="1933563"/>
          </a:xfrm>
          <a:noFill/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8" name="Platshållare för bildnummer 5">
            <a:extLst>
              <a:ext uri="{FF2B5EF4-FFF2-40B4-BE49-F238E27FC236}">
                <a16:creationId xmlns:a16="http://schemas.microsoft.com/office/drawing/2014/main" id="{B08EA4F6-ECA7-4A89-9B82-7E83AA34D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5" name="Platshållare för text 4">
            <a:extLst>
              <a:ext uri="{FF2B5EF4-FFF2-40B4-BE49-F238E27FC236}">
                <a16:creationId xmlns:a16="http://schemas.microsoft.com/office/drawing/2014/main" id="{965EF0B5-CCC2-4B62-9365-5C5BCBE2A25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66738" y="6307298"/>
            <a:ext cx="9377362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Platshållare för text 5">
            <a:extLst>
              <a:ext uri="{FF2B5EF4-FFF2-40B4-BE49-F238E27FC236}">
                <a16:creationId xmlns:a16="http://schemas.microsoft.com/office/drawing/2014/main" id="{BEB6DF1D-9A9E-41CE-850A-A96914EC195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7653" y="1304925"/>
            <a:ext cx="5355206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19" name="Platshållare för text 5">
            <a:extLst>
              <a:ext uri="{FF2B5EF4-FFF2-40B4-BE49-F238E27FC236}">
                <a16:creationId xmlns:a16="http://schemas.microsoft.com/office/drawing/2014/main" id="{DCF2DF7D-B0C8-4133-AE0E-A02B560F955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89138" y="1304925"/>
            <a:ext cx="5355206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22" name="Platshållare för text 5">
            <a:extLst>
              <a:ext uri="{FF2B5EF4-FFF2-40B4-BE49-F238E27FC236}">
                <a16:creationId xmlns:a16="http://schemas.microsoft.com/office/drawing/2014/main" id="{0F3FB5A6-6C77-40A3-9BBB-15918CE0BC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7653" y="3760852"/>
            <a:ext cx="5355206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23" name="Platshållare för text 5">
            <a:extLst>
              <a:ext uri="{FF2B5EF4-FFF2-40B4-BE49-F238E27FC236}">
                <a16:creationId xmlns:a16="http://schemas.microsoft.com/office/drawing/2014/main" id="{ACBDBF09-4F3F-4E29-A53E-BAE6E1109D8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89138" y="3760852"/>
            <a:ext cx="5355206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224995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layout areas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tshållare för text 5">
            <a:extLst>
              <a:ext uri="{FF2B5EF4-FFF2-40B4-BE49-F238E27FC236}">
                <a16:creationId xmlns:a16="http://schemas.microsoft.com/office/drawing/2014/main" id="{18D858E0-7B1B-48BD-80FA-E2586A9232D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0864" y="3753203"/>
            <a:ext cx="3506400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42" name="Platshållare för text 5">
            <a:extLst>
              <a:ext uri="{FF2B5EF4-FFF2-40B4-BE49-F238E27FC236}">
                <a16:creationId xmlns:a16="http://schemas.microsoft.com/office/drawing/2014/main" id="{3412FC6C-CCFB-4F21-89AE-F81B14C1BC6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49751" y="3753203"/>
            <a:ext cx="3506400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43" name="Platshållare för text 5">
            <a:extLst>
              <a:ext uri="{FF2B5EF4-FFF2-40B4-BE49-F238E27FC236}">
                <a16:creationId xmlns:a16="http://schemas.microsoft.com/office/drawing/2014/main" id="{0F3FA5C2-08BA-4635-B6B8-913F94A91AE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155140" y="3753203"/>
            <a:ext cx="3506400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32ADFAE4-90F1-4166-AC45-CD60C6FCEA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65071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32ADFAE4-90F1-4166-AC45-CD60C6FCEA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4687F628-21BE-4E7E-AFD0-FB54A6B9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26E4FE-27BF-4B1A-ABF6-F9A662EE6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4" y="1760223"/>
            <a:ext cx="3506400" cy="192928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D80B363-807F-4835-8349-A506FA17D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9751" y="1760223"/>
            <a:ext cx="3506400" cy="1929284"/>
          </a:xfrm>
          <a:noFill/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2" name="Platshållare för innehåll 3">
            <a:extLst>
              <a:ext uri="{FF2B5EF4-FFF2-40B4-BE49-F238E27FC236}">
                <a16:creationId xmlns:a16="http://schemas.microsoft.com/office/drawing/2014/main" id="{52B041DA-FF45-460B-9E4E-49CD1933F034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158163" y="1760223"/>
            <a:ext cx="3506400" cy="192928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4" name="Platshållare för bildnummer 5">
            <a:extLst>
              <a:ext uri="{FF2B5EF4-FFF2-40B4-BE49-F238E27FC236}">
                <a16:creationId xmlns:a16="http://schemas.microsoft.com/office/drawing/2014/main" id="{8CC2BA0B-B37A-4238-9621-13DB638EB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30" name="Platshållare för innehåll 2">
            <a:extLst>
              <a:ext uri="{FF2B5EF4-FFF2-40B4-BE49-F238E27FC236}">
                <a16:creationId xmlns:a16="http://schemas.microsoft.com/office/drawing/2014/main" id="{D4AE6A30-8D7C-4634-986E-BF25BEB86285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550864" y="4207674"/>
            <a:ext cx="3506400" cy="192928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1" name="Platshållare för innehåll 3">
            <a:extLst>
              <a:ext uri="{FF2B5EF4-FFF2-40B4-BE49-F238E27FC236}">
                <a16:creationId xmlns:a16="http://schemas.microsoft.com/office/drawing/2014/main" id="{C3A8D3A0-65C5-4FD1-BF4D-2EAAECEC3674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4349751" y="4207674"/>
            <a:ext cx="3506400" cy="192928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2" name="Platshållare för innehåll 3">
            <a:extLst>
              <a:ext uri="{FF2B5EF4-FFF2-40B4-BE49-F238E27FC236}">
                <a16:creationId xmlns:a16="http://schemas.microsoft.com/office/drawing/2014/main" id="{15BA7215-AA47-4B74-A87E-969D381AF4E5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8158163" y="4207674"/>
            <a:ext cx="3506400" cy="192928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4" name="Platshållare för text 4">
            <a:extLst>
              <a:ext uri="{FF2B5EF4-FFF2-40B4-BE49-F238E27FC236}">
                <a16:creationId xmlns:a16="http://schemas.microsoft.com/office/drawing/2014/main" id="{F5CF1B38-D318-4CB9-A876-FE7C4BBE9B5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6738" y="6307298"/>
            <a:ext cx="9377362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8" name="Platshållare för text 5">
            <a:extLst>
              <a:ext uri="{FF2B5EF4-FFF2-40B4-BE49-F238E27FC236}">
                <a16:creationId xmlns:a16="http://schemas.microsoft.com/office/drawing/2014/main" id="{760C59D1-D16C-4FF6-BD75-8BE2E518FDC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50864" y="1304925"/>
            <a:ext cx="3506400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39" name="Platshållare för text 5">
            <a:extLst>
              <a:ext uri="{FF2B5EF4-FFF2-40B4-BE49-F238E27FC236}">
                <a16:creationId xmlns:a16="http://schemas.microsoft.com/office/drawing/2014/main" id="{AF6115D6-0D2E-4F03-AFD9-4C8B9ABB13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49751" y="1304925"/>
            <a:ext cx="3506400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40" name="Platshållare för text 5">
            <a:extLst>
              <a:ext uri="{FF2B5EF4-FFF2-40B4-BE49-F238E27FC236}">
                <a16:creationId xmlns:a16="http://schemas.microsoft.com/office/drawing/2014/main" id="{E0D6014E-66F2-4AAB-B245-6F40FE4C0E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55140" y="1304925"/>
            <a:ext cx="3506400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905611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A43860A0-31C0-4308-A6AE-3637315D2B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85463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Objekt 5" hidden="1">
                        <a:extLst>
                          <a:ext uri="{FF2B5EF4-FFF2-40B4-BE49-F238E27FC236}">
                            <a16:creationId xmlns:a16="http://schemas.microsoft.com/office/drawing/2014/main" id="{A43860A0-31C0-4308-A6AE-3637315D2B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4687F628-21BE-4E7E-AFD0-FB54A6B9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26E4FE-27BF-4B1A-ABF6-F9A662EE6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59838" y="1822724"/>
            <a:ext cx="4171694" cy="936000"/>
          </a:xfrm>
          <a:solidFill>
            <a:schemeClr val="bg2"/>
          </a:solidFill>
        </p:spPr>
        <p:txBody>
          <a:bodyPr lIns="72000" tIns="72000" rIns="72000" bIns="72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7D80B363-807F-4835-8349-A506FA17D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59838" y="2947063"/>
            <a:ext cx="4171694" cy="936000"/>
          </a:xfrm>
          <a:solidFill>
            <a:schemeClr val="bg2"/>
          </a:solidFill>
        </p:spPr>
        <p:txBody>
          <a:bodyPr lIns="72000" tIns="72000" rIns="72000" bIns="72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2" name="Platshållare för innehåll 2">
            <a:extLst>
              <a:ext uri="{FF2B5EF4-FFF2-40B4-BE49-F238E27FC236}">
                <a16:creationId xmlns:a16="http://schemas.microsoft.com/office/drawing/2014/main" id="{370372E8-F845-4E97-917B-056EA8BFBB3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059838" y="4071402"/>
            <a:ext cx="4171694" cy="936000"/>
          </a:xfrm>
          <a:solidFill>
            <a:schemeClr val="bg2"/>
          </a:solidFill>
        </p:spPr>
        <p:txBody>
          <a:bodyPr lIns="72000" tIns="72000" rIns="72000" bIns="72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3" name="Platshållare för innehåll 3">
            <a:extLst>
              <a:ext uri="{FF2B5EF4-FFF2-40B4-BE49-F238E27FC236}">
                <a16:creationId xmlns:a16="http://schemas.microsoft.com/office/drawing/2014/main" id="{C5B6A511-8A25-417F-AE6B-1C20E9D6A4A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59838" y="5195740"/>
            <a:ext cx="4171694" cy="936000"/>
          </a:xfrm>
          <a:solidFill>
            <a:schemeClr val="bg2"/>
          </a:solidFill>
        </p:spPr>
        <p:txBody>
          <a:bodyPr lIns="72000" tIns="72000" rIns="72000" bIns="72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6" name="Platshållare för text 5">
            <a:extLst>
              <a:ext uri="{FF2B5EF4-FFF2-40B4-BE49-F238E27FC236}">
                <a16:creationId xmlns:a16="http://schemas.microsoft.com/office/drawing/2014/main" id="{97074AB9-78FD-492E-B155-864C17ABBE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8424" y="1822724"/>
            <a:ext cx="2271780" cy="936000"/>
          </a:xfrm>
          <a:solidFill>
            <a:schemeClr val="bg2"/>
          </a:solidFill>
        </p:spPr>
        <p:txBody>
          <a:bodyPr lIns="72000" tIns="72000" rIns="72000" bIns="72000"/>
          <a:lstStyle>
            <a:lvl1pPr marL="0" indent="0" rtl="0">
              <a:buNone/>
              <a:defRPr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Platshållare för text 5">
            <a:extLst>
              <a:ext uri="{FF2B5EF4-FFF2-40B4-BE49-F238E27FC236}">
                <a16:creationId xmlns:a16="http://schemas.microsoft.com/office/drawing/2014/main" id="{EB2342AC-D241-45ED-8354-B2AE6367D9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8424" y="2947063"/>
            <a:ext cx="2271780" cy="936000"/>
          </a:xfrm>
          <a:solidFill>
            <a:schemeClr val="bg2"/>
          </a:solidFill>
        </p:spPr>
        <p:txBody>
          <a:bodyPr lIns="72000" tIns="72000" rIns="72000" bIns="72000"/>
          <a:lstStyle>
            <a:lvl1pPr marL="0" indent="0" rtl="0">
              <a:buNone/>
              <a:defRPr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Platshållare för text 5">
            <a:extLst>
              <a:ext uri="{FF2B5EF4-FFF2-40B4-BE49-F238E27FC236}">
                <a16:creationId xmlns:a16="http://schemas.microsoft.com/office/drawing/2014/main" id="{6B71EAE5-8E7A-44FB-B90C-F746C668B8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8424" y="4071402"/>
            <a:ext cx="2271780" cy="936000"/>
          </a:xfrm>
          <a:solidFill>
            <a:schemeClr val="bg2"/>
          </a:solidFill>
        </p:spPr>
        <p:txBody>
          <a:bodyPr lIns="72000" tIns="72000" rIns="72000" bIns="72000"/>
          <a:lstStyle>
            <a:lvl1pPr marL="0" indent="0" rtl="0">
              <a:buNone/>
              <a:defRPr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Platshållare för text 5">
            <a:extLst>
              <a:ext uri="{FF2B5EF4-FFF2-40B4-BE49-F238E27FC236}">
                <a16:creationId xmlns:a16="http://schemas.microsoft.com/office/drawing/2014/main" id="{835D852D-090A-4A97-97D0-5DF3BE2B97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8424" y="5195740"/>
            <a:ext cx="2271780" cy="936000"/>
          </a:xfrm>
          <a:solidFill>
            <a:schemeClr val="bg2"/>
          </a:solidFill>
        </p:spPr>
        <p:txBody>
          <a:bodyPr lIns="72000" tIns="72000" rIns="72000" bIns="72000"/>
          <a:lstStyle>
            <a:lvl1pPr marL="0" indent="0" rtl="0">
              <a:buNone/>
              <a:defRPr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Platshållare för bildnummer 5">
            <a:extLst>
              <a:ext uri="{FF2B5EF4-FFF2-40B4-BE49-F238E27FC236}">
                <a16:creationId xmlns:a16="http://schemas.microsoft.com/office/drawing/2014/main" id="{B08EA4F6-ECA7-4A89-9B82-7E83AA34D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5" name="Platshållare för innehåll 2">
            <a:extLst>
              <a:ext uri="{FF2B5EF4-FFF2-40B4-BE49-F238E27FC236}">
                <a16:creationId xmlns:a16="http://schemas.microsoft.com/office/drawing/2014/main" id="{5F73F9B2-7B61-4B20-B919-A08B23349F2D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7476389" y="1822724"/>
            <a:ext cx="4171694" cy="936000"/>
          </a:xfrm>
          <a:solidFill>
            <a:schemeClr val="bg2"/>
          </a:solidFill>
        </p:spPr>
        <p:txBody>
          <a:bodyPr lIns="72000" tIns="72000" rIns="72000" bIns="72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6" name="Platshållare för innehåll 3">
            <a:extLst>
              <a:ext uri="{FF2B5EF4-FFF2-40B4-BE49-F238E27FC236}">
                <a16:creationId xmlns:a16="http://schemas.microsoft.com/office/drawing/2014/main" id="{686A7B49-15FC-43F9-83A4-E97C2D0413AF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7476389" y="2947063"/>
            <a:ext cx="4171694" cy="936000"/>
          </a:xfrm>
          <a:solidFill>
            <a:schemeClr val="bg2"/>
          </a:solidFill>
        </p:spPr>
        <p:txBody>
          <a:bodyPr lIns="72000" tIns="72000" rIns="72000" bIns="72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7" name="Platshållare för innehåll 2">
            <a:extLst>
              <a:ext uri="{FF2B5EF4-FFF2-40B4-BE49-F238E27FC236}">
                <a16:creationId xmlns:a16="http://schemas.microsoft.com/office/drawing/2014/main" id="{FF030A28-A921-4A6A-ACDC-CE4D80604E37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7476389" y="4071402"/>
            <a:ext cx="4171694" cy="936000"/>
          </a:xfrm>
          <a:solidFill>
            <a:schemeClr val="bg2"/>
          </a:solidFill>
        </p:spPr>
        <p:txBody>
          <a:bodyPr lIns="72000" tIns="72000" rIns="72000" bIns="72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9" name="Platshållare för innehåll 3">
            <a:extLst>
              <a:ext uri="{FF2B5EF4-FFF2-40B4-BE49-F238E27FC236}">
                <a16:creationId xmlns:a16="http://schemas.microsoft.com/office/drawing/2014/main" id="{7CBD8CB2-B000-4C17-9EFF-95C4F8288A3D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7476389" y="5195740"/>
            <a:ext cx="4171694" cy="936000"/>
          </a:xfrm>
          <a:solidFill>
            <a:schemeClr val="bg2"/>
          </a:solidFill>
        </p:spPr>
        <p:txBody>
          <a:bodyPr lIns="72000" tIns="72000" rIns="72000" bIns="72000"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Platshållare för text 4">
            <a:extLst>
              <a:ext uri="{FF2B5EF4-FFF2-40B4-BE49-F238E27FC236}">
                <a16:creationId xmlns:a16="http://schemas.microsoft.com/office/drawing/2014/main" id="{7CD59C57-FB32-4406-96B6-F054FEDE995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6738" y="6307298"/>
            <a:ext cx="9377362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4" name="Platshållare för text 5">
            <a:extLst>
              <a:ext uri="{FF2B5EF4-FFF2-40B4-BE49-F238E27FC236}">
                <a16:creationId xmlns:a16="http://schemas.microsoft.com/office/drawing/2014/main" id="{5927C186-7683-4182-A3B9-1522007F56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8422" y="1304925"/>
            <a:ext cx="2271781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32" name="Platshållare för text 5">
            <a:extLst>
              <a:ext uri="{FF2B5EF4-FFF2-40B4-BE49-F238E27FC236}">
                <a16:creationId xmlns:a16="http://schemas.microsoft.com/office/drawing/2014/main" id="{802C86A7-A369-4A43-84D1-D198212D52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059839" y="1304925"/>
            <a:ext cx="4171694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  <p:sp>
        <p:nvSpPr>
          <p:cNvPr id="33" name="Platshållare för text 5">
            <a:extLst>
              <a:ext uri="{FF2B5EF4-FFF2-40B4-BE49-F238E27FC236}">
                <a16:creationId xmlns:a16="http://schemas.microsoft.com/office/drawing/2014/main" id="{A1949C51-DD4D-416A-AC14-9AD84A6082F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76389" y="1304925"/>
            <a:ext cx="4185151" cy="409882"/>
          </a:xfrm>
          <a:custGeom>
            <a:avLst/>
            <a:gdLst>
              <a:gd name="connsiteX0" fmla="*/ 0 w 5351997"/>
              <a:gd name="connsiteY0" fmla="*/ 0 h 409882"/>
              <a:gd name="connsiteX1" fmla="*/ 5351997 w 5351997"/>
              <a:gd name="connsiteY1" fmla="*/ 0 h 409882"/>
              <a:gd name="connsiteX2" fmla="*/ 5351997 w 5351997"/>
              <a:gd name="connsiteY2" fmla="*/ 409882 h 409882"/>
              <a:gd name="connsiteX3" fmla="*/ 0 w 5351997"/>
              <a:gd name="connsiteY3" fmla="*/ 409882 h 409882"/>
              <a:gd name="connsiteX4" fmla="*/ 0 w 5351997"/>
              <a:gd name="connsiteY4" fmla="*/ 0 h 409882"/>
              <a:gd name="connsiteX0" fmla="*/ -445982 w 5351997"/>
              <a:gd name="connsiteY0" fmla="*/ 76853 h 409882"/>
              <a:gd name="connsiteX1" fmla="*/ -892017 w 5351997"/>
              <a:gd name="connsiteY1" fmla="*/ 76853 h 409882"/>
              <a:gd name="connsiteX2" fmla="*/ -2497616 w 5351997"/>
              <a:gd name="connsiteY2" fmla="*/ 461117 h 409882"/>
              <a:gd name="connsiteX0" fmla="*/ 2497616 w 7849613"/>
              <a:gd name="connsiteY0" fmla="*/ 0 h 461117"/>
              <a:gd name="connsiteX1" fmla="*/ 7849613 w 7849613"/>
              <a:gd name="connsiteY1" fmla="*/ 0 h 461117"/>
              <a:gd name="connsiteX2" fmla="*/ 7849613 w 7849613"/>
              <a:gd name="connsiteY2" fmla="*/ 409882 h 461117"/>
              <a:gd name="connsiteX3" fmla="*/ 2497616 w 7849613"/>
              <a:gd name="connsiteY3" fmla="*/ 409882 h 461117"/>
              <a:gd name="connsiteX4" fmla="*/ 2497616 w 7849613"/>
              <a:gd name="connsiteY4" fmla="*/ 0 h 461117"/>
              <a:gd name="connsiteX0" fmla="*/ 1605599 w 7849613"/>
              <a:gd name="connsiteY0" fmla="*/ 76853 h 461117"/>
              <a:gd name="connsiteX1" fmla="*/ 0 w 7849613"/>
              <a:gd name="connsiteY1" fmla="*/ 461117 h 461117"/>
              <a:gd name="connsiteX0" fmla="*/ 892017 w 6244014"/>
              <a:gd name="connsiteY0" fmla="*/ 0 h 409882"/>
              <a:gd name="connsiteX1" fmla="*/ 6244014 w 6244014"/>
              <a:gd name="connsiteY1" fmla="*/ 0 h 409882"/>
              <a:gd name="connsiteX2" fmla="*/ 6244014 w 6244014"/>
              <a:gd name="connsiteY2" fmla="*/ 409882 h 409882"/>
              <a:gd name="connsiteX3" fmla="*/ 892017 w 6244014"/>
              <a:gd name="connsiteY3" fmla="*/ 409882 h 409882"/>
              <a:gd name="connsiteX4" fmla="*/ 892017 w 6244014"/>
              <a:gd name="connsiteY4" fmla="*/ 0 h 409882"/>
              <a:gd name="connsiteX0" fmla="*/ 0 w 6244014"/>
              <a:gd name="connsiteY0" fmla="*/ 76853 h 409882"/>
              <a:gd name="connsiteX1" fmla="*/ 875473 w 6244014"/>
              <a:gd name="connsiteY1" fmla="*/ 394061 h 409882"/>
              <a:gd name="connsiteX0" fmla="*/ 16544 w 5372927"/>
              <a:gd name="connsiteY0" fmla="*/ 0 h 409882"/>
              <a:gd name="connsiteX1" fmla="*/ 5368541 w 5372927"/>
              <a:gd name="connsiteY1" fmla="*/ 0 h 409882"/>
              <a:gd name="connsiteX2" fmla="*/ 5368541 w 5372927"/>
              <a:gd name="connsiteY2" fmla="*/ 409882 h 409882"/>
              <a:gd name="connsiteX3" fmla="*/ 16544 w 5372927"/>
              <a:gd name="connsiteY3" fmla="*/ 409882 h 409882"/>
              <a:gd name="connsiteX4" fmla="*/ 16544 w 5372927"/>
              <a:gd name="connsiteY4" fmla="*/ 0 h 409882"/>
              <a:gd name="connsiteX0" fmla="*/ 5372927 w 5372927"/>
              <a:gd name="connsiteY0" fmla="*/ 406037 h 409882"/>
              <a:gd name="connsiteX1" fmla="*/ 0 w 5372927"/>
              <a:gd name="connsiteY1" fmla="*/ 394061 h 409882"/>
              <a:gd name="connsiteX0" fmla="*/ 3209 w 5359592"/>
              <a:gd name="connsiteY0" fmla="*/ 0 h 409882"/>
              <a:gd name="connsiteX1" fmla="*/ 5355206 w 5359592"/>
              <a:gd name="connsiteY1" fmla="*/ 0 h 409882"/>
              <a:gd name="connsiteX2" fmla="*/ 5355206 w 5359592"/>
              <a:gd name="connsiteY2" fmla="*/ 409882 h 409882"/>
              <a:gd name="connsiteX3" fmla="*/ 3209 w 5359592"/>
              <a:gd name="connsiteY3" fmla="*/ 409882 h 409882"/>
              <a:gd name="connsiteX4" fmla="*/ 3209 w 5359592"/>
              <a:gd name="connsiteY4" fmla="*/ 0 h 409882"/>
              <a:gd name="connsiteX0" fmla="*/ 5359592 w 5359592"/>
              <a:gd name="connsiteY0" fmla="*/ 406037 h 409882"/>
              <a:gd name="connsiteX1" fmla="*/ 0 w 5359592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150042 w 5355206"/>
              <a:gd name="connsiteY0" fmla="*/ 286022 h 409882"/>
              <a:gd name="connsiteX1" fmla="*/ 0 w 5355206"/>
              <a:gd name="connsiteY1" fmla="*/ 409301 h 409882"/>
              <a:gd name="connsiteX0" fmla="*/ 3209 w 5355206"/>
              <a:gd name="connsiteY0" fmla="*/ 0 h 409882"/>
              <a:gd name="connsiteX1" fmla="*/ 5355206 w 5355206"/>
              <a:gd name="connsiteY1" fmla="*/ 0 h 409882"/>
              <a:gd name="connsiteX2" fmla="*/ 5355206 w 5355206"/>
              <a:gd name="connsiteY2" fmla="*/ 409882 h 409882"/>
              <a:gd name="connsiteX3" fmla="*/ 3209 w 5355206"/>
              <a:gd name="connsiteY3" fmla="*/ 409882 h 409882"/>
              <a:gd name="connsiteX4" fmla="*/ 3209 w 5355206"/>
              <a:gd name="connsiteY4" fmla="*/ 0 h 409882"/>
              <a:gd name="connsiteX0" fmla="*/ 5353877 w 5355206"/>
              <a:gd name="connsiteY0" fmla="*/ 409847 h 409882"/>
              <a:gd name="connsiteX1" fmla="*/ 0 w 5355206"/>
              <a:gd name="connsiteY1" fmla="*/ 409301 h 40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55206" h="409882" stroke="0" extrusionOk="0">
                <a:moveTo>
                  <a:pt x="3209" y="0"/>
                </a:moveTo>
                <a:lnTo>
                  <a:pt x="5355206" y="0"/>
                </a:lnTo>
                <a:lnTo>
                  <a:pt x="5355206" y="409882"/>
                </a:lnTo>
                <a:lnTo>
                  <a:pt x="3209" y="409882"/>
                </a:lnTo>
                <a:lnTo>
                  <a:pt x="3209" y="0"/>
                </a:lnTo>
                <a:close/>
              </a:path>
              <a:path w="5355206" h="409882" fill="none" extrusionOk="0">
                <a:moveTo>
                  <a:pt x="5353877" y="409847"/>
                </a:moveTo>
                <a:lnTo>
                  <a:pt x="0" y="409301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txBody>
          <a:bodyPr bIns="54000" anchor="b"/>
          <a:lstStyle>
            <a:lvl1pPr marL="0" indent="0" rtl="0"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sv-SE" noProof="0"/>
              <a:t>Klicka här för att ändra format på bakgrundstexten</a:t>
            </a:r>
          </a:p>
        </p:txBody>
      </p:sp>
    </p:spTree>
    <p:extLst>
      <p:ext uri="{BB962C8B-B14F-4D97-AF65-F5344CB8AC3E}">
        <p14:creationId xmlns:p14="http://schemas.microsoft.com/office/powerpoint/2010/main" val="17473152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19697D41-597E-42C0-B0C0-AFE10016E1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42512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19697D41-597E-42C0-B0C0-AFE10016E1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ubrik 1">
            <a:extLst>
              <a:ext uri="{FF2B5EF4-FFF2-40B4-BE49-F238E27FC236}">
                <a16:creationId xmlns:a16="http://schemas.microsoft.com/office/drawing/2014/main" id="{B8EEF0B8-FE5A-4815-9D2C-241A1707C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Platshållare för bildnummer 5">
            <a:extLst>
              <a:ext uri="{FF2B5EF4-FFF2-40B4-BE49-F238E27FC236}">
                <a16:creationId xmlns:a16="http://schemas.microsoft.com/office/drawing/2014/main" id="{3AAA55E2-E09B-4F10-93B6-A81D1E463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6" name="Platshållare för text 4">
            <a:extLst>
              <a:ext uri="{FF2B5EF4-FFF2-40B4-BE49-F238E27FC236}">
                <a16:creationId xmlns:a16="http://schemas.microsoft.com/office/drawing/2014/main" id="{6E7E240D-D9D9-41F0-AA28-F28CCD7872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6738" y="6307298"/>
            <a:ext cx="9377362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963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F1493C8E-DDC9-4ADB-BDE2-99C615CD7B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09617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F1493C8E-DDC9-4ADB-BDE2-99C615CD7B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928B74C-B202-44C6-8AB0-CB2B195A7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370C6064-07DA-469E-B7F0-3D47A5E713CB}"/>
              </a:ext>
            </a:extLst>
          </p:cNvPr>
          <p:cNvSpPr/>
          <p:nvPr userDrawn="1"/>
        </p:nvSpPr>
        <p:spPr>
          <a:xfrm>
            <a:off x="422031" y="924448"/>
            <a:ext cx="11384782" cy="420547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6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Platshållare för text 4">
            <a:extLst>
              <a:ext uri="{FF2B5EF4-FFF2-40B4-BE49-F238E27FC236}">
                <a16:creationId xmlns:a16="http://schemas.microsoft.com/office/drawing/2014/main" id="{A72DA98C-8EE9-4283-80E6-8BC216156F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6738" y="6307298"/>
            <a:ext cx="9377362" cy="323689"/>
          </a:xfrm>
        </p:spPr>
        <p:txBody>
          <a:bodyPr vert="horz" lIns="36000" tIns="36000" rIns="36000" bIns="36000" rtlCol="0" anchor="t"/>
          <a:lstStyle>
            <a:lvl1pPr marL="0" indent="0" rtl="0">
              <a:spcBef>
                <a:spcPts val="0"/>
              </a:spcBef>
              <a:buNone/>
              <a:defRPr lang="sv-SE" sz="1000" dirty="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1289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Thank You">
    <p:bg>
      <p:bgPr>
        <a:solidFill>
          <a:srgbClr val="122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 descr="En bild som visar text, clipart&#10;&#10;Automatiskt genererad beskrivning">
            <a:extLst>
              <a:ext uri="{FF2B5EF4-FFF2-40B4-BE49-F238E27FC236}">
                <a16:creationId xmlns:a16="http://schemas.microsoft.com/office/drawing/2014/main" id="{471F3140-6F85-4BC3-B93A-8DA6C6526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802" y="3232098"/>
            <a:ext cx="5358395" cy="1773940"/>
          </a:xfrm>
          <a:prstGeom prst="rect">
            <a:avLst/>
          </a:prstGeom>
        </p:spPr>
      </p:pic>
      <p:sp>
        <p:nvSpPr>
          <p:cNvPr id="7" name="Bildruta 6">
            <a:extLst>
              <a:ext uri="{FF2B5EF4-FFF2-40B4-BE49-F238E27FC236}">
                <a16:creationId xmlns:a16="http://schemas.microsoft.com/office/drawing/2014/main" id="{8B8BDD07-5B93-49E7-A2A5-40170BF0BC86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583115A2-5AEC-4C2F-9DCA-C75204AC2841}"/>
              </a:ext>
            </a:extLst>
          </p:cNvPr>
          <p:cNvSpPr/>
          <p:nvPr userDrawn="1"/>
        </p:nvSpPr>
        <p:spPr>
          <a:xfrm>
            <a:off x="0" y="6665360"/>
            <a:ext cx="12192000" cy="192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Bildruta 12">
            <a:extLst>
              <a:ext uri="{FF2B5EF4-FFF2-40B4-BE49-F238E27FC236}">
                <a16:creationId xmlns:a16="http://schemas.microsoft.com/office/drawing/2014/main" id="{D08E5299-A7C6-4D83-9AED-F878123BB268}"/>
              </a:ext>
            </a:extLst>
          </p:cNvPr>
          <p:cNvSpPr/>
          <p:nvPr userDrawn="1"/>
        </p:nvSpPr>
        <p:spPr>
          <a:xfrm>
            <a:off x="0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01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iitos">
    <p:bg>
      <p:bgPr>
        <a:solidFill>
          <a:srgbClr val="122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ruta 6">
            <a:extLst>
              <a:ext uri="{FF2B5EF4-FFF2-40B4-BE49-F238E27FC236}">
                <a16:creationId xmlns:a16="http://schemas.microsoft.com/office/drawing/2014/main" id="{8B8BDD07-5B93-49E7-A2A5-40170BF0BC86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583115A2-5AEC-4C2F-9DCA-C75204AC2841}"/>
              </a:ext>
            </a:extLst>
          </p:cNvPr>
          <p:cNvSpPr/>
          <p:nvPr userDrawn="1"/>
        </p:nvSpPr>
        <p:spPr>
          <a:xfrm>
            <a:off x="0" y="6665360"/>
            <a:ext cx="12192000" cy="192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Bildruta 12">
            <a:extLst>
              <a:ext uri="{FF2B5EF4-FFF2-40B4-BE49-F238E27FC236}">
                <a16:creationId xmlns:a16="http://schemas.microsoft.com/office/drawing/2014/main" id="{D08E5299-A7C6-4D83-9AED-F878123BB268}"/>
              </a:ext>
            </a:extLst>
          </p:cNvPr>
          <p:cNvSpPr/>
          <p:nvPr userDrawn="1"/>
        </p:nvSpPr>
        <p:spPr>
          <a:xfrm>
            <a:off x="0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Bildobjekt 4" descr="En bild som visar text, porslin, clipart, kärl&#10;&#10;Automatiskt genererad beskrivning">
            <a:extLst>
              <a:ext uri="{FF2B5EF4-FFF2-40B4-BE49-F238E27FC236}">
                <a16:creationId xmlns:a16="http://schemas.microsoft.com/office/drawing/2014/main" id="{4766B872-1802-436A-8C77-C4A01E766B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775" y="3043186"/>
            <a:ext cx="3085598" cy="158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08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Tack">
    <p:bg>
      <p:bgPr>
        <a:solidFill>
          <a:srgbClr val="122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ruta 6">
            <a:extLst>
              <a:ext uri="{FF2B5EF4-FFF2-40B4-BE49-F238E27FC236}">
                <a16:creationId xmlns:a16="http://schemas.microsoft.com/office/drawing/2014/main" id="{8B8BDD07-5B93-49E7-A2A5-40170BF0BC86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583115A2-5AEC-4C2F-9DCA-C75204AC2841}"/>
              </a:ext>
            </a:extLst>
          </p:cNvPr>
          <p:cNvSpPr/>
          <p:nvPr userDrawn="1"/>
        </p:nvSpPr>
        <p:spPr>
          <a:xfrm>
            <a:off x="0" y="6665360"/>
            <a:ext cx="12192000" cy="192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Bildruta 12">
            <a:extLst>
              <a:ext uri="{FF2B5EF4-FFF2-40B4-BE49-F238E27FC236}">
                <a16:creationId xmlns:a16="http://schemas.microsoft.com/office/drawing/2014/main" id="{D08E5299-A7C6-4D83-9AED-F878123BB268}"/>
              </a:ext>
            </a:extLst>
          </p:cNvPr>
          <p:cNvSpPr/>
          <p:nvPr userDrawn="1"/>
        </p:nvSpPr>
        <p:spPr>
          <a:xfrm>
            <a:off x="0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E2FE8959-5A70-4F59-A233-82C487EF3A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063" y="3043186"/>
            <a:ext cx="2679276" cy="141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593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e put our heart into it">
    <p:bg>
      <p:bgPr>
        <a:solidFill>
          <a:srgbClr val="122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 descr="En bild som visar text&#10;&#10;Automatiskt genererad beskrivning">
            <a:extLst>
              <a:ext uri="{FF2B5EF4-FFF2-40B4-BE49-F238E27FC236}">
                <a16:creationId xmlns:a16="http://schemas.microsoft.com/office/drawing/2014/main" id="{59F3AE18-612A-44A5-B7E4-980FD7174A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621" y="2065455"/>
            <a:ext cx="4325121" cy="2852934"/>
          </a:xfrm>
          <a:prstGeom prst="rect">
            <a:avLst/>
          </a:prstGeom>
        </p:spPr>
      </p:pic>
      <p:sp>
        <p:nvSpPr>
          <p:cNvPr id="6" name="Bildruta 5">
            <a:extLst>
              <a:ext uri="{FF2B5EF4-FFF2-40B4-BE49-F238E27FC236}">
                <a16:creationId xmlns:a16="http://schemas.microsoft.com/office/drawing/2014/main" id="{94E7DAEF-EDFA-4875-ACA0-7815D52208D7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583115A2-5AEC-4C2F-9DCA-C75204AC2841}"/>
              </a:ext>
            </a:extLst>
          </p:cNvPr>
          <p:cNvSpPr/>
          <p:nvPr userDrawn="1"/>
        </p:nvSpPr>
        <p:spPr>
          <a:xfrm>
            <a:off x="0" y="6665360"/>
            <a:ext cx="12192000" cy="192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Bildruta 12">
            <a:extLst>
              <a:ext uri="{FF2B5EF4-FFF2-40B4-BE49-F238E27FC236}">
                <a16:creationId xmlns:a16="http://schemas.microsoft.com/office/drawing/2014/main" id="{D08E5299-A7C6-4D83-9AED-F878123BB268}"/>
              </a:ext>
            </a:extLst>
          </p:cNvPr>
          <p:cNvSpPr/>
          <p:nvPr userDrawn="1"/>
        </p:nvSpPr>
        <p:spPr>
          <a:xfrm>
            <a:off x="0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err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323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ttendo Blue ">
    <p:bg>
      <p:bgPr>
        <a:solidFill>
          <a:srgbClr val="122D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ruta 12">
            <a:extLst>
              <a:ext uri="{FF2B5EF4-FFF2-40B4-BE49-F238E27FC236}">
                <a16:creationId xmlns:a16="http://schemas.microsoft.com/office/drawing/2014/main" id="{C90CD2AC-8602-4D2F-B182-C371BE04F373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82FD575-D18D-497E-9E97-8B28526300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54630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82FD575-D18D-497E-9E97-8B2852630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Underrubrik 2">
            <a:extLst>
              <a:ext uri="{FF2B5EF4-FFF2-40B4-BE49-F238E27FC236}">
                <a16:creationId xmlns:a16="http://schemas.microsoft.com/office/drawing/2014/main" id="{D7B91BCB-5ED5-432A-81DB-FE71FB6B4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4468"/>
            <a:ext cx="9144000" cy="505505"/>
          </a:xfrm>
        </p:spPr>
        <p:txBody>
          <a:bodyPr anchor="ctr">
            <a:noAutofit/>
          </a:bodyPr>
          <a:lstStyle>
            <a:lvl1pPr marL="0" indent="0" algn="ctr" rtl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15" name="Rubrik 14">
            <a:extLst>
              <a:ext uri="{FF2B5EF4-FFF2-40B4-BE49-F238E27FC236}">
                <a16:creationId xmlns:a16="http://schemas.microsoft.com/office/drawing/2014/main" id="{D0555BDB-D614-4CCF-B173-D45449D19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92890"/>
            <a:ext cx="9144000" cy="1857375"/>
          </a:xfrm>
        </p:spPr>
        <p:txBody>
          <a:bodyPr vert="horz" anchor="b">
            <a:noAutofit/>
          </a:bodyPr>
          <a:lstStyle>
            <a:lvl1pPr algn="ctr" rtl="0">
              <a:defRPr sz="50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17" name="Google Shape;135;p26">
            <a:extLst>
              <a:ext uri="{FF2B5EF4-FFF2-40B4-BE49-F238E27FC236}">
                <a16:creationId xmlns:a16="http://schemas.microsoft.com/office/drawing/2014/main" id="{762234D6-55EE-4096-A584-C87306586D8C}"/>
              </a:ext>
            </a:extLst>
          </p:cNvPr>
          <p:cNvCxnSpPr/>
          <p:nvPr userDrawn="1"/>
        </p:nvCxnSpPr>
        <p:spPr>
          <a:xfrm>
            <a:off x="715365" y="4171387"/>
            <a:ext cx="10755108" cy="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" name="Picture 10">
            <a:extLst>
              <a:ext uri="{FF2B5EF4-FFF2-40B4-BE49-F238E27FC236}">
                <a16:creationId xmlns:a16="http://schemas.microsoft.com/office/drawing/2014/main" id="{A1A218CD-785E-4EFB-A7B4-7AA392CBF93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78229" y="893097"/>
            <a:ext cx="2885879" cy="2619490"/>
          </a:xfrm>
          <a:prstGeom prst="rect">
            <a:avLst/>
          </a:prstGeom>
        </p:spPr>
      </p:pic>
      <p:pic>
        <p:nvPicPr>
          <p:cNvPr id="14" name="Bildobjekt 13" descr="En bild som visar text, clipart, vektorgrafik&#10;&#10;Automatiskt genererad beskrivning">
            <a:extLst>
              <a:ext uri="{FF2B5EF4-FFF2-40B4-BE49-F238E27FC236}">
                <a16:creationId xmlns:a16="http://schemas.microsoft.com/office/drawing/2014/main" id="{9E84B172-88FE-4737-BFE2-532583E17F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234" y="5174442"/>
            <a:ext cx="2154484" cy="98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516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urquoise ">
    <p:bg>
      <p:bgPr>
        <a:solidFill>
          <a:srgbClr val="55A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>
            <a:extLst>
              <a:ext uri="{FF2B5EF4-FFF2-40B4-BE49-F238E27FC236}">
                <a16:creationId xmlns:a16="http://schemas.microsoft.com/office/drawing/2014/main" id="{52F623D6-B8BC-4988-A48F-AB00B91266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824" y="845725"/>
            <a:ext cx="3002749" cy="2725572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C18E1494-5C3C-4703-9130-BCB53ECA8E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235" y="5174441"/>
            <a:ext cx="2154484" cy="985044"/>
          </a:xfrm>
          <a:prstGeom prst="rect">
            <a:avLst/>
          </a:prstGeom>
        </p:spPr>
      </p:pic>
      <p:sp>
        <p:nvSpPr>
          <p:cNvPr id="13" name="Bildruta 12">
            <a:extLst>
              <a:ext uri="{FF2B5EF4-FFF2-40B4-BE49-F238E27FC236}">
                <a16:creationId xmlns:a16="http://schemas.microsoft.com/office/drawing/2014/main" id="{C90CD2AC-8602-4D2F-B182-C371BE04F373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82FD575-D18D-497E-9E97-8B28526300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61757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82FD575-D18D-497E-9E97-8B2852630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Underrubrik 2">
            <a:extLst>
              <a:ext uri="{FF2B5EF4-FFF2-40B4-BE49-F238E27FC236}">
                <a16:creationId xmlns:a16="http://schemas.microsoft.com/office/drawing/2014/main" id="{D7B91BCB-5ED5-432A-81DB-FE71FB6B4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4468"/>
            <a:ext cx="9144000" cy="505505"/>
          </a:xfrm>
        </p:spPr>
        <p:txBody>
          <a:bodyPr anchor="ctr">
            <a:noAutofit/>
          </a:bodyPr>
          <a:lstStyle>
            <a:lvl1pPr marL="0" indent="0" algn="ctr" rtl="0">
              <a:buNone/>
              <a:defRPr sz="1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15" name="Rubrik 14">
            <a:extLst>
              <a:ext uri="{FF2B5EF4-FFF2-40B4-BE49-F238E27FC236}">
                <a16:creationId xmlns:a16="http://schemas.microsoft.com/office/drawing/2014/main" id="{D0555BDB-D614-4CCF-B173-D45449D19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91412"/>
            <a:ext cx="9144000" cy="1857375"/>
          </a:xfrm>
        </p:spPr>
        <p:txBody>
          <a:bodyPr vert="horz" anchor="b">
            <a:noAutofit/>
          </a:bodyPr>
          <a:lstStyle>
            <a:lvl1pPr algn="ctr" rtl="0">
              <a:defRPr sz="5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17" name="Google Shape;135;p26">
            <a:extLst>
              <a:ext uri="{FF2B5EF4-FFF2-40B4-BE49-F238E27FC236}">
                <a16:creationId xmlns:a16="http://schemas.microsoft.com/office/drawing/2014/main" id="{762234D6-55EE-4096-A584-C87306586D8C}"/>
              </a:ext>
            </a:extLst>
          </p:cNvPr>
          <p:cNvCxnSpPr/>
          <p:nvPr userDrawn="1"/>
        </p:nvCxnSpPr>
        <p:spPr>
          <a:xfrm>
            <a:off x="715365" y="4171387"/>
            <a:ext cx="1075510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0471504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Yellow ">
    <p:bg>
      <p:bgPr>
        <a:solidFill>
          <a:srgbClr val="FAD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ruta 12">
            <a:extLst>
              <a:ext uri="{FF2B5EF4-FFF2-40B4-BE49-F238E27FC236}">
                <a16:creationId xmlns:a16="http://schemas.microsoft.com/office/drawing/2014/main" id="{C90CD2AC-8602-4D2F-B182-C371BE04F373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82FD575-D18D-497E-9E97-8B28526300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39046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82FD575-D18D-497E-9E97-8B2852630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Underrubrik 2">
            <a:extLst>
              <a:ext uri="{FF2B5EF4-FFF2-40B4-BE49-F238E27FC236}">
                <a16:creationId xmlns:a16="http://schemas.microsoft.com/office/drawing/2014/main" id="{D7B91BCB-5ED5-432A-81DB-FE71FB6B4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4468"/>
            <a:ext cx="9144000" cy="505505"/>
          </a:xfrm>
        </p:spPr>
        <p:txBody>
          <a:bodyPr anchor="ctr">
            <a:noAutofit/>
          </a:bodyPr>
          <a:lstStyle>
            <a:lvl1pPr marL="0" indent="0" algn="ctr" rtl="0">
              <a:buNone/>
              <a:defRPr sz="1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15" name="Rubrik 14">
            <a:extLst>
              <a:ext uri="{FF2B5EF4-FFF2-40B4-BE49-F238E27FC236}">
                <a16:creationId xmlns:a16="http://schemas.microsoft.com/office/drawing/2014/main" id="{D0555BDB-D614-4CCF-B173-D45449D19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87751"/>
            <a:ext cx="9144000" cy="1857375"/>
          </a:xfrm>
        </p:spPr>
        <p:txBody>
          <a:bodyPr vert="horz" anchor="b">
            <a:noAutofit/>
          </a:bodyPr>
          <a:lstStyle>
            <a:lvl1pPr algn="ctr" rtl="0">
              <a:defRPr sz="5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17" name="Google Shape;135;p26">
            <a:extLst>
              <a:ext uri="{FF2B5EF4-FFF2-40B4-BE49-F238E27FC236}">
                <a16:creationId xmlns:a16="http://schemas.microsoft.com/office/drawing/2014/main" id="{762234D6-55EE-4096-A584-C87306586D8C}"/>
              </a:ext>
            </a:extLst>
          </p:cNvPr>
          <p:cNvCxnSpPr/>
          <p:nvPr userDrawn="1"/>
        </p:nvCxnSpPr>
        <p:spPr>
          <a:xfrm>
            <a:off x="715365" y="4171387"/>
            <a:ext cx="1075510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Bildobjekt 17">
            <a:extLst>
              <a:ext uri="{FF2B5EF4-FFF2-40B4-BE49-F238E27FC236}">
                <a16:creationId xmlns:a16="http://schemas.microsoft.com/office/drawing/2014/main" id="{11B61938-EE68-4CFD-88F8-2432408245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235" y="5174441"/>
            <a:ext cx="2154484" cy="985044"/>
          </a:xfrm>
          <a:prstGeom prst="rect">
            <a:avLst/>
          </a:prstGeom>
        </p:spPr>
      </p:pic>
      <p:pic>
        <p:nvPicPr>
          <p:cNvPr id="21" name="Bildobjekt 20">
            <a:extLst>
              <a:ext uri="{FF2B5EF4-FFF2-40B4-BE49-F238E27FC236}">
                <a16:creationId xmlns:a16="http://schemas.microsoft.com/office/drawing/2014/main" id="{F0FCAC20-62E9-4D06-9179-DDD84196651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824" y="845725"/>
            <a:ext cx="3002749" cy="27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97241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ax ">
    <p:bg>
      <p:bgPr>
        <a:solidFill>
          <a:srgbClr val="FC9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ruta 12">
            <a:extLst>
              <a:ext uri="{FF2B5EF4-FFF2-40B4-BE49-F238E27FC236}">
                <a16:creationId xmlns:a16="http://schemas.microsoft.com/office/drawing/2014/main" id="{C90CD2AC-8602-4D2F-B182-C371BE04F373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82FD575-D18D-497E-9E97-8B28526300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7974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82FD575-D18D-497E-9E97-8B2852630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Underrubrik 2">
            <a:extLst>
              <a:ext uri="{FF2B5EF4-FFF2-40B4-BE49-F238E27FC236}">
                <a16:creationId xmlns:a16="http://schemas.microsoft.com/office/drawing/2014/main" id="{D7B91BCB-5ED5-432A-81DB-FE71FB6B4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4468"/>
            <a:ext cx="9144000" cy="505505"/>
          </a:xfrm>
        </p:spPr>
        <p:txBody>
          <a:bodyPr anchor="ctr">
            <a:noAutofit/>
          </a:bodyPr>
          <a:lstStyle>
            <a:lvl1pPr marL="0" indent="0" algn="ctr" rtl="0">
              <a:buNone/>
              <a:defRPr sz="1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15" name="Rubrik 14">
            <a:extLst>
              <a:ext uri="{FF2B5EF4-FFF2-40B4-BE49-F238E27FC236}">
                <a16:creationId xmlns:a16="http://schemas.microsoft.com/office/drawing/2014/main" id="{D0555BDB-D614-4CCF-B173-D45449D19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91412"/>
            <a:ext cx="9144000" cy="1857375"/>
          </a:xfrm>
        </p:spPr>
        <p:txBody>
          <a:bodyPr vert="horz" anchor="b">
            <a:noAutofit/>
          </a:bodyPr>
          <a:lstStyle>
            <a:lvl1pPr algn="ctr" rtl="0">
              <a:defRPr sz="50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17" name="Google Shape;135;p26">
            <a:extLst>
              <a:ext uri="{FF2B5EF4-FFF2-40B4-BE49-F238E27FC236}">
                <a16:creationId xmlns:a16="http://schemas.microsoft.com/office/drawing/2014/main" id="{762234D6-55EE-4096-A584-C87306586D8C}"/>
              </a:ext>
            </a:extLst>
          </p:cNvPr>
          <p:cNvCxnSpPr/>
          <p:nvPr userDrawn="1"/>
        </p:nvCxnSpPr>
        <p:spPr>
          <a:xfrm>
            <a:off x="715365" y="4171387"/>
            <a:ext cx="1075510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Bildobjekt 17">
            <a:extLst>
              <a:ext uri="{FF2B5EF4-FFF2-40B4-BE49-F238E27FC236}">
                <a16:creationId xmlns:a16="http://schemas.microsoft.com/office/drawing/2014/main" id="{439A526C-27BA-4331-AD30-24618B83BB4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235" y="5174441"/>
            <a:ext cx="2154484" cy="985044"/>
          </a:xfrm>
          <a:prstGeom prst="rect">
            <a:avLst/>
          </a:prstGeom>
        </p:spPr>
      </p:pic>
      <p:pic>
        <p:nvPicPr>
          <p:cNvPr id="21" name="Bildobjekt 20">
            <a:extLst>
              <a:ext uri="{FF2B5EF4-FFF2-40B4-BE49-F238E27FC236}">
                <a16:creationId xmlns:a16="http://schemas.microsoft.com/office/drawing/2014/main" id="{0EF58670-6E5D-4262-960B-EA9B03AA102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824" y="845725"/>
            <a:ext cx="3002749" cy="27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975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Image "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tshållare för bild 13">
            <a:extLst>
              <a:ext uri="{FF2B5EF4-FFF2-40B4-BE49-F238E27FC236}">
                <a16:creationId xmlns:a16="http://schemas.microsoft.com/office/drawing/2014/main" id="{61A1535C-1DB7-4603-9625-984A0FF887FA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92088" y="188913"/>
            <a:ext cx="11807825" cy="6480175"/>
          </a:xfrm>
          <a:custGeom>
            <a:avLst/>
            <a:gdLst>
              <a:gd name="connsiteX0" fmla="*/ 358774 w 11807825"/>
              <a:gd name="connsiteY0" fmla="*/ 4593651 h 6480175"/>
              <a:gd name="connsiteX1" fmla="*/ 358774 w 11807825"/>
              <a:gd name="connsiteY1" fmla="*/ 4606210 h 6480175"/>
              <a:gd name="connsiteX2" fmla="*/ 11446774 w 11807825"/>
              <a:gd name="connsiteY2" fmla="*/ 4606210 h 6480175"/>
              <a:gd name="connsiteX3" fmla="*/ 11446774 w 11807825"/>
              <a:gd name="connsiteY3" fmla="*/ 4593651 h 6480175"/>
              <a:gd name="connsiteX4" fmla="*/ 0 w 11807825"/>
              <a:gd name="connsiteY4" fmla="*/ 0 h 6480175"/>
              <a:gd name="connsiteX5" fmla="*/ 11807825 w 11807825"/>
              <a:gd name="connsiteY5" fmla="*/ 0 h 6480175"/>
              <a:gd name="connsiteX6" fmla="*/ 11807825 w 11807825"/>
              <a:gd name="connsiteY6" fmla="*/ 6480175 h 6480175"/>
              <a:gd name="connsiteX7" fmla="*/ 0 w 11807825"/>
              <a:gd name="connsiteY7" fmla="*/ 6480175 h 6480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807825" h="6480175">
                <a:moveTo>
                  <a:pt x="358774" y="4593651"/>
                </a:moveTo>
                <a:lnTo>
                  <a:pt x="358774" y="4606210"/>
                </a:lnTo>
                <a:lnTo>
                  <a:pt x="11446774" y="4606210"/>
                </a:lnTo>
                <a:lnTo>
                  <a:pt x="11446774" y="4593651"/>
                </a:lnTo>
                <a:close/>
                <a:moveTo>
                  <a:pt x="0" y="0"/>
                </a:moveTo>
                <a:lnTo>
                  <a:pt x="11807825" y="0"/>
                </a:lnTo>
                <a:lnTo>
                  <a:pt x="11807825" y="6480175"/>
                </a:lnTo>
                <a:lnTo>
                  <a:pt x="0" y="6480175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sv-SE"/>
          </a:p>
        </p:txBody>
      </p:sp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1410EA4-ACD7-4F7E-86D2-5CB83519EA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785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1410EA4-ACD7-4F7E-86D2-5CB83519E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ruta 12">
            <a:extLst>
              <a:ext uri="{FF2B5EF4-FFF2-40B4-BE49-F238E27FC236}">
                <a16:creationId xmlns:a16="http://schemas.microsoft.com/office/drawing/2014/main" id="{D08E5299-A7C6-4D83-9AED-F878123BB268}"/>
              </a:ext>
            </a:extLst>
          </p:cNvPr>
          <p:cNvSpPr/>
          <p:nvPr userDrawn="1"/>
        </p:nvSpPr>
        <p:spPr>
          <a:xfrm>
            <a:off x="0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DA8C7BC-EB01-4403-BDF4-E224DAD0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1" y="2647826"/>
            <a:ext cx="7878763" cy="2124075"/>
          </a:xfrm>
        </p:spPr>
        <p:txBody>
          <a:bodyPr vert="horz" anchor="b">
            <a:noAutofit/>
          </a:bodyPr>
          <a:lstStyle>
            <a:lvl1pPr rtl="0"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2" name="Underrubrik 2">
            <a:extLst>
              <a:ext uri="{FF2B5EF4-FFF2-40B4-BE49-F238E27FC236}">
                <a16:creationId xmlns:a16="http://schemas.microsoft.com/office/drawing/2014/main" id="{95784819-32D8-472C-8A6D-F17387A93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1" y="4797401"/>
            <a:ext cx="9144000" cy="505505"/>
          </a:xfrm>
        </p:spPr>
        <p:txBody>
          <a:bodyPr anchor="t">
            <a:noAutofit/>
          </a:bodyPr>
          <a:lstStyle>
            <a:lvl1pPr marL="0" indent="0" algn="l" rtl="0">
              <a:buNone/>
              <a:defRPr sz="24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564AF929-2C9B-49F0-9EAB-7C483F171FE5}"/>
              </a:ext>
            </a:extLst>
          </p:cNvPr>
          <p:cNvSpPr/>
          <p:nvPr userDrawn="1"/>
        </p:nvSpPr>
        <p:spPr>
          <a:xfrm>
            <a:off x="-2732623" y="0"/>
            <a:ext cx="2547420" cy="51263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r>
              <a:rPr lang="en-GB" b="1" noProof="0">
                <a:solidFill>
                  <a:schemeClr val="tx1"/>
                </a:solidFill>
              </a:rPr>
              <a:t>To add image</a:t>
            </a:r>
            <a:r>
              <a:rPr lang="en-GB" noProof="0">
                <a:solidFill>
                  <a:schemeClr val="tx1"/>
                </a:solidFill>
              </a:rPr>
              <a:t>: go to Insert tab. Click on Image and go to </a:t>
            </a:r>
            <a:r>
              <a:rPr lang="en-GB" noProof="0" err="1">
                <a:solidFill>
                  <a:schemeClr val="tx1"/>
                </a:solidFill>
              </a:rPr>
              <a:t>xxxxxx</a:t>
            </a:r>
            <a:r>
              <a:rPr lang="en-GB" noProof="0">
                <a:solidFill>
                  <a:schemeClr val="tx1"/>
                </a:solidFill>
              </a:rPr>
              <a:t> (folder for PPT-images). Click on preferred image. </a:t>
            </a:r>
          </a:p>
          <a:p>
            <a:pPr algn="l" rtl="0"/>
            <a:endParaRPr lang="en-GB" noProof="0">
              <a:solidFill>
                <a:schemeClr val="tx1"/>
              </a:solidFill>
            </a:endParaRPr>
          </a:p>
          <a:p>
            <a:pPr algn="l" rtl="0"/>
            <a:r>
              <a:rPr lang="en-GB" b="1" noProof="0">
                <a:solidFill>
                  <a:schemeClr val="tx1"/>
                </a:solidFill>
              </a:rPr>
              <a:t>To change image: </a:t>
            </a:r>
            <a:r>
              <a:rPr lang="en-GB" noProof="0">
                <a:solidFill>
                  <a:schemeClr val="tx1"/>
                </a:solidFill>
              </a:rPr>
              <a:t>Click on image and press delete, follow the instructions above followed by pressing the “Reset” button in the Start menu to reorder objects to be placed on top of image</a:t>
            </a:r>
          </a:p>
        </p:txBody>
      </p:sp>
      <p:sp>
        <p:nvSpPr>
          <p:cNvPr id="25" name="Logo">
            <a:extLst>
              <a:ext uri="{FF2B5EF4-FFF2-40B4-BE49-F238E27FC236}">
                <a16:creationId xmlns:a16="http://schemas.microsoft.com/office/drawing/2014/main" id="{11F815E4-5F65-4CC9-AF21-EDCB17137CF2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9388888" y="842942"/>
            <a:ext cx="2205793" cy="3682448"/>
          </a:xfr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tIns="720000"/>
          <a:lstStyle>
            <a:lvl1pPr rtl="0">
              <a:defRPr sz="100"/>
            </a:lvl1pPr>
          </a:lstStyle>
          <a:p>
            <a:pPr lvl="0"/>
            <a:r>
              <a:rPr lang="en-GB" noProof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608467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Turquoise">
    <p:bg>
      <p:bgPr>
        <a:solidFill>
          <a:srgbClr val="55A0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Bildobjekt 13">
            <a:extLst>
              <a:ext uri="{FF2B5EF4-FFF2-40B4-BE49-F238E27FC236}">
                <a16:creationId xmlns:a16="http://schemas.microsoft.com/office/drawing/2014/main" id="{A29DE02A-D7CA-4320-BFA6-808AD90708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88889" y="849698"/>
            <a:ext cx="2205792" cy="3708783"/>
          </a:xfrm>
          <a:prstGeom prst="rect">
            <a:avLst/>
          </a:prstGeom>
        </p:spPr>
      </p:pic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1410EA4-ACD7-4F7E-86D2-5CB83519EA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3376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1410EA4-ACD7-4F7E-86D2-5CB83519E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Rak koppling 6">
            <a:extLst>
              <a:ext uri="{FF2B5EF4-FFF2-40B4-BE49-F238E27FC236}">
                <a16:creationId xmlns:a16="http://schemas.microsoft.com/office/drawing/2014/main" id="{5B1B5966-5E4F-4A67-9FC0-014B8AFDA717}"/>
              </a:ext>
            </a:extLst>
          </p:cNvPr>
          <p:cNvCxnSpPr>
            <a:cxnSpLocks/>
          </p:cNvCxnSpPr>
          <p:nvPr userDrawn="1"/>
        </p:nvCxnSpPr>
        <p:spPr>
          <a:xfrm flipV="1">
            <a:off x="545111" y="4758213"/>
            <a:ext cx="11096027" cy="60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Bildruta 12">
            <a:extLst>
              <a:ext uri="{FF2B5EF4-FFF2-40B4-BE49-F238E27FC236}">
                <a16:creationId xmlns:a16="http://schemas.microsoft.com/office/drawing/2014/main" id="{D08E5299-A7C6-4D83-9AED-F878123BB268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DA8C7BC-EB01-4403-BDF4-E224DAD0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1" y="2647826"/>
            <a:ext cx="7878763" cy="2124075"/>
          </a:xfrm>
        </p:spPr>
        <p:txBody>
          <a:bodyPr vert="horz" anchor="b">
            <a:noAutofit/>
          </a:bodyPr>
          <a:lstStyle>
            <a:lvl1pPr rtl="0"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2" name="Underrubrik 2">
            <a:extLst>
              <a:ext uri="{FF2B5EF4-FFF2-40B4-BE49-F238E27FC236}">
                <a16:creationId xmlns:a16="http://schemas.microsoft.com/office/drawing/2014/main" id="{95784819-32D8-472C-8A6D-F17387A93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1" y="4797401"/>
            <a:ext cx="9144000" cy="505505"/>
          </a:xfrm>
        </p:spPr>
        <p:txBody>
          <a:bodyPr anchor="t">
            <a:noAutofit/>
          </a:bodyPr>
          <a:lstStyle>
            <a:lvl1pPr marL="0" indent="0" algn="l" rtl="0">
              <a:buNone/>
              <a:defRPr sz="24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75852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Yellow">
    <p:bg>
      <p:bgPr>
        <a:solidFill>
          <a:srgbClr val="FAD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1410EA4-ACD7-4F7E-86D2-5CB83519EA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70732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1410EA4-ACD7-4F7E-86D2-5CB83519E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Rak koppling 6">
            <a:extLst>
              <a:ext uri="{FF2B5EF4-FFF2-40B4-BE49-F238E27FC236}">
                <a16:creationId xmlns:a16="http://schemas.microsoft.com/office/drawing/2014/main" id="{5B1B5966-5E4F-4A67-9FC0-014B8AFDA717}"/>
              </a:ext>
            </a:extLst>
          </p:cNvPr>
          <p:cNvCxnSpPr>
            <a:cxnSpLocks/>
          </p:cNvCxnSpPr>
          <p:nvPr userDrawn="1"/>
        </p:nvCxnSpPr>
        <p:spPr>
          <a:xfrm flipV="1">
            <a:off x="545111" y="4758213"/>
            <a:ext cx="11096027" cy="60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Bildruta 12">
            <a:extLst>
              <a:ext uri="{FF2B5EF4-FFF2-40B4-BE49-F238E27FC236}">
                <a16:creationId xmlns:a16="http://schemas.microsoft.com/office/drawing/2014/main" id="{D08E5299-A7C6-4D83-9AED-F878123BB268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DA8C7BC-EB01-4403-BDF4-E224DAD0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1" y="2647826"/>
            <a:ext cx="7878763" cy="2124075"/>
          </a:xfrm>
        </p:spPr>
        <p:txBody>
          <a:bodyPr vert="horz" anchor="b">
            <a:noAutofit/>
          </a:bodyPr>
          <a:lstStyle>
            <a:lvl1pPr rtl="0"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2" name="Underrubrik 2">
            <a:extLst>
              <a:ext uri="{FF2B5EF4-FFF2-40B4-BE49-F238E27FC236}">
                <a16:creationId xmlns:a16="http://schemas.microsoft.com/office/drawing/2014/main" id="{95784819-32D8-472C-8A6D-F17387A93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1" y="4797401"/>
            <a:ext cx="9144000" cy="505505"/>
          </a:xfrm>
        </p:spPr>
        <p:txBody>
          <a:bodyPr anchor="t">
            <a:noAutofit/>
          </a:bodyPr>
          <a:lstStyle>
            <a:lvl1pPr marL="0" indent="0" algn="l" rtl="0">
              <a:buNone/>
              <a:defRPr sz="24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14" name="Bildobjekt 13">
            <a:extLst>
              <a:ext uri="{FF2B5EF4-FFF2-40B4-BE49-F238E27FC236}">
                <a16:creationId xmlns:a16="http://schemas.microsoft.com/office/drawing/2014/main" id="{DDCC975F-7E09-4C30-BBE1-17E19393DDF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88889" y="849698"/>
            <a:ext cx="2205792" cy="370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96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Lax ">
    <p:bg>
      <p:bgPr>
        <a:solidFill>
          <a:srgbClr val="FC9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1410EA4-ACD7-4F7E-86D2-5CB83519EA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6773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1410EA4-ACD7-4F7E-86D2-5CB83519EA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Rak koppling 6">
            <a:extLst>
              <a:ext uri="{FF2B5EF4-FFF2-40B4-BE49-F238E27FC236}">
                <a16:creationId xmlns:a16="http://schemas.microsoft.com/office/drawing/2014/main" id="{5B1B5966-5E4F-4A67-9FC0-014B8AFDA717}"/>
              </a:ext>
            </a:extLst>
          </p:cNvPr>
          <p:cNvCxnSpPr>
            <a:cxnSpLocks/>
          </p:cNvCxnSpPr>
          <p:nvPr userDrawn="1"/>
        </p:nvCxnSpPr>
        <p:spPr>
          <a:xfrm flipV="1">
            <a:off x="545111" y="4758213"/>
            <a:ext cx="11096027" cy="6097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Bildruta 12">
            <a:extLst>
              <a:ext uri="{FF2B5EF4-FFF2-40B4-BE49-F238E27FC236}">
                <a16:creationId xmlns:a16="http://schemas.microsoft.com/office/drawing/2014/main" id="{D08E5299-A7C6-4D83-9AED-F878123BB268}"/>
              </a:ext>
            </a:extLst>
          </p:cNvPr>
          <p:cNvSpPr/>
          <p:nvPr userDrawn="1"/>
        </p:nvSpPr>
        <p:spPr>
          <a:xfrm>
            <a:off x="-9525" y="0"/>
            <a:ext cx="12201525" cy="6858000"/>
          </a:xfrm>
          <a:prstGeom prst="frame">
            <a:avLst>
              <a:gd name="adj1" fmla="val 26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DA8C7BC-EB01-4403-BDF4-E224DAD0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1" y="2647826"/>
            <a:ext cx="7878763" cy="2124075"/>
          </a:xfrm>
        </p:spPr>
        <p:txBody>
          <a:bodyPr vert="horz" anchor="b">
            <a:noAutofit/>
          </a:bodyPr>
          <a:lstStyle>
            <a:lvl1pPr rtl="0">
              <a:defRPr sz="3600" cap="all"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2" name="Underrubrik 2">
            <a:extLst>
              <a:ext uri="{FF2B5EF4-FFF2-40B4-BE49-F238E27FC236}">
                <a16:creationId xmlns:a16="http://schemas.microsoft.com/office/drawing/2014/main" id="{95784819-32D8-472C-8A6D-F17387A93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1" y="4797401"/>
            <a:ext cx="9144000" cy="505505"/>
          </a:xfrm>
        </p:spPr>
        <p:txBody>
          <a:bodyPr anchor="t">
            <a:noAutofit/>
          </a:bodyPr>
          <a:lstStyle>
            <a:lvl1pPr marL="0" indent="0" algn="l" rtl="0">
              <a:buNone/>
              <a:defRPr sz="24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pic>
        <p:nvPicPr>
          <p:cNvPr id="14" name="Bildobjekt 13">
            <a:extLst>
              <a:ext uri="{FF2B5EF4-FFF2-40B4-BE49-F238E27FC236}">
                <a16:creationId xmlns:a16="http://schemas.microsoft.com/office/drawing/2014/main" id="{764C81C6-A35F-4804-8072-34BF62D8D0D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388889" y="849698"/>
            <a:ext cx="2205792" cy="370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364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2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32233448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383" imgH="384" progId="TCLayout.ActiveDocument.1">
                  <p:embed/>
                </p:oleObj>
              </mc:Choice>
              <mc:Fallback>
                <p:oleObj name="think-cell Slide" r:id="rId31" imgW="383" imgH="384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9F277AA0-6D30-4353-A54E-363D116B9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224970"/>
            <a:ext cx="11075081" cy="868589"/>
          </a:xfrm>
          <a:prstGeom prst="rect">
            <a:avLst/>
          </a:prstGeom>
        </p:spPr>
        <p:txBody>
          <a:bodyPr vert="horz" lIns="36000" tIns="36000" rIns="36000" bIns="36000" rtlCol="0" anchor="b">
            <a:noAutofit/>
          </a:bodyPr>
          <a:lstStyle/>
          <a:p>
            <a:r>
              <a:rPr lang="en-GB" noProof="0" err="1"/>
              <a:t>Klicka</a:t>
            </a:r>
            <a:r>
              <a:rPr lang="en-GB" noProof="0"/>
              <a:t> </a:t>
            </a:r>
            <a:r>
              <a:rPr lang="en-GB" noProof="0" err="1"/>
              <a:t>här</a:t>
            </a:r>
            <a:r>
              <a:rPr lang="en-GB" noProof="0"/>
              <a:t> </a:t>
            </a:r>
            <a:r>
              <a:rPr lang="en-GB" noProof="0" err="1"/>
              <a:t>för</a:t>
            </a:r>
            <a:r>
              <a:rPr lang="en-GB" noProof="0"/>
              <a:t> </a:t>
            </a:r>
            <a:r>
              <a:rPr lang="en-GB" noProof="0" err="1"/>
              <a:t>att</a:t>
            </a:r>
            <a:r>
              <a:rPr lang="en-GB" noProof="0"/>
              <a:t> </a:t>
            </a:r>
            <a:r>
              <a:rPr lang="en-GB" noProof="0" err="1"/>
              <a:t>ändra</a:t>
            </a:r>
            <a:r>
              <a:rPr lang="en-GB" noProof="0"/>
              <a:t> mall </a:t>
            </a:r>
            <a:r>
              <a:rPr lang="en-GB" noProof="0" err="1"/>
              <a:t>för</a:t>
            </a:r>
            <a:r>
              <a:rPr lang="en-GB" noProof="0"/>
              <a:t> </a:t>
            </a:r>
            <a:r>
              <a:rPr lang="en-GB" noProof="0" err="1"/>
              <a:t>rubrikformat</a:t>
            </a:r>
            <a:endParaRPr lang="en-GB" noProof="0"/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D504E90B-3C42-46E4-94E7-20307E4AE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057" y="1315810"/>
            <a:ext cx="11075081" cy="4813521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GB" noProof="0" err="1"/>
              <a:t>Klicka</a:t>
            </a:r>
            <a:r>
              <a:rPr lang="en-GB" noProof="0"/>
              <a:t> </a:t>
            </a:r>
            <a:r>
              <a:rPr lang="en-GB" noProof="0" err="1"/>
              <a:t>här</a:t>
            </a:r>
            <a:r>
              <a:rPr lang="en-GB" noProof="0"/>
              <a:t> </a:t>
            </a:r>
            <a:r>
              <a:rPr lang="en-GB" noProof="0" err="1"/>
              <a:t>för</a:t>
            </a:r>
            <a:r>
              <a:rPr lang="en-GB" noProof="0"/>
              <a:t> </a:t>
            </a:r>
            <a:r>
              <a:rPr lang="en-GB" noProof="0" err="1"/>
              <a:t>att</a:t>
            </a:r>
            <a:r>
              <a:rPr lang="en-GB" noProof="0"/>
              <a:t> </a:t>
            </a:r>
            <a:r>
              <a:rPr lang="en-GB" noProof="0" err="1"/>
              <a:t>ändra</a:t>
            </a:r>
            <a:r>
              <a:rPr lang="en-GB" noProof="0"/>
              <a:t> format </a:t>
            </a:r>
            <a:r>
              <a:rPr lang="en-GB" noProof="0" err="1"/>
              <a:t>på</a:t>
            </a:r>
            <a:r>
              <a:rPr lang="en-GB" noProof="0"/>
              <a:t> </a:t>
            </a:r>
            <a:r>
              <a:rPr lang="en-GB" noProof="0" err="1"/>
              <a:t>bakgrundstexten</a:t>
            </a:r>
            <a:endParaRPr lang="en-GB" noProof="0"/>
          </a:p>
          <a:p>
            <a:pPr lvl="1"/>
            <a:r>
              <a:rPr lang="en-GB" noProof="0" err="1"/>
              <a:t>Nivå</a:t>
            </a:r>
            <a:r>
              <a:rPr lang="en-GB" noProof="0"/>
              <a:t> </a:t>
            </a:r>
            <a:r>
              <a:rPr lang="en-GB" noProof="0" err="1"/>
              <a:t>två</a:t>
            </a:r>
            <a:endParaRPr lang="en-GB" noProof="0"/>
          </a:p>
          <a:p>
            <a:pPr lvl="2"/>
            <a:r>
              <a:rPr lang="en-GB" noProof="0" err="1"/>
              <a:t>Nivå</a:t>
            </a:r>
            <a:r>
              <a:rPr lang="en-GB" noProof="0"/>
              <a:t> </a:t>
            </a:r>
            <a:r>
              <a:rPr lang="en-GB" noProof="0" err="1"/>
              <a:t>tre</a:t>
            </a:r>
            <a:endParaRPr lang="en-GB" noProof="0"/>
          </a:p>
          <a:p>
            <a:pPr lvl="3"/>
            <a:r>
              <a:rPr lang="en-GB" noProof="0" err="1"/>
              <a:t>Nivå</a:t>
            </a:r>
            <a:r>
              <a:rPr lang="en-GB" noProof="0"/>
              <a:t> </a:t>
            </a:r>
            <a:r>
              <a:rPr lang="en-GB" noProof="0" err="1"/>
              <a:t>fyra</a:t>
            </a:r>
            <a:endParaRPr lang="en-GB" noProof="0"/>
          </a:p>
          <a:p>
            <a:pPr lvl="4"/>
            <a:r>
              <a:rPr lang="en-GB" noProof="0" err="1"/>
              <a:t>Nivå</a:t>
            </a:r>
            <a:r>
              <a:rPr lang="en-GB" noProof="0"/>
              <a:t>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48E1FB8E-A4B6-4678-ACC8-2ACC835A0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74400" y="7005645"/>
            <a:ext cx="1133475" cy="41309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00E5A5E-900B-4E0A-9144-1C945B75DA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6057" y="6248533"/>
            <a:ext cx="7492093" cy="42054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 rtl="0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noProof="0"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7963709F-724F-4864-ABE6-6970E182F1C6}"/>
              </a:ext>
            </a:extLst>
          </p:cNvPr>
          <p:cNvPicPr>
            <a:picLocks noChangeAspect="1"/>
          </p:cNvPicPr>
          <p:nvPr userDrawn="1"/>
        </p:nvPicPr>
        <p:blipFill>
          <a:blip r:embed="rId3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56" y="6345399"/>
            <a:ext cx="740569" cy="227199"/>
          </a:xfrm>
          <a:prstGeom prst="rect">
            <a:avLst/>
          </a:prstGeom>
        </p:spPr>
      </p:pic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BBF93B68-E661-47C4-A053-4737159319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256343"/>
            <a:ext cx="358775" cy="412744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 rtl="0">
              <a:defRPr sz="1000">
                <a:solidFill>
                  <a:schemeClr val="tx1"/>
                </a:solidFill>
                <a:latin typeface="Georgia" panose="02040502050405020303" pitchFamily="18" charset="0"/>
              </a:defRPr>
            </a:lvl1pPr>
          </a:lstStyle>
          <a:p>
            <a:fld id="{C4E37AC7-33D9-447F-B835-411F63F8169F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Bildruta 11">
            <a:extLst>
              <a:ext uri="{FF2B5EF4-FFF2-40B4-BE49-F238E27FC236}">
                <a16:creationId xmlns:a16="http://schemas.microsoft.com/office/drawing/2014/main" id="{847020AE-F27D-4B61-B822-BE25F91A485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289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sv-SE">
              <a:solidFill>
                <a:schemeClr val="tx1"/>
              </a:solidFill>
              <a:latin typeface="MiloPro-Text" panose="020B0604030101020102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83939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9" r:id="rId2"/>
    <p:sldLayoutId id="2147483701" r:id="rId3"/>
    <p:sldLayoutId id="2147483678" r:id="rId4"/>
    <p:sldLayoutId id="2147483650" r:id="rId5"/>
    <p:sldLayoutId id="2147483666" r:id="rId6"/>
    <p:sldLayoutId id="2147483661" r:id="rId7"/>
    <p:sldLayoutId id="2147483671" r:id="rId8"/>
    <p:sldLayoutId id="2147483652" r:id="rId9"/>
    <p:sldLayoutId id="2147483665" r:id="rId10"/>
    <p:sldLayoutId id="2147483662" r:id="rId11"/>
    <p:sldLayoutId id="2147483664" r:id="rId12"/>
    <p:sldLayoutId id="2147483663" r:id="rId13"/>
    <p:sldLayoutId id="2147483702" r:id="rId14"/>
    <p:sldLayoutId id="2147483654" r:id="rId15"/>
    <p:sldLayoutId id="2147483655" r:id="rId16"/>
    <p:sldLayoutId id="2147483668" r:id="rId17"/>
    <p:sldLayoutId id="2147483709" r:id="rId18"/>
    <p:sldLayoutId id="2147483710" r:id="rId19"/>
    <p:sldLayoutId id="2147483660" r:id="rId20"/>
    <p:sldLayoutId id="2147483705" r:id="rId21"/>
    <p:sldLayoutId id="2147483706" r:id="rId22"/>
    <p:sldLayoutId id="2147483707" r:id="rId23"/>
    <p:sldLayoutId id="2147483708" r:id="rId24"/>
    <p:sldLayoutId id="2147483651" r:id="rId25"/>
    <p:sldLayoutId id="2147483677" r:id="rId26"/>
    <p:sldLayoutId id="2147483704" r:id="rId27"/>
    <p:sldLayoutId id="2147483703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3400" indent="-261938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06450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7913" indent="-271463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−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49375" indent="-2714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29" userDrawn="1">
          <p15:clr>
            <a:srgbClr val="F26B43"/>
          </p15:clr>
        </p15:guide>
        <p15:guide id="2" pos="121" userDrawn="1">
          <p15:clr>
            <a:srgbClr val="F26B43"/>
          </p15:clr>
        </p15:guide>
        <p15:guide id="3" pos="7559" userDrawn="1">
          <p15:clr>
            <a:srgbClr val="F26B43"/>
          </p15:clr>
        </p15:guide>
        <p15:guide id="4" orient="horz" pos="4201" userDrawn="1">
          <p15:clr>
            <a:srgbClr val="F26B43"/>
          </p15:clr>
        </p15:guide>
        <p15:guide id="5" orient="horz" pos="119" userDrawn="1">
          <p15:clr>
            <a:srgbClr val="F26B43"/>
          </p15:clr>
        </p15:guide>
        <p15:guide id="6" pos="347" userDrawn="1">
          <p15:clr>
            <a:srgbClr val="F26B43"/>
          </p15:clr>
        </p15:guide>
        <p15:guide id="7" pos="7333" userDrawn="1">
          <p15:clr>
            <a:srgbClr val="F26B43"/>
          </p15:clr>
        </p15:guide>
        <p15:guide id="8" orient="horz" pos="686" userDrawn="1">
          <p15:clr>
            <a:srgbClr val="F26B43"/>
          </p15:clr>
        </p15:guide>
        <p15:guide id="9" orient="horz" pos="822" userDrawn="1">
          <p15:clr>
            <a:srgbClr val="F26B43"/>
          </p15:clr>
        </p15:guide>
        <p15:guide id="10" orient="horz" pos="3861" userDrawn="1">
          <p15:clr>
            <a:srgbClr val="F26B43"/>
          </p15:clr>
        </p15:guide>
        <p15:guide id="11" pos="2556" userDrawn="1">
          <p15:clr>
            <a:srgbClr val="F26B43"/>
          </p15:clr>
        </p15:guide>
        <p15:guide id="12" pos="2736" userDrawn="1">
          <p15:clr>
            <a:srgbClr val="F26B43"/>
          </p15:clr>
        </p15:guide>
        <p15:guide id="13" pos="4951" userDrawn="1">
          <p15:clr>
            <a:srgbClr val="F26B43"/>
          </p15:clr>
        </p15:guide>
        <p15:guide id="14" pos="51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4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9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5.xml"/><Relationship Id="rId5" Type="http://schemas.openxmlformats.org/officeDocument/2006/relationships/chart" Target="../charts/chart44.xml"/><Relationship Id="rId4" Type="http://schemas.openxmlformats.org/officeDocument/2006/relationships/chart" Target="../charts/chart4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Underrubrik 6">
            <a:extLst>
              <a:ext uri="{FF2B5EF4-FFF2-40B4-BE49-F238E27FC236}">
                <a16:creationId xmlns:a16="http://schemas.microsoft.com/office/drawing/2014/main" id="{EAA5C435-3BB6-4B03-89F4-A59D3B42ED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noProof="0" dirty="0"/>
              <a:t>11.12.2025</a:t>
            </a:r>
          </a:p>
        </p:txBody>
      </p:sp>
      <p:sp>
        <p:nvSpPr>
          <p:cNvPr id="6" name="Rubrik 5">
            <a:extLst>
              <a:ext uri="{FF2B5EF4-FFF2-40B4-BE49-F238E27FC236}">
                <a16:creationId xmlns:a16="http://schemas.microsoft.com/office/drawing/2014/main" id="{0C7B8E0E-D314-4FD4-B964-E0611EEE5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z="4800" noProof="0" dirty="0" err="1"/>
              <a:t>Attendo</a:t>
            </a:r>
            <a:r>
              <a:rPr lang="fi-FI" sz="4800" noProof="0" dirty="0"/>
              <a:t> BRÄNDISEURANTA</a:t>
            </a:r>
          </a:p>
        </p:txBody>
      </p:sp>
    </p:spTree>
    <p:extLst>
      <p:ext uri="{BB962C8B-B14F-4D97-AF65-F5344CB8AC3E}">
        <p14:creationId xmlns:p14="http://schemas.microsoft.com/office/powerpoint/2010/main" val="261689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F9A34454-7087-70E1-30B3-2BEDF396CE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33225" y="6256338"/>
            <a:ext cx="358775" cy="412750"/>
          </a:xfrm>
        </p:spPr>
        <p:txBody>
          <a:bodyPr/>
          <a:lstStyle/>
          <a:p>
            <a:pPr>
              <a:spcAft>
                <a:spcPts val="600"/>
              </a:spcAft>
            </a:pPr>
            <a:fld id="{C4E37AC7-33D9-447F-B835-411F63F8169F}" type="slidenum">
              <a:rPr lang="fi-FI" noProof="0" smtClean="0"/>
              <a:pPr>
                <a:spcAft>
                  <a:spcPts val="600"/>
                </a:spcAft>
              </a:pPr>
              <a:t>2</a:t>
            </a:fld>
            <a:endParaRPr lang="fi-FI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7A1FE-F4B5-46E4-17A9-05DA0CA80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noProof="0" dirty="0"/>
              <a:t>Tavoitteet ja tiedonkeruu</a:t>
            </a:r>
          </a:p>
          <a:p>
            <a:r>
              <a:rPr lang="fi-FI" noProof="0" dirty="0"/>
              <a:t>Yhteenveto</a:t>
            </a:r>
          </a:p>
          <a:p>
            <a:r>
              <a:rPr lang="fi-FI" noProof="0" dirty="0"/>
              <a:t>Tutkimustulokset</a:t>
            </a:r>
          </a:p>
          <a:p>
            <a:pPr marL="646113" lvl="1" indent="-285750">
              <a:spcBef>
                <a:spcPts val="0"/>
              </a:spcBef>
            </a:pPr>
            <a:r>
              <a:rPr lang="fi-FI" sz="1800" noProof="0" dirty="0"/>
              <a:t>Lisätietoa vastaajista</a:t>
            </a:r>
          </a:p>
          <a:p>
            <a:pPr marL="646113" lvl="1" indent="-285750">
              <a:spcBef>
                <a:spcPts val="0"/>
              </a:spcBef>
            </a:pPr>
            <a:r>
              <a:rPr lang="fi-FI" sz="1800" noProof="0" dirty="0"/>
              <a:t>Bränditietoisuus</a:t>
            </a:r>
          </a:p>
          <a:p>
            <a:pPr marL="646113" lvl="1" indent="-285750">
              <a:spcBef>
                <a:spcPts val="0"/>
              </a:spcBef>
            </a:pPr>
            <a:r>
              <a:rPr lang="fi-FI" sz="1800" noProof="0" dirty="0"/>
              <a:t>Yleiset mielikuvat</a:t>
            </a:r>
          </a:p>
          <a:p>
            <a:pPr marL="646113" lvl="1" indent="-285750">
              <a:spcBef>
                <a:spcPts val="0"/>
              </a:spcBef>
            </a:pPr>
            <a:r>
              <a:rPr lang="fi-FI" sz="1800" noProof="0" dirty="0"/>
              <a:t>Spontaanit brändimielikuvat</a:t>
            </a:r>
          </a:p>
          <a:p>
            <a:pPr marL="646113" lvl="1" indent="-285750">
              <a:spcBef>
                <a:spcPts val="0"/>
              </a:spcBef>
            </a:pPr>
            <a:r>
              <a:rPr lang="fi-FI" sz="1800" dirty="0"/>
              <a:t>Autetut brändimielikuvat</a:t>
            </a:r>
            <a:endParaRPr lang="fi-FI" sz="1800" noProof="0" dirty="0"/>
          </a:p>
          <a:p>
            <a:pPr marL="646113" lvl="1" indent="-285750">
              <a:spcBef>
                <a:spcPts val="0"/>
              </a:spcBef>
            </a:pPr>
            <a:r>
              <a:rPr lang="fi-FI" sz="1800" noProof="0" dirty="0"/>
              <a:t>Halukkuus valita/suositella</a:t>
            </a:r>
          </a:p>
          <a:p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09351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6">
            <a:extLst>
              <a:ext uri="{FF2B5EF4-FFF2-40B4-BE49-F238E27FC236}">
                <a16:creationId xmlns:a16="http://schemas.microsoft.com/office/drawing/2014/main" id="{11D40DFF-78EE-48BC-AA43-399B522E7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1" y="2673326"/>
            <a:ext cx="9006796" cy="2124075"/>
          </a:xfrm>
        </p:spPr>
        <p:txBody>
          <a:bodyPr/>
          <a:lstStyle/>
          <a:p>
            <a:r>
              <a:rPr lang="fi-FI" sz="7200" cap="none" noProof="0" dirty="0">
                <a:latin typeface="Lumios Marker" panose="00000500000000000000" pitchFamily="50" charset="0"/>
              </a:rPr>
              <a:t>Tavoitteet ja tiedonkeruu</a:t>
            </a:r>
          </a:p>
        </p:txBody>
      </p:sp>
    </p:spTree>
    <p:extLst>
      <p:ext uri="{BB962C8B-B14F-4D97-AF65-F5344CB8AC3E}">
        <p14:creationId xmlns:p14="http://schemas.microsoft.com/office/powerpoint/2010/main" val="1167480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A89A5D-E660-C5B9-2885-5524DAAC65B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fi-FI" noProof="0" dirty="0"/>
              <a:t>Taustatietoa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1036BAB-C82D-B908-FACF-5C849176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noProof="0" dirty="0"/>
              <a:t>Taustatiedot ja rekrytointi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943C922-3758-6700-E444-757C258CBA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i-FI" sz="1600" noProof="0" dirty="0"/>
              <a:t>Tutkimuksen tavoitteena on saada ymmärrystä </a:t>
            </a:r>
            <a:r>
              <a:rPr lang="fi-FI" sz="1600" noProof="0" dirty="0" err="1"/>
              <a:t>Attendon</a:t>
            </a:r>
            <a:r>
              <a:rPr lang="fi-FI" sz="1600" noProof="0" dirty="0"/>
              <a:t> brändin suoriutumisesta ja keskeisistä bränditunnusluvuista</a:t>
            </a:r>
          </a:p>
          <a:p>
            <a:pPr lvl="1"/>
            <a:r>
              <a:rPr lang="fi-FI" sz="1400" noProof="0" dirty="0"/>
              <a:t>Seurattaviin mittareihin kuuluvat bränditietoisuus, spontaani ja avustettu brändimielikuva sekä halukkuus valita/suositella</a:t>
            </a:r>
          </a:p>
          <a:p>
            <a:r>
              <a:rPr lang="fi-FI" sz="1600" noProof="0" dirty="0"/>
              <a:t>Suuren väestön lisäksi tutkimus keskittyy vertaamaan eri kohderyhmiä:</a:t>
            </a:r>
          </a:p>
          <a:p>
            <a:pPr lvl="1"/>
            <a:r>
              <a:rPr lang="fi-FI" sz="1600" noProof="0" dirty="0"/>
              <a:t>Kokemusta omaavat</a:t>
            </a:r>
          </a:p>
          <a:p>
            <a:pPr lvl="2"/>
            <a:r>
              <a:rPr lang="fi-FI" sz="1400" noProof="0" dirty="0"/>
              <a:t>Ne, joilla on kokemusta hoivapalvelujen asiakkaana joko henkilökohtaisesti tai läheisen kautta</a:t>
            </a:r>
          </a:p>
          <a:p>
            <a:pPr lvl="1"/>
            <a:r>
              <a:rPr lang="fi-FI" sz="1600" noProof="0" dirty="0"/>
              <a:t>Potentiaaliset asiakkaat</a:t>
            </a:r>
          </a:p>
          <a:p>
            <a:pPr lvl="2"/>
            <a:r>
              <a:rPr lang="fi-FI" sz="1400" noProof="0" dirty="0"/>
              <a:t>Ne, joilla ei ole kokemusta hoivapalveluista, jotka ovat iältään 45-vuotiaita tai vanhempia</a:t>
            </a:r>
          </a:p>
          <a:p>
            <a:pPr lvl="1"/>
            <a:r>
              <a:rPr lang="fi-FI" sz="1600" noProof="0" dirty="0"/>
              <a:t>Hoiva-alan ammattilaiset</a:t>
            </a:r>
          </a:p>
          <a:p>
            <a:pPr lvl="1"/>
            <a:r>
              <a:rPr lang="fi-FI" sz="1600" noProof="0" dirty="0" err="1"/>
              <a:t>Attendon</a:t>
            </a:r>
            <a:r>
              <a:rPr lang="fi-FI" sz="1600" noProof="0" dirty="0"/>
              <a:t> suosittelijat</a:t>
            </a:r>
          </a:p>
          <a:p>
            <a:pPr lvl="2"/>
            <a:r>
              <a:rPr lang="fi-FI" sz="1400" noProof="0" dirty="0"/>
              <a:t>Ne, jotka voisivat suositella </a:t>
            </a:r>
            <a:r>
              <a:rPr lang="fi-FI" sz="1400" noProof="0" dirty="0" err="1"/>
              <a:t>Attendoa</a:t>
            </a:r>
            <a:r>
              <a:rPr lang="fi-FI" sz="1400" noProof="0" dirty="0"/>
              <a:t> itselleen tai läheisille (pois lukien ammattilaiset)</a:t>
            </a:r>
            <a:endParaRPr lang="fi-FI" sz="16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CA425E2-0304-43D5-0112-F1B8C4FAB1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fi-FI" sz="1600" noProof="0" dirty="0"/>
              <a:t>Tiedonkeruu suoritettiin 10.-17.11.2025</a:t>
            </a:r>
          </a:p>
          <a:p>
            <a:r>
              <a:rPr lang="fi-FI" sz="1600" noProof="0" dirty="0"/>
              <a:t>Vastaajat rekrytoitiin kuluttajapaneelista. Lähtönäyte on suomalaista 25-74-vuotiasta väestöä iän, sukupuolen ja asuinseudun mukaan vastaava</a:t>
            </a:r>
          </a:p>
          <a:p>
            <a:r>
              <a:rPr lang="fi-FI" sz="1600" noProof="0" dirty="0"/>
              <a:t>Lopullinen otoskoko on 1001</a:t>
            </a:r>
          </a:p>
          <a:p>
            <a:endParaRPr lang="fi-FI" sz="1600" noProof="0" dirty="0"/>
          </a:p>
          <a:p>
            <a:pPr marL="0" indent="0">
              <a:buNone/>
            </a:pPr>
            <a:r>
              <a:rPr lang="fi-FI" sz="1600" b="1" noProof="0" dirty="0"/>
              <a:t>Raportissa vertaillaan tuloksia vuoden 2024 ja 2025 aiempiin mittauskertoihin. Huom. Kohderyhmää muutettiin marraskuussa 2024 rajaamalla ei-kokemusta omaavat vastaajat 45-vuotiaisiin ja sitä vanhempiin (aiemman 55+ ikäryhmän sijaan). Tämä muutos voi osittain selittää tiettyjä eroja tässä vastaajaryhmässä ja koko otoksen tasolla.</a:t>
            </a:r>
          </a:p>
          <a:p>
            <a:pPr marL="0" indent="0">
              <a:buNone/>
            </a:pPr>
            <a:r>
              <a:rPr lang="fi-FI" sz="1600" b="1" noProof="0" dirty="0"/>
              <a:t>Lisäksi raportissa on mukana vertailut vuoden 2023 dataan niissä kysymyksissä, joissa suorien vertailujen tekeminen tutkimusaineiston välillä on ollut mahdollista.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705C7-170A-45A8-D8B8-DFCC5CCF9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</a:t>
            </a:fld>
            <a:endParaRPr lang="fi-FI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CC2AB04-6F4B-D03A-5E45-8FC40CF059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fi-FI" noProof="0" dirty="0"/>
              <a:t>Rekrytointi</a:t>
            </a:r>
          </a:p>
        </p:txBody>
      </p:sp>
    </p:spTree>
    <p:extLst>
      <p:ext uri="{BB962C8B-B14F-4D97-AF65-F5344CB8AC3E}">
        <p14:creationId xmlns:p14="http://schemas.microsoft.com/office/powerpoint/2010/main" val="3026858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A9E52C-B5F6-EF32-8FC3-D4326A18E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z="7200" cap="none" noProof="0" dirty="0">
                <a:latin typeface="Lumios Marker" panose="00000500000000000000" pitchFamily="50" charset="0"/>
              </a:rPr>
              <a:t>Yhteenveto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E31F0-591D-0BDB-B432-97A88B7F73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33225" y="6256338"/>
            <a:ext cx="358775" cy="412750"/>
          </a:xfrm>
        </p:spPr>
        <p:txBody>
          <a:bodyPr/>
          <a:lstStyle/>
          <a:p>
            <a:fld id="{C4E37AC7-33D9-447F-B835-411F63F8169F}" type="slidenum">
              <a:rPr lang="fi-FI" noProof="0" smtClean="0"/>
              <a:pPr/>
              <a:t>5</a:t>
            </a:fld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2480849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7287-B6F6-9FDE-A74B-5D5EEE5A1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22AD76-FB2E-A4B1-F69E-E1EAD3A26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36000" tIns="36000" rIns="36000" bIns="36000" rtlCol="0" anchor="t">
            <a:normAutofit fontScale="85000" lnSpcReduction="10000"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 err="1"/>
              <a:t>Attendo</a:t>
            </a:r>
            <a:r>
              <a:rPr lang="fi-FI" dirty="0"/>
              <a:t> on edelleen selvästi tunnetuin hoivapalvelujen tarjoaja Suomessa, sekä spontaanisti (37 %) että autetusti (86 %)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/>
              <a:t>Yksityisiin palveluntarjoajiin suhtaudutaan nyt ensimmäistä kertaa yhtä myönteisesti kuin julkisiin hoivapalveluihin</a:t>
            </a:r>
          </a:p>
          <a:p>
            <a:pPr lvl="1" indent="-26162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/>
              <a:t>Mielikuvat yksityisistä palveluista ovat nousseet 6 %, ja kaikissa kohderyhmissä näkyy pientä parannusta toukokuuhun verrattuna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/>
              <a:t>Yleinen käsitys </a:t>
            </a:r>
            <a:r>
              <a:rPr lang="fi-FI" dirty="0" err="1"/>
              <a:t>Attendosta</a:t>
            </a:r>
            <a:r>
              <a:rPr lang="fi-FI" dirty="0"/>
              <a:t> on selvästi kohentunut viime mittauskerrasta. Vaikka </a:t>
            </a:r>
            <a:r>
              <a:rPr lang="fi-FI" dirty="0" err="1"/>
              <a:t>Attendo</a:t>
            </a:r>
            <a:r>
              <a:rPr lang="fi-FI" dirty="0"/>
              <a:t> on yhä yksi vähiten positiivisesti koetuista toimijoista, mielikuvat ovat nyt jopa 8 % myönteisempiä ja ensimmäistä kertaa yli puolet vastaajista suhtautuu siihen positiivisesti</a:t>
            </a:r>
          </a:p>
          <a:p>
            <a:pPr lvl="1" indent="-26162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/>
              <a:t>Mielikuvat ovat aiempaa selvästi positiivisempia sekä ammattilaisten että kokemusta omaavien keskuudessa</a:t>
            </a:r>
            <a:endParaRPr lang="fi-FI" noProof="0" dirty="0"/>
          </a:p>
          <a:p>
            <a:pPr indent="-26162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 err="1"/>
              <a:t>Attendon</a:t>
            </a:r>
            <a:r>
              <a:rPr lang="fi-FI" dirty="0"/>
              <a:t> spontaani mielikuva on pysynyt melko samankaltaisena kuin aiemmin. Siihen liitetään yhä selvästi useimmin sana </a:t>
            </a:r>
            <a:r>
              <a:rPr lang="fi-FI" i="1" dirty="0"/>
              <a:t>kallis</a:t>
            </a:r>
            <a:r>
              <a:rPr lang="fi-FI" dirty="0"/>
              <a:t>, mutta myös </a:t>
            </a:r>
            <a:r>
              <a:rPr lang="fi-FI" i="1" dirty="0"/>
              <a:t>luotettavuus</a:t>
            </a:r>
            <a:r>
              <a:rPr lang="fi-FI" dirty="0"/>
              <a:t> nousee aiempaa useammin esiin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/>
              <a:t>Hoivapalvelubrändien mielikuvaprofiili on säilynyt kokonaisuutena hyvin samankaltaisena. </a:t>
            </a:r>
            <a:r>
              <a:rPr lang="fi-FI" dirty="0" err="1"/>
              <a:t>Attendo</a:t>
            </a:r>
            <a:r>
              <a:rPr lang="fi-FI" dirty="0"/>
              <a:t> koetaan melko samanlaisena kuin Validia ja </a:t>
            </a:r>
            <a:r>
              <a:rPr lang="fi-FI" dirty="0" err="1"/>
              <a:t>Esperi</a:t>
            </a:r>
            <a:endParaRPr lang="fi-FI" dirty="0"/>
          </a:p>
          <a:p>
            <a:pPr lvl="1" indent="-26162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 err="1"/>
              <a:t>Attendoon</a:t>
            </a:r>
            <a:r>
              <a:rPr lang="fi-FI" dirty="0"/>
              <a:t> liitetään autettuna useimmin sana </a:t>
            </a:r>
            <a:r>
              <a:rPr lang="fi-FI" i="1" dirty="0"/>
              <a:t>ahne</a:t>
            </a:r>
            <a:r>
              <a:rPr lang="fi-FI" dirty="0"/>
              <a:t>, mutta aiempaa useammin myös </a:t>
            </a:r>
            <a:r>
              <a:rPr lang="fi-FI" i="1" dirty="0"/>
              <a:t>ammattitaitoinen</a:t>
            </a:r>
            <a:r>
              <a:rPr lang="fi-FI" dirty="0"/>
              <a:t>, </a:t>
            </a:r>
            <a:r>
              <a:rPr lang="fi-FI" i="1" dirty="0"/>
              <a:t>mahdollistaa hyvän arjen </a:t>
            </a:r>
            <a:r>
              <a:rPr lang="fi-FI" dirty="0"/>
              <a:t>ja </a:t>
            </a:r>
            <a:r>
              <a:rPr lang="fi-FI" i="1" dirty="0"/>
              <a:t>luotettava</a:t>
            </a:r>
          </a:p>
          <a:p>
            <a:pPr lvl="1" indent="-26162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/>
              <a:t>Strategisten teemojen mukaisessa attribuuttijaottelussa </a:t>
            </a:r>
            <a:r>
              <a:rPr lang="fi-FI" dirty="0" err="1"/>
              <a:t>Attendo</a:t>
            </a:r>
            <a:r>
              <a:rPr lang="fi-FI" dirty="0"/>
              <a:t> yhdistetään jälleen useimmin </a:t>
            </a:r>
            <a:r>
              <a:rPr lang="fi-FI" i="1" dirty="0"/>
              <a:t>Katsomme eteenpäin</a:t>
            </a:r>
            <a:r>
              <a:rPr lang="fi-FI" dirty="0"/>
              <a:t> –teemaan, mutta kaikissa kohderyhmissä assosiaatiot eri teemoihin ovat kuitenkin vahvistuneet</a:t>
            </a:r>
          </a:p>
          <a:p>
            <a:pPr indent="-26162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 err="1"/>
              <a:t>Attendoa</a:t>
            </a:r>
            <a:r>
              <a:rPr lang="fi-FI" dirty="0"/>
              <a:t> ollaan yhä todennäköisimmin valmiita suosittelemaan itselle/läheiselle ja työnantajana verrattuna muihin yksityisiin palveluntarjoajiin</a:t>
            </a:r>
          </a:p>
          <a:p>
            <a:pPr lvl="1" indent="-26162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fi-FI" dirty="0"/>
              <a:t>Suositteluhalukkuus itselle/läheisille on noussut 4 % toukokuusta ja on korkeampi kuin milloinkaan aiemmin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F558D1-A6B0-67AC-99DB-0F2081B5A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noProof="0" dirty="0"/>
              <a:t>Yhteenveto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E771D8-9169-1C29-42A5-5D919AE1A5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369207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5AAE4-A7DA-305F-01A3-D3A2E341C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7</a:t>
            </a:fld>
            <a:endParaRPr lang="fi-FI" noProof="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22D180A-8CAC-9257-E689-660B0BBC6D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845823"/>
              </p:ext>
            </p:extLst>
          </p:nvPr>
        </p:nvGraphicFramePr>
        <p:xfrm>
          <a:off x="5820610" y="981635"/>
          <a:ext cx="6041078" cy="3017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947625B0-1E85-975C-6A20-6B5CF2A0BE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6433173"/>
              </p:ext>
            </p:extLst>
          </p:nvPr>
        </p:nvGraphicFramePr>
        <p:xfrm>
          <a:off x="261289" y="1201026"/>
          <a:ext cx="5319559" cy="2758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28B4858-0053-6134-AFD0-A1BB2D612D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8395471"/>
              </p:ext>
            </p:extLst>
          </p:nvPr>
        </p:nvGraphicFramePr>
        <p:xfrm>
          <a:off x="5820610" y="4368605"/>
          <a:ext cx="6234678" cy="2184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E7C6A209-E927-373D-4D84-21F1D45C5A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5360702"/>
              </p:ext>
            </p:extLst>
          </p:nvPr>
        </p:nvGraphicFramePr>
        <p:xfrm>
          <a:off x="483093" y="4121906"/>
          <a:ext cx="5193344" cy="2431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6B471A2-5CE5-7689-C3FF-47BC3C0761F8}"/>
              </a:ext>
            </a:extLst>
          </p:cNvPr>
          <p:cNvSpPr txBox="1"/>
          <p:nvPr/>
        </p:nvSpPr>
        <p:spPr>
          <a:xfrm>
            <a:off x="6154390" y="1230142"/>
            <a:ext cx="42528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b="1" noProof="0" dirty="0">
                <a:latin typeface="Century Gothic" panose="020B0502020202020204" pitchFamily="34" charset="0"/>
              </a:rPr>
              <a:t>Halukkuus valita tai suositella (%)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451305-DC7D-11B6-08C0-536DD9FCEFF5}"/>
              </a:ext>
            </a:extLst>
          </p:cNvPr>
          <p:cNvSpPr txBox="1"/>
          <p:nvPr/>
        </p:nvSpPr>
        <p:spPr>
          <a:xfrm>
            <a:off x="703644" y="1230142"/>
            <a:ext cx="32075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b="1" dirty="0" err="1">
                <a:latin typeface="Century Gothic" panose="020B0502020202020204" pitchFamily="34" charset="0"/>
              </a:rPr>
              <a:t>Attendon</a:t>
            </a:r>
            <a:r>
              <a:rPr lang="fi-FI" sz="1400" b="1" dirty="0">
                <a:latin typeface="Century Gothic" panose="020B0502020202020204" pitchFamily="34" charset="0"/>
              </a:rPr>
              <a:t> t</a:t>
            </a:r>
            <a:r>
              <a:rPr lang="fi-FI" sz="1400" b="1" noProof="0" dirty="0" err="1">
                <a:latin typeface="Century Gothic" panose="020B0502020202020204" pitchFamily="34" charset="0"/>
              </a:rPr>
              <a:t>unnettuus</a:t>
            </a:r>
            <a:r>
              <a:rPr lang="fi-FI" sz="1400" b="1" noProof="0" dirty="0">
                <a:latin typeface="Century Gothic" panose="020B0502020202020204" pitchFamily="34" charset="0"/>
              </a:rPr>
              <a:t> (%)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EA53B9-443B-E504-8939-79BBF92E6215}"/>
              </a:ext>
            </a:extLst>
          </p:cNvPr>
          <p:cNvSpPr txBox="1"/>
          <p:nvPr/>
        </p:nvSpPr>
        <p:spPr>
          <a:xfrm>
            <a:off x="722855" y="3959327"/>
            <a:ext cx="4274346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b="1" noProof="0" dirty="0">
                <a:latin typeface="Century Gothic" panose="020B0502020202020204" pitchFamily="34" charset="0"/>
              </a:rPr>
              <a:t>Yleisvaikutelma yksityinen vs. julkinen palvelu
</a:t>
            </a:r>
            <a:r>
              <a:rPr lang="fi-FI" sz="1050" noProof="0" dirty="0">
                <a:latin typeface="Century Gothic" panose="020B0502020202020204" pitchFamily="34" charset="0"/>
              </a:rPr>
              <a:t>(Asteikko 1-4)</a:t>
            </a:r>
            <a:endParaRPr lang="fi-FI" sz="1100" noProof="0" dirty="0">
              <a:latin typeface="Century Gothic" panose="020B0502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FC3221-3D31-6759-BB88-D1CF3CD0E9D7}"/>
              </a:ext>
            </a:extLst>
          </p:cNvPr>
          <p:cNvSpPr txBox="1"/>
          <p:nvPr/>
        </p:nvSpPr>
        <p:spPr>
          <a:xfrm>
            <a:off x="6173100" y="3959327"/>
            <a:ext cx="5196228" cy="469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400" b="1" noProof="0" dirty="0">
                <a:latin typeface="Century Gothic" panose="020B0502020202020204" pitchFamily="34" charset="0"/>
              </a:rPr>
              <a:t>Yleiskuva yksityisistä palveluntarjoajista brändeittäin
</a:t>
            </a:r>
            <a:r>
              <a:rPr lang="fi-FI" sz="1050" noProof="0" dirty="0">
                <a:latin typeface="Century Gothic" panose="020B0502020202020204" pitchFamily="34" charset="0"/>
              </a:rPr>
              <a:t>(Asteikko 1-4)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7E50AD2-8A10-0CBA-EDC7-49081CFC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224970"/>
            <a:ext cx="11075081" cy="868589"/>
          </a:xfrm>
        </p:spPr>
        <p:txBody>
          <a:bodyPr/>
          <a:lstStyle/>
          <a:p>
            <a:r>
              <a:rPr lang="fi-FI" noProof="0" dirty="0"/>
              <a:t>Yhteenveto avainmittareista</a:t>
            </a:r>
          </a:p>
        </p:txBody>
      </p:sp>
    </p:spTree>
    <p:extLst>
      <p:ext uri="{BB962C8B-B14F-4D97-AF65-F5344CB8AC3E}">
        <p14:creationId xmlns:p14="http://schemas.microsoft.com/office/powerpoint/2010/main" val="397849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A9E52C-B5F6-EF32-8FC3-D4326A18E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z="7200" cap="none" noProof="0" dirty="0">
                <a:latin typeface="Lumios Marker" panose="00000500000000000000" pitchFamily="50" charset="0"/>
              </a:rPr>
              <a:t>Tutkimustulokset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E31F0-591D-0BDB-B432-97A88B7F73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833225" y="6256338"/>
            <a:ext cx="358775" cy="412750"/>
          </a:xfrm>
        </p:spPr>
        <p:txBody>
          <a:bodyPr/>
          <a:lstStyle/>
          <a:p>
            <a:fld id="{C4E37AC7-33D9-447F-B835-411F63F8169F}" type="slidenum">
              <a:rPr lang="fi-FI" noProof="0" smtClean="0"/>
              <a:pPr/>
              <a:t>8</a:t>
            </a:fld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3538268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8B69-BA0E-DB34-8828-D36A1FF8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36000" tIns="36000" rIns="36000" bIns="36000" rtlCol="0" anchor="b">
            <a:noAutofit/>
          </a:bodyPr>
          <a:lstStyle/>
          <a:p>
            <a:r>
              <a:rPr lang="fi-FI" sz="7200" cap="none" noProof="0" dirty="0">
                <a:latin typeface="Lumios Marker" panose="00000500000000000000" pitchFamily="50" charset="0"/>
              </a:rPr>
              <a:t>Lisätietoa vastaajista</a:t>
            </a:r>
          </a:p>
        </p:txBody>
      </p:sp>
    </p:spTree>
    <p:extLst>
      <p:ext uri="{BB962C8B-B14F-4D97-AF65-F5344CB8AC3E}">
        <p14:creationId xmlns:p14="http://schemas.microsoft.com/office/powerpoint/2010/main" val="1381796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F74BAB-0896-E390-A424-6FF7CC38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noProof="0" dirty="0"/>
              <a:t>Vastaajien demografiset tiedot</a:t>
            </a:r>
          </a:p>
        </p:txBody>
      </p:sp>
      <p:graphicFrame>
        <p:nvGraphicFramePr>
          <p:cNvPr id="11" name="Kaavio 14">
            <a:extLst>
              <a:ext uri="{FF2B5EF4-FFF2-40B4-BE49-F238E27FC236}">
                <a16:creationId xmlns:a16="http://schemas.microsoft.com/office/drawing/2014/main" id="{241F934D-D986-4671-71CE-0DFCEA890F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1047302"/>
              </p:ext>
            </p:extLst>
          </p:nvPr>
        </p:nvGraphicFramePr>
        <p:xfrm>
          <a:off x="4669971" y="1316038"/>
          <a:ext cx="2979000" cy="4877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764DB642-9E30-E6DC-B9DE-82D7AC0FF6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0582288"/>
              </p:ext>
            </p:extLst>
          </p:nvPr>
        </p:nvGraphicFramePr>
        <p:xfrm>
          <a:off x="566738" y="1316038"/>
          <a:ext cx="4212091" cy="4877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ontent Placeholder 9">
            <a:extLst>
              <a:ext uri="{FF2B5EF4-FFF2-40B4-BE49-F238E27FC236}">
                <a16:creationId xmlns:a16="http://schemas.microsoft.com/office/drawing/2014/main" id="{878BC30E-AC6C-E677-2526-9AD529C840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1687547"/>
              </p:ext>
            </p:extLst>
          </p:nvPr>
        </p:nvGraphicFramePr>
        <p:xfrm>
          <a:off x="7648971" y="1316037"/>
          <a:ext cx="3976291" cy="4877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9086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F74BAB-0896-E390-A424-6FF7CC38E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235856"/>
            <a:ext cx="11075081" cy="868589"/>
          </a:xfrm>
        </p:spPr>
        <p:txBody>
          <a:bodyPr/>
          <a:lstStyle/>
          <a:p>
            <a:r>
              <a:rPr lang="fi-FI" noProof="0" dirty="0"/>
              <a:t>Kohderyhmien demografiset tiedot</a:t>
            </a:r>
          </a:p>
        </p:txBody>
      </p:sp>
      <p:graphicFrame>
        <p:nvGraphicFramePr>
          <p:cNvPr id="11" name="Kaavio 14">
            <a:extLst>
              <a:ext uri="{FF2B5EF4-FFF2-40B4-BE49-F238E27FC236}">
                <a16:creationId xmlns:a16="http://schemas.microsoft.com/office/drawing/2014/main" id="{241F934D-D986-4671-71CE-0DFCEA890F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3867880"/>
              </p:ext>
            </p:extLst>
          </p:nvPr>
        </p:nvGraphicFramePr>
        <p:xfrm>
          <a:off x="4812168" y="1316038"/>
          <a:ext cx="3189513" cy="5306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ontent Placeholder 17">
            <a:extLst>
              <a:ext uri="{FF2B5EF4-FFF2-40B4-BE49-F238E27FC236}">
                <a16:creationId xmlns:a16="http://schemas.microsoft.com/office/drawing/2014/main" id="{D9C1A946-A913-F151-BB9E-F4B648E9CD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649589"/>
              </p:ext>
            </p:extLst>
          </p:nvPr>
        </p:nvGraphicFramePr>
        <p:xfrm>
          <a:off x="566057" y="1316038"/>
          <a:ext cx="4212091" cy="4877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ontent Placeholder 9">
            <a:extLst>
              <a:ext uri="{FF2B5EF4-FFF2-40B4-BE49-F238E27FC236}">
                <a16:creationId xmlns:a16="http://schemas.microsoft.com/office/drawing/2014/main" id="{AC04EC99-55DF-4850-3C06-54FACB87FC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2243553"/>
              </p:ext>
            </p:extLst>
          </p:nvPr>
        </p:nvGraphicFramePr>
        <p:xfrm>
          <a:off x="7648971" y="1316037"/>
          <a:ext cx="3976291" cy="5106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98625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CA62B7-0BDC-4CF5-0C5B-4161583F8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7" y="397180"/>
            <a:ext cx="11321142" cy="868589"/>
          </a:xfrm>
        </p:spPr>
        <p:txBody>
          <a:bodyPr/>
          <a:lstStyle/>
          <a:p>
            <a:r>
              <a:rPr lang="fi-FI" noProof="0" dirty="0"/>
              <a:t>Suurimmalla osalla on yhä kokemusta hoivapalveluista asiakkaan läheisenä, useimmiten ikäihmisten hoidosta, kunnan tuottamana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13204A-7F53-4E53-12D2-2FF8607643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6057" y="1375535"/>
            <a:ext cx="3731623" cy="412625"/>
          </a:xfrm>
        </p:spPr>
        <p:txBody>
          <a:bodyPr/>
          <a:lstStyle/>
          <a:p>
            <a:r>
              <a:rPr lang="fi-FI" sz="1200" noProof="0" dirty="0"/>
              <a:t>Onko sinulla kokemusta erilaisista hoivapalveluista, kuten vanhusten tai vammaisten ihmisten hoivakodeista tai erilaisista kotihoidon palveluista? Valitse kaikki sopivat. (n=100</a:t>
            </a:r>
            <a:r>
              <a:rPr lang="fi-FI" sz="1200" dirty="0"/>
              <a:t>1</a:t>
            </a:r>
            <a:r>
              <a:rPr lang="fi-FI" sz="1200" noProof="0" dirty="0"/>
              <a:t>)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E70167F-F3EA-A2E4-8F36-20CF97D94EAE}"/>
              </a:ext>
            </a:extLst>
          </p:cNvPr>
          <p:cNvSpPr txBox="1">
            <a:spLocks/>
          </p:cNvSpPr>
          <p:nvPr/>
        </p:nvSpPr>
        <p:spPr>
          <a:xfrm>
            <a:off x="4810709" y="1376833"/>
            <a:ext cx="3399972" cy="501173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noProof="0" dirty="0"/>
              <a:t>Kerroit, että sinulla kokemusta hoivapalveluista. Kerro vielä tarkemmin minkä tyyppisistä palveluista on kyse. (n=636)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F096042-BAFE-2F54-6A77-E02B1F3CA284}"/>
              </a:ext>
            </a:extLst>
          </p:cNvPr>
          <p:cNvSpPr txBox="1">
            <a:spLocks/>
          </p:cNvSpPr>
          <p:nvPr/>
        </p:nvSpPr>
        <p:spPr>
          <a:xfrm>
            <a:off x="8723710" y="1375535"/>
            <a:ext cx="2930633" cy="332162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noProof="0" dirty="0"/>
              <a:t>Tiedätkö mikä taho tuottaa palvelut, joista kerroit omaavasi kokemusta? Valitse kaikki sopivat mikäli sinulla on kokemusta useammasta eri palveluntarjoajasta. (n=636)</a:t>
            </a:r>
          </a:p>
        </p:txBody>
      </p:sp>
      <p:graphicFrame>
        <p:nvGraphicFramePr>
          <p:cNvPr id="15" name="Content Placeholder 8">
            <a:extLst>
              <a:ext uri="{FF2B5EF4-FFF2-40B4-BE49-F238E27FC236}">
                <a16:creationId xmlns:a16="http://schemas.microsoft.com/office/drawing/2014/main" id="{36D0A715-9CE9-0ECF-C062-CFA3A013B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8283565"/>
              </p:ext>
            </p:extLst>
          </p:nvPr>
        </p:nvGraphicFramePr>
        <p:xfrm>
          <a:off x="435481" y="2172834"/>
          <a:ext cx="3862199" cy="4187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ontent Placeholder 7">
            <a:extLst>
              <a:ext uri="{FF2B5EF4-FFF2-40B4-BE49-F238E27FC236}">
                <a16:creationId xmlns:a16="http://schemas.microsoft.com/office/drawing/2014/main" id="{E0E511BC-BE0C-6613-EBCE-6CAD6AF817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0545734"/>
              </p:ext>
            </p:extLst>
          </p:nvPr>
        </p:nvGraphicFramePr>
        <p:xfrm>
          <a:off x="4517571" y="2025649"/>
          <a:ext cx="4057996" cy="4334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2F97E4B-0530-E61B-CD49-0999089615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6820223"/>
              </p:ext>
            </p:extLst>
          </p:nvPr>
        </p:nvGraphicFramePr>
        <p:xfrm>
          <a:off x="8490856" y="2172834"/>
          <a:ext cx="3396343" cy="40628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125308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8B69-BA0E-DB34-8828-D36A1FF8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36000" tIns="36000" rIns="36000" bIns="36000" rtlCol="0" anchor="b">
            <a:noAutofit/>
          </a:bodyPr>
          <a:lstStyle/>
          <a:p>
            <a:r>
              <a:rPr lang="fi-FI" sz="7200" cap="none" noProof="0" dirty="0">
                <a:latin typeface="Lumios Marker" panose="00000500000000000000" pitchFamily="50" charset="0"/>
              </a:rPr>
              <a:t>Bränditietoisuus</a:t>
            </a:r>
          </a:p>
        </p:txBody>
      </p:sp>
    </p:spTree>
    <p:extLst>
      <p:ext uri="{BB962C8B-B14F-4D97-AF65-F5344CB8AC3E}">
        <p14:creationId xmlns:p14="http://schemas.microsoft.com/office/powerpoint/2010/main" val="3896818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A1C8D-DCEF-2F95-F53F-27C4E36D5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0766B7-7DC8-92AE-199F-D87C3D47A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775" y="1723214"/>
            <a:ext cx="9301162" cy="323689"/>
          </a:xfrm>
        </p:spPr>
        <p:txBody>
          <a:bodyPr/>
          <a:lstStyle/>
          <a:p>
            <a:r>
              <a:rPr lang="fi-FI" sz="1200" b="1" noProof="0" dirty="0"/>
              <a:t>Spontaani tunnettuus: </a:t>
            </a:r>
            <a:r>
              <a:rPr lang="fi-FI" sz="1200" noProof="0" dirty="0"/>
              <a:t>Mitä hoivapalveluita tarjoavia yrityksiä tunnet vähintään nimeltä. Listaa mielellään kaikki, jotka muistat! (n=1001) </a:t>
            </a:r>
            <a:endParaRPr lang="fi-FI" noProof="0" dirty="0"/>
          </a:p>
        </p:txBody>
      </p:sp>
      <p:graphicFrame>
        <p:nvGraphicFramePr>
          <p:cNvPr id="7" name="Kaavio 7">
            <a:extLst>
              <a:ext uri="{FF2B5EF4-FFF2-40B4-BE49-F238E27FC236}">
                <a16:creationId xmlns:a16="http://schemas.microsoft.com/office/drawing/2014/main" id="{47B988FB-BABD-3983-DF86-4029B84F3A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3042848"/>
              </p:ext>
            </p:extLst>
          </p:nvPr>
        </p:nvGraphicFramePr>
        <p:xfrm>
          <a:off x="119107" y="2137354"/>
          <a:ext cx="11494723" cy="4159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kstiruutu 7">
            <a:extLst>
              <a:ext uri="{FF2B5EF4-FFF2-40B4-BE49-F238E27FC236}">
                <a16:creationId xmlns:a16="http://schemas.microsoft.com/office/drawing/2014/main" id="{ED63A75F-1494-B832-8F0D-F20D95F37871}"/>
              </a:ext>
            </a:extLst>
          </p:cNvPr>
          <p:cNvSpPr txBox="1"/>
          <p:nvPr/>
        </p:nvSpPr>
        <p:spPr>
          <a:xfrm>
            <a:off x="578170" y="1906523"/>
            <a:ext cx="5988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900" i="1" noProof="0" dirty="0"/>
              <a:t>Top of </a:t>
            </a:r>
            <a:r>
              <a:rPr lang="fi-FI" sz="900" i="1" noProof="0" dirty="0" err="1"/>
              <a:t>mind</a:t>
            </a:r>
            <a:r>
              <a:rPr lang="fi-FI" sz="900" i="1" noProof="0" dirty="0"/>
              <a:t> viittaa niihin, jotka ovat listanneet </a:t>
            </a:r>
            <a:r>
              <a:rPr lang="fi-FI" sz="900" i="1" noProof="0" dirty="0" err="1"/>
              <a:t>Attendon</a:t>
            </a:r>
            <a:r>
              <a:rPr lang="fi-FI" sz="900" i="1" noProof="0" dirty="0"/>
              <a:t> ensimmäisenä vastauksenaan.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C2B24E7-7DF1-378F-6638-58BA5D5BF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560734"/>
            <a:ext cx="11474805" cy="868589"/>
          </a:xfrm>
        </p:spPr>
        <p:txBody>
          <a:bodyPr/>
          <a:lstStyle/>
          <a:p>
            <a:r>
              <a:rPr lang="fi-FI" noProof="0" dirty="0" err="1"/>
              <a:t>Attendo</a:t>
            </a:r>
            <a:r>
              <a:rPr lang="fi-FI" dirty="0"/>
              <a:t> </a:t>
            </a:r>
            <a:r>
              <a:rPr lang="fi-FI" noProof="0" dirty="0"/>
              <a:t>on yhä tunnetuin yksityisen puolen hoivapalvelujen tarjoaja, sen spontaani tunnettuus on laskenut 1% toukokuusta</a:t>
            </a:r>
          </a:p>
        </p:txBody>
      </p:sp>
      <p:graphicFrame>
        <p:nvGraphicFramePr>
          <p:cNvPr id="10" name="Taulukko 9">
            <a:extLst>
              <a:ext uri="{FF2B5EF4-FFF2-40B4-BE49-F238E27FC236}">
                <a16:creationId xmlns:a16="http://schemas.microsoft.com/office/drawing/2014/main" id="{41FB637F-3A77-2828-3D73-0EDE4B3E39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422439"/>
              </p:ext>
            </p:extLst>
          </p:nvPr>
        </p:nvGraphicFramePr>
        <p:xfrm>
          <a:off x="8402616" y="2225035"/>
          <a:ext cx="609600" cy="30938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272685995"/>
                    </a:ext>
                  </a:extLst>
                </a:gridCol>
              </a:tblGrid>
              <a:tr h="22864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23953"/>
                  </a:ext>
                </a:extLst>
              </a:tr>
              <a:tr h="22017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303615"/>
                  </a:ext>
                </a:extLst>
              </a:tr>
              <a:tr h="20968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+1 %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993292"/>
                  </a:ext>
                </a:extLst>
              </a:tr>
              <a:tr h="22017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801075"/>
                  </a:ext>
                </a:extLst>
              </a:tr>
              <a:tr h="22017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955169"/>
                  </a:ext>
                </a:extLst>
              </a:tr>
              <a:tr h="22017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+1 %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782593"/>
                  </a:ext>
                </a:extLst>
              </a:tr>
              <a:tr h="22017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+2 %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448737"/>
                  </a:ext>
                </a:extLst>
              </a:tr>
              <a:tr h="20968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+1 %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080430"/>
                  </a:ext>
                </a:extLst>
              </a:tr>
              <a:tr h="20968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887134"/>
                  </a:ext>
                </a:extLst>
              </a:tr>
              <a:tr h="20968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2193964"/>
                  </a:ext>
                </a:extLst>
              </a:tr>
              <a:tr h="20968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898467"/>
                  </a:ext>
                </a:extLst>
              </a:tr>
              <a:tr h="20968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280268"/>
                  </a:ext>
                </a:extLst>
              </a:tr>
              <a:tr h="25311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953702"/>
                  </a:ext>
                </a:extLst>
              </a:tr>
              <a:tr h="25311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-2 %</a:t>
                      </a:r>
                    </a:p>
                  </a:txBody>
                  <a:tcPr marL="6350" marR="6350" marT="6350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929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769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F4D39B-3C7D-632C-4097-B5550116A1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3775" y="1733798"/>
            <a:ext cx="9301162" cy="323689"/>
          </a:xfrm>
        </p:spPr>
        <p:txBody>
          <a:bodyPr/>
          <a:lstStyle/>
          <a:p>
            <a:r>
              <a:rPr lang="fi-FI" sz="1200" noProof="0" dirty="0"/>
              <a:t>Mitä seuraavista hoivapalveluiden tarjoajista tunnet vähintään nimeltä? (n=1001)</a:t>
            </a:r>
            <a:endParaRPr lang="fi-FI" noProof="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08158F3-8087-B54E-807B-99CDC5D90B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2168178"/>
              </p:ext>
            </p:extLst>
          </p:nvPr>
        </p:nvGraphicFramePr>
        <p:xfrm>
          <a:off x="558459" y="2057487"/>
          <a:ext cx="10264549" cy="46157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EDCBAF3-9722-1ABD-FC73-350A2194F549}"/>
              </a:ext>
            </a:extLst>
          </p:cNvPr>
          <p:cNvSpPr txBox="1">
            <a:spLocks/>
          </p:cNvSpPr>
          <p:nvPr/>
        </p:nvSpPr>
        <p:spPr>
          <a:xfrm>
            <a:off x="550181" y="655984"/>
            <a:ext cx="11075081" cy="868589"/>
          </a:xfrm>
          <a:prstGeom prst="rect">
            <a:avLst/>
          </a:prstGeom>
        </p:spPr>
        <p:txBody>
          <a:bodyPr vert="horz" lIns="36000" tIns="36000" rIns="36000" bIns="3600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 dirty="0" err="1"/>
              <a:t>Attendo</a:t>
            </a:r>
            <a:r>
              <a:rPr lang="fi-FI" dirty="0"/>
              <a:t> ja </a:t>
            </a:r>
            <a:r>
              <a:rPr lang="fi-FI" dirty="0" err="1"/>
              <a:t>Esperi</a:t>
            </a:r>
            <a:r>
              <a:rPr lang="fi-FI" dirty="0"/>
              <a:t> ovat jälleen selvästi tunnetuimmat yksityiset palveluntarjoajat myös autetusti. </a:t>
            </a:r>
            <a:r>
              <a:rPr lang="fi-FI" dirty="0" err="1"/>
              <a:t>Attendon</a:t>
            </a:r>
            <a:r>
              <a:rPr lang="fi-FI" dirty="0"/>
              <a:t> autettu tunnettuus on 86% eli se on pysynyt samoissa lukemissa kuin toukokuussa</a:t>
            </a:r>
          </a:p>
        </p:txBody>
      </p:sp>
    </p:spTree>
    <p:extLst>
      <p:ext uri="{BB962C8B-B14F-4D97-AF65-F5344CB8AC3E}">
        <p14:creationId xmlns:p14="http://schemas.microsoft.com/office/powerpoint/2010/main" val="136654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9">
            <a:extLst>
              <a:ext uri="{FF2B5EF4-FFF2-40B4-BE49-F238E27FC236}">
                <a16:creationId xmlns:a16="http://schemas.microsoft.com/office/drawing/2014/main" id="{BB267521-EB35-398D-56E7-20DF296445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4402324"/>
              </p:ext>
            </p:extLst>
          </p:nvPr>
        </p:nvGraphicFramePr>
        <p:xfrm>
          <a:off x="2842872" y="2261247"/>
          <a:ext cx="3133942" cy="4702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362161A-62FA-3AB4-3EC7-91F16A8F3645}"/>
              </a:ext>
            </a:extLst>
          </p:cNvPr>
          <p:cNvSpPr txBox="1">
            <a:spLocks/>
          </p:cNvSpPr>
          <p:nvPr/>
        </p:nvSpPr>
        <p:spPr>
          <a:xfrm>
            <a:off x="621168" y="1733520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noProof="0" dirty="0"/>
              <a:t>Mitä seuraavista hoivapalveluiden tarjoajista tunnet vähintään nimeltä? </a:t>
            </a:r>
            <a:endParaRPr lang="fi-FI" noProof="0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415BFAE-3EA8-A3AC-1793-7B43B13B4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0" y="655984"/>
            <a:ext cx="11424701" cy="868589"/>
          </a:xfrm>
        </p:spPr>
        <p:txBody>
          <a:bodyPr/>
          <a:lstStyle/>
          <a:p>
            <a:r>
              <a:rPr lang="fi-FI" noProof="0" dirty="0" err="1"/>
              <a:t>Attendon</a:t>
            </a:r>
            <a:r>
              <a:rPr lang="fi-FI" noProof="0" dirty="0"/>
              <a:t> tunnettuus on </a:t>
            </a:r>
            <a:r>
              <a:rPr lang="fi-FI" dirty="0"/>
              <a:t>pysynyt lähes ennallaan kokemusta omaavien ja ammattilaisten keskuudessa. Kokemattomat tuntevat hoivapalvelun tarjoajia aiempaa harvemmin</a:t>
            </a:r>
            <a:endParaRPr lang="fi-FI" noProof="0" dirty="0"/>
          </a:p>
        </p:txBody>
      </p:sp>
      <p:graphicFrame>
        <p:nvGraphicFramePr>
          <p:cNvPr id="2" name="Content Placeholder 9">
            <a:extLst>
              <a:ext uri="{FF2B5EF4-FFF2-40B4-BE49-F238E27FC236}">
                <a16:creationId xmlns:a16="http://schemas.microsoft.com/office/drawing/2014/main" id="{865F612A-AAEC-0C4A-2E16-3CBCD910C2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504705"/>
              </p:ext>
            </p:extLst>
          </p:nvPr>
        </p:nvGraphicFramePr>
        <p:xfrm>
          <a:off x="199453" y="2254995"/>
          <a:ext cx="2941162" cy="4702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743F4BF-1031-BB49-77FB-621A265547D2}"/>
              </a:ext>
            </a:extLst>
          </p:cNvPr>
          <p:cNvSpPr txBox="1">
            <a:spLocks/>
          </p:cNvSpPr>
          <p:nvPr/>
        </p:nvSpPr>
        <p:spPr>
          <a:xfrm>
            <a:off x="3749888" y="2205243"/>
            <a:ext cx="1647051" cy="264430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noProof="0" dirty="0"/>
              <a:t>Marraskuu 2024</a:t>
            </a:r>
            <a:endParaRPr lang="fi-FI" sz="1600" b="1" noProof="0" dirty="0">
              <a:highlight>
                <a:srgbClr val="FFFF00"/>
              </a:highlight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A0FE507-C7C5-CF25-51F8-780CE1FF8B5B}"/>
              </a:ext>
            </a:extLst>
          </p:cNvPr>
          <p:cNvSpPr txBox="1">
            <a:spLocks/>
          </p:cNvSpPr>
          <p:nvPr/>
        </p:nvSpPr>
        <p:spPr>
          <a:xfrm>
            <a:off x="1008913" y="2205665"/>
            <a:ext cx="1740921" cy="288764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noProof="0" dirty="0"/>
              <a:t>Toukokuu 2024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67E406E-0E22-437E-BAC1-5DA84CE4A995}"/>
              </a:ext>
            </a:extLst>
          </p:cNvPr>
          <p:cNvSpPr txBox="1">
            <a:spLocks/>
          </p:cNvSpPr>
          <p:nvPr/>
        </p:nvSpPr>
        <p:spPr>
          <a:xfrm>
            <a:off x="6297660" y="2205243"/>
            <a:ext cx="1740921" cy="288764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noProof="0" dirty="0"/>
              <a:t>Toukokuu 2025</a:t>
            </a:r>
          </a:p>
        </p:txBody>
      </p:sp>
      <p:graphicFrame>
        <p:nvGraphicFramePr>
          <p:cNvPr id="12" name="Content Placeholder 9">
            <a:extLst>
              <a:ext uri="{FF2B5EF4-FFF2-40B4-BE49-F238E27FC236}">
                <a16:creationId xmlns:a16="http://schemas.microsoft.com/office/drawing/2014/main" id="{7823AA78-0874-5CB3-726A-109980333F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5675319"/>
              </p:ext>
            </p:extLst>
          </p:nvPr>
        </p:nvGraphicFramePr>
        <p:xfrm>
          <a:off x="5703168" y="2254995"/>
          <a:ext cx="3870321" cy="4702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33AEA46A-4B1E-9D72-5D7C-9A04A4B318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7643583"/>
              </p:ext>
            </p:extLst>
          </p:nvPr>
        </p:nvGraphicFramePr>
        <p:xfrm>
          <a:off x="8379912" y="2273156"/>
          <a:ext cx="4033381" cy="4702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0E0CCFF9-5F92-6384-36EF-58CC584C7264}"/>
              </a:ext>
            </a:extLst>
          </p:cNvPr>
          <p:cNvSpPr txBox="1">
            <a:spLocks/>
          </p:cNvSpPr>
          <p:nvPr/>
        </p:nvSpPr>
        <p:spPr>
          <a:xfrm>
            <a:off x="9077354" y="2180909"/>
            <a:ext cx="1740921" cy="288764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noProof="0" dirty="0"/>
              <a:t>Marraskuu 2025</a:t>
            </a:r>
          </a:p>
        </p:txBody>
      </p:sp>
    </p:spTree>
    <p:extLst>
      <p:ext uri="{BB962C8B-B14F-4D97-AF65-F5344CB8AC3E}">
        <p14:creationId xmlns:p14="http://schemas.microsoft.com/office/powerpoint/2010/main" val="136961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8B69-BA0E-DB34-8828-D36A1FF8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36000" tIns="36000" rIns="36000" bIns="36000" rtlCol="0" anchor="b">
            <a:noAutofit/>
          </a:bodyPr>
          <a:lstStyle/>
          <a:p>
            <a:r>
              <a:rPr lang="fi-FI" sz="7200" cap="none" noProof="0" dirty="0">
                <a:latin typeface="Lumios Marker" panose="00000500000000000000" pitchFamily="50" charset="0"/>
              </a:rPr>
              <a:t>Yleinen käsitys</a:t>
            </a:r>
          </a:p>
        </p:txBody>
      </p:sp>
    </p:spTree>
    <p:extLst>
      <p:ext uri="{BB962C8B-B14F-4D97-AF65-F5344CB8AC3E}">
        <p14:creationId xmlns:p14="http://schemas.microsoft.com/office/powerpoint/2010/main" val="2360918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B27DA-56F4-CEBD-FF57-496515FC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94FA7-4C04-F2FE-F88C-FA9D6B81B5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18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2D0DF1-1D1A-1344-25D2-0CE9A83DCA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44615"/>
            <a:ext cx="9301162" cy="323689"/>
          </a:xfrm>
        </p:spPr>
        <p:txBody>
          <a:bodyPr/>
          <a:lstStyle/>
          <a:p>
            <a:r>
              <a:rPr lang="fi-FI" sz="1200" noProof="0" dirty="0"/>
              <a:t>Mikä on yleinen käsityksesi tuntemistasi hoivapalveluita tarjoavista yksityisistä yrityksistä ja toisaalta julkisista palveluista? (n=1001)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D78BF89E-6624-DF18-172B-73D865E070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501558"/>
              </p:ext>
            </p:extLst>
          </p:nvPr>
        </p:nvGraphicFramePr>
        <p:xfrm>
          <a:off x="827318" y="2138539"/>
          <a:ext cx="8838520" cy="4144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Left Brace 5">
            <a:extLst>
              <a:ext uri="{FF2B5EF4-FFF2-40B4-BE49-F238E27FC236}">
                <a16:creationId xmlns:a16="http://schemas.microsoft.com/office/drawing/2014/main" id="{A9078D3A-568A-B7B7-B3CB-09E6D634E8FD}"/>
              </a:ext>
            </a:extLst>
          </p:cNvPr>
          <p:cNvSpPr/>
          <p:nvPr/>
        </p:nvSpPr>
        <p:spPr>
          <a:xfrm rot="5400000">
            <a:off x="6695302" y="786524"/>
            <a:ext cx="276999" cy="371626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3EA0D-0678-A42D-B51B-5958ED2F58A1}"/>
              </a:ext>
            </a:extLst>
          </p:cNvPr>
          <p:cNvSpPr txBox="1"/>
          <p:nvPr/>
        </p:nvSpPr>
        <p:spPr>
          <a:xfrm>
            <a:off x="4129096" y="2124532"/>
            <a:ext cx="54430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58 % </a:t>
            </a:r>
            <a:r>
              <a:rPr lang="fi-FI" sz="1200" i="1" noProof="0" dirty="0"/>
              <a:t>(touko 25: 55 %, marras 24: 57 %, touko 24: 57 %)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43841AF5-99FE-E8E6-8575-AAB414F5ADFB}"/>
              </a:ext>
            </a:extLst>
          </p:cNvPr>
          <p:cNvSpPr/>
          <p:nvPr/>
        </p:nvSpPr>
        <p:spPr>
          <a:xfrm rot="5400000">
            <a:off x="6597633" y="2603224"/>
            <a:ext cx="208120" cy="364475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i-FI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F2CA8-49F7-167A-57D4-2892D9C415CC}"/>
              </a:ext>
            </a:extLst>
          </p:cNvPr>
          <p:cNvSpPr txBox="1"/>
          <p:nvPr/>
        </p:nvSpPr>
        <p:spPr>
          <a:xfrm>
            <a:off x="4064898" y="3974503"/>
            <a:ext cx="5286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58 % </a:t>
            </a:r>
            <a:r>
              <a:rPr lang="fi-FI" sz="1200" i="1" noProof="0" dirty="0"/>
              <a:t>(touko 25: 52 %, marras 24: 53 %, touko 24: 53 %)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E43B6-AF79-7C83-F3E9-DE9882874BB8}"/>
              </a:ext>
            </a:extLst>
          </p:cNvPr>
          <p:cNvSpPr txBox="1"/>
          <p:nvPr/>
        </p:nvSpPr>
        <p:spPr>
          <a:xfrm>
            <a:off x="9820647" y="1688387"/>
            <a:ext cx="1630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Muutos toukokuusta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86096-6658-DC73-6A7B-82966E0D60E7}"/>
              </a:ext>
            </a:extLst>
          </p:cNvPr>
          <p:cNvSpPr txBox="1"/>
          <p:nvPr/>
        </p:nvSpPr>
        <p:spPr>
          <a:xfrm>
            <a:off x="9839648" y="2953499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+3 </a:t>
            </a:r>
            <a:r>
              <a:rPr lang="fi-FI" sz="1400" noProof="0" dirty="0"/>
              <a:t>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B539A-827B-C711-5E48-89E4D83DF0D4}"/>
              </a:ext>
            </a:extLst>
          </p:cNvPr>
          <p:cNvSpPr txBox="1"/>
          <p:nvPr/>
        </p:nvSpPr>
        <p:spPr>
          <a:xfrm>
            <a:off x="9842905" y="4747772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+6 </a:t>
            </a:r>
            <a:r>
              <a:rPr lang="fi-FI" sz="1400" noProof="0" dirty="0"/>
              <a:t>%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C782E681-9CDC-3AC8-0C04-0266764B1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560734"/>
            <a:ext cx="11075081" cy="868589"/>
          </a:xfrm>
        </p:spPr>
        <p:txBody>
          <a:bodyPr/>
          <a:lstStyle/>
          <a:p>
            <a:r>
              <a:rPr lang="fi-FI" dirty="0"/>
              <a:t>Yleinen käsitys yksityisistä palveluntarjoajista on kohentunut toukokuusta ja on nyt yhtä myönteinen kuin julkisista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1226783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0B86-548C-1DB8-21F0-4B0297387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56792-3CF5-B263-FA50-6C24F36687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376089"/>
            <a:ext cx="358775" cy="412744"/>
          </a:xfrm>
        </p:spPr>
        <p:txBody>
          <a:bodyPr/>
          <a:lstStyle/>
          <a:p>
            <a:fld id="{C4E37AC7-33D9-447F-B835-411F63F8169F}" type="slidenum">
              <a:rPr lang="fi-FI" noProof="0" smtClean="0"/>
              <a:pPr/>
              <a:t>19</a:t>
            </a:fld>
            <a:endParaRPr lang="fi-FI" noProof="0" dirty="0"/>
          </a:p>
        </p:txBody>
      </p:sp>
      <p:graphicFrame>
        <p:nvGraphicFramePr>
          <p:cNvPr id="7" name="Content Placeholder 13">
            <a:extLst>
              <a:ext uri="{FF2B5EF4-FFF2-40B4-BE49-F238E27FC236}">
                <a16:creationId xmlns:a16="http://schemas.microsoft.com/office/drawing/2014/main" id="{FD1CA5CE-C9CD-43EA-FB80-59F06FCF53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0173932"/>
              </p:ext>
            </p:extLst>
          </p:nvPr>
        </p:nvGraphicFramePr>
        <p:xfrm>
          <a:off x="550862" y="2007306"/>
          <a:ext cx="9742862" cy="4550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2E20664-6C84-53D3-9EAB-98B728BDDE33}"/>
              </a:ext>
            </a:extLst>
          </p:cNvPr>
          <p:cNvSpPr txBox="1"/>
          <p:nvPr/>
        </p:nvSpPr>
        <p:spPr>
          <a:xfrm>
            <a:off x="4900612" y="2111169"/>
            <a:ext cx="4529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58</a:t>
            </a:r>
            <a:r>
              <a:rPr lang="fi-FI" sz="1200" b="1" dirty="0"/>
              <a:t> </a:t>
            </a:r>
            <a:r>
              <a:rPr lang="fi-FI" sz="1200" b="1" noProof="0" dirty="0"/>
              <a:t>% </a:t>
            </a:r>
            <a:r>
              <a:rPr lang="fi-FI" sz="1200" i="1" noProof="0" dirty="0"/>
              <a:t>(touko 25: 55 %, marras 24: 57 %, touko 24: 57 %)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762866-0591-E2E1-3120-9B8E4BB912C0}"/>
              </a:ext>
            </a:extLst>
          </p:cNvPr>
          <p:cNvSpPr txBox="1"/>
          <p:nvPr/>
        </p:nvSpPr>
        <p:spPr>
          <a:xfrm>
            <a:off x="4694530" y="2905488"/>
            <a:ext cx="5363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63 % </a:t>
            </a:r>
            <a:r>
              <a:rPr lang="fi-FI" sz="1200" i="1" noProof="0" dirty="0"/>
              <a:t>(touko 25: 61 %,marras 24: 60 %, touko 24: 61 %, 2023: 62 %)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59AE47-0843-C699-D6B0-3F6E2F9A0E87}"/>
              </a:ext>
            </a:extLst>
          </p:cNvPr>
          <p:cNvSpPr txBox="1"/>
          <p:nvPr/>
        </p:nvSpPr>
        <p:spPr>
          <a:xfrm>
            <a:off x="4386266" y="3683355"/>
            <a:ext cx="43964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41</a:t>
            </a:r>
            <a:r>
              <a:rPr lang="fi-FI" sz="1200" b="1" dirty="0"/>
              <a:t> </a:t>
            </a:r>
            <a:r>
              <a:rPr lang="fi-FI" sz="1200" noProof="0" dirty="0"/>
              <a:t>% </a:t>
            </a:r>
            <a:r>
              <a:rPr lang="fi-FI" sz="1200" i="1" noProof="0" dirty="0"/>
              <a:t>(touko 25: 37 %,marras 24: 45 %, touko 24: 43 %)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1DDE37-9B6C-E444-CD0B-63803B7B2ABE}"/>
              </a:ext>
            </a:extLst>
          </p:cNvPr>
          <p:cNvSpPr txBox="1"/>
          <p:nvPr/>
        </p:nvSpPr>
        <p:spPr>
          <a:xfrm>
            <a:off x="4314826" y="4482623"/>
            <a:ext cx="4895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76 % </a:t>
            </a:r>
            <a:r>
              <a:rPr lang="fi-FI" sz="1200" i="1" noProof="0" dirty="0"/>
              <a:t>(touko 25: 71 %, marras 24: 73 %, touko 24: 72 %)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DFA389-F7B9-019A-059A-EAD105267D2D}"/>
              </a:ext>
            </a:extLst>
          </p:cNvPr>
          <p:cNvSpPr txBox="1"/>
          <p:nvPr/>
        </p:nvSpPr>
        <p:spPr>
          <a:xfrm>
            <a:off x="4829188" y="5256644"/>
            <a:ext cx="4895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6</a:t>
            </a:r>
            <a:r>
              <a:rPr lang="fi-FI" sz="1200" b="1" dirty="0"/>
              <a:t>4 </a:t>
            </a:r>
            <a:r>
              <a:rPr lang="fi-FI" sz="1200" b="1" noProof="0" dirty="0"/>
              <a:t>% </a:t>
            </a:r>
            <a:r>
              <a:rPr lang="fi-FI" sz="1200" i="1" noProof="0" dirty="0"/>
              <a:t>(touko 25: 63 %, marras 65 %, touko 24: 61%, 2023: 64%)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4082746-71E0-5D6A-749E-F8A8409FA73C}"/>
              </a:ext>
            </a:extLst>
          </p:cNvPr>
          <p:cNvSpPr txBox="1">
            <a:spLocks/>
          </p:cNvSpPr>
          <p:nvPr/>
        </p:nvSpPr>
        <p:spPr>
          <a:xfrm>
            <a:off x="620487" y="1744615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b="1" noProof="0" dirty="0"/>
              <a:t>Julkiset palvelut: </a:t>
            </a:r>
            <a:r>
              <a:rPr lang="fi-FI" sz="1200" noProof="0" dirty="0"/>
              <a:t>Mikä on yleinen käsityksesi tuntemistasi hoivapalveluita tarjoavista yksityisistä yrityksistä ja toisaalta julkisista palveluista?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49DE00-C41C-91D7-BC01-669967A5709A}"/>
              </a:ext>
            </a:extLst>
          </p:cNvPr>
          <p:cNvSpPr txBox="1"/>
          <p:nvPr/>
        </p:nvSpPr>
        <p:spPr>
          <a:xfrm>
            <a:off x="10357926" y="1747358"/>
            <a:ext cx="1630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Muutos</a:t>
            </a:r>
          </a:p>
          <a:p>
            <a:pPr algn="ctr"/>
            <a:r>
              <a:rPr lang="fi-FI" sz="1200" b="1" noProof="0" dirty="0"/>
              <a:t>toukokuusta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40CAF-18D0-821A-C3DE-C03EED087853}"/>
              </a:ext>
            </a:extLst>
          </p:cNvPr>
          <p:cNvSpPr txBox="1"/>
          <p:nvPr/>
        </p:nvSpPr>
        <p:spPr>
          <a:xfrm>
            <a:off x="10357926" y="2372252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+3 </a:t>
            </a:r>
            <a:r>
              <a:rPr lang="fi-FI" sz="1400" noProof="0" dirty="0"/>
              <a:t>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A27EB6-05A2-A747-DB47-46AC3C7A4A4E}"/>
              </a:ext>
            </a:extLst>
          </p:cNvPr>
          <p:cNvSpPr txBox="1"/>
          <p:nvPr/>
        </p:nvSpPr>
        <p:spPr>
          <a:xfrm>
            <a:off x="10357926" y="3191355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noProof="0" dirty="0"/>
              <a:t>+2 %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58FDB1-6296-09CC-8171-3708F9300CF0}"/>
              </a:ext>
            </a:extLst>
          </p:cNvPr>
          <p:cNvSpPr txBox="1"/>
          <p:nvPr/>
        </p:nvSpPr>
        <p:spPr>
          <a:xfrm>
            <a:off x="10357926" y="3967414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+4 </a:t>
            </a:r>
            <a:r>
              <a:rPr lang="fi-FI" sz="1400" noProof="0" dirty="0"/>
              <a:t>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7FAAA-5467-EC3F-6874-21649D82A93B}"/>
              </a:ext>
            </a:extLst>
          </p:cNvPr>
          <p:cNvSpPr txBox="1"/>
          <p:nvPr/>
        </p:nvSpPr>
        <p:spPr>
          <a:xfrm>
            <a:off x="10357926" y="4781290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+5 </a:t>
            </a:r>
            <a:r>
              <a:rPr lang="fi-FI" sz="1400" noProof="0" dirty="0"/>
              <a:t>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194A06-EC3B-5BDE-9F1A-7978109DFB27}"/>
              </a:ext>
            </a:extLst>
          </p:cNvPr>
          <p:cNvSpPr txBox="1"/>
          <p:nvPr/>
        </p:nvSpPr>
        <p:spPr>
          <a:xfrm>
            <a:off x="10365770" y="5561548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noProof="0" dirty="0"/>
              <a:t>+1 %</a:t>
            </a: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D2859856-D382-A3DB-17E2-E83C74DB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075081" cy="868589"/>
          </a:xfrm>
        </p:spPr>
        <p:txBody>
          <a:bodyPr/>
          <a:lstStyle/>
          <a:p>
            <a:r>
              <a:rPr lang="fi-FI" noProof="0" dirty="0"/>
              <a:t>Kaikilla muilla kohderyhmillä paitsi kokemattomilla on yhä positiivinen käsitys julkisista palveluntarjoajista. Kokemattomien ja suosittelijoiden käsitys on hieman parantunut toukokuusta</a:t>
            </a:r>
          </a:p>
        </p:txBody>
      </p:sp>
    </p:spTree>
    <p:extLst>
      <p:ext uri="{BB962C8B-B14F-4D97-AF65-F5344CB8AC3E}">
        <p14:creationId xmlns:p14="http://schemas.microsoft.com/office/powerpoint/2010/main" val="2252413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D0E6A-85B8-DD9D-1C36-85116B5C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AE849-353B-0DA9-2216-A6B61EFB2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20</a:t>
            </a:fld>
            <a:endParaRPr lang="fi-FI" noProof="0" dirty="0"/>
          </a:p>
        </p:txBody>
      </p:sp>
      <p:graphicFrame>
        <p:nvGraphicFramePr>
          <p:cNvPr id="9" name="Content Placeholder 13">
            <a:extLst>
              <a:ext uri="{FF2B5EF4-FFF2-40B4-BE49-F238E27FC236}">
                <a16:creationId xmlns:a16="http://schemas.microsoft.com/office/drawing/2014/main" id="{C431F058-FEB7-36F5-CF3E-E3A62CE6AC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6028816"/>
              </p:ext>
            </p:extLst>
          </p:nvPr>
        </p:nvGraphicFramePr>
        <p:xfrm>
          <a:off x="566738" y="2057402"/>
          <a:ext cx="9673197" cy="4496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C54CCCA-8F39-DAF4-BE78-ABCD45AB5338}"/>
              </a:ext>
            </a:extLst>
          </p:cNvPr>
          <p:cNvSpPr txBox="1"/>
          <p:nvPr/>
        </p:nvSpPr>
        <p:spPr>
          <a:xfrm>
            <a:off x="4686307" y="2143941"/>
            <a:ext cx="46038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58 % </a:t>
            </a:r>
            <a:r>
              <a:rPr lang="fi-FI" sz="1200" i="1" noProof="0" dirty="0"/>
              <a:t>(</a:t>
            </a:r>
            <a:r>
              <a:rPr lang="fi-FI" sz="1200" i="1" dirty="0"/>
              <a:t>touko 25: 52%, </a:t>
            </a:r>
            <a:r>
              <a:rPr lang="fi-FI" sz="1200" i="1" noProof="0" dirty="0"/>
              <a:t>marras 24: 53 %, touko 24: 53 %)</a:t>
            </a:r>
            <a:endParaRPr lang="fi-FI" sz="1400" i="1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B8B821-75CC-14DB-5898-613ADC3FE8BD}"/>
              </a:ext>
            </a:extLst>
          </p:cNvPr>
          <p:cNvSpPr txBox="1"/>
          <p:nvPr/>
        </p:nvSpPr>
        <p:spPr>
          <a:xfrm>
            <a:off x="4014790" y="3699585"/>
            <a:ext cx="50320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</a:t>
            </a:r>
            <a:r>
              <a:rPr lang="fi-FI" sz="1200" b="1" dirty="0"/>
              <a:t>41</a:t>
            </a:r>
            <a:r>
              <a:rPr lang="fi-FI" sz="1200" b="1" noProof="0" dirty="0"/>
              <a:t> % </a:t>
            </a:r>
            <a:r>
              <a:rPr lang="fi-FI" sz="1200" i="1" noProof="0" dirty="0"/>
              <a:t>(touko 25: 36 %, marras 24: 38 %, touko 24: 40%)</a:t>
            </a:r>
            <a:endParaRPr lang="fi-FI" sz="1400" i="1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8CA7FB-4EFF-3E13-D977-34143368A0AA}"/>
              </a:ext>
            </a:extLst>
          </p:cNvPr>
          <p:cNvSpPr txBox="1"/>
          <p:nvPr/>
        </p:nvSpPr>
        <p:spPr>
          <a:xfrm>
            <a:off x="4043370" y="4461300"/>
            <a:ext cx="45322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</a:t>
            </a:r>
            <a:r>
              <a:rPr lang="fi-FI" sz="1200" b="1" dirty="0"/>
              <a:t>85</a:t>
            </a:r>
            <a:r>
              <a:rPr lang="fi-FI" sz="1200" b="1" noProof="0" dirty="0"/>
              <a:t> %</a:t>
            </a:r>
            <a:r>
              <a:rPr lang="fi-FI" sz="1200" noProof="0" dirty="0"/>
              <a:t> </a:t>
            </a:r>
            <a:r>
              <a:rPr lang="fi-FI" sz="1200" i="1" noProof="0" dirty="0"/>
              <a:t>(touko 25: 80 %, marras 24: 79 %, touko 24: 80%)</a:t>
            </a:r>
            <a:endParaRPr lang="fi-FI" sz="1400" i="1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2967178-F038-79E1-A78E-E222857F0FD9}"/>
              </a:ext>
            </a:extLst>
          </p:cNvPr>
          <p:cNvSpPr txBox="1">
            <a:spLocks/>
          </p:cNvSpPr>
          <p:nvPr/>
        </p:nvSpPr>
        <p:spPr>
          <a:xfrm>
            <a:off x="616180" y="1769661"/>
            <a:ext cx="10303541" cy="271712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b="1" noProof="0" dirty="0"/>
              <a:t>Yksityiset palvelut: </a:t>
            </a:r>
            <a:r>
              <a:rPr lang="fi-FI" sz="1200" noProof="0" dirty="0"/>
              <a:t>Mikä on yleinen käsityksesi tuntemistasi hoivapalveluita tarjoavista yksityisistä yrityksistä ja toisaalta julkisista palveluista?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4F01D2-49C7-2D75-71E0-9E88E34A459E}"/>
              </a:ext>
            </a:extLst>
          </p:cNvPr>
          <p:cNvSpPr txBox="1"/>
          <p:nvPr/>
        </p:nvSpPr>
        <p:spPr>
          <a:xfrm>
            <a:off x="4371981" y="2922750"/>
            <a:ext cx="5473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</a:t>
            </a:r>
            <a:r>
              <a:rPr lang="fi-FI" sz="1200" b="1" dirty="0"/>
              <a:t>63</a:t>
            </a:r>
            <a:r>
              <a:rPr lang="fi-FI" sz="1200" b="1" noProof="0" dirty="0"/>
              <a:t> % </a:t>
            </a:r>
            <a:r>
              <a:rPr lang="fi-FI" sz="1200" i="1" noProof="0" dirty="0"/>
              <a:t>(</a:t>
            </a:r>
            <a:r>
              <a:rPr lang="fi-FI" sz="1200" i="1" dirty="0"/>
              <a:t>touko 25: 59 %, </a:t>
            </a:r>
            <a:r>
              <a:rPr lang="fi-FI" sz="1200" i="1" noProof="0" dirty="0"/>
              <a:t>marras 24: 57 %, touko 24: 55 %, 2023: 60 %)</a:t>
            </a:r>
            <a:endParaRPr lang="fi-FI" sz="1400" i="1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6843A-B0FA-2DF5-EC6C-32020F481833}"/>
              </a:ext>
            </a:extLst>
          </p:cNvPr>
          <p:cNvSpPr txBox="1"/>
          <p:nvPr/>
        </p:nvSpPr>
        <p:spPr>
          <a:xfrm>
            <a:off x="4514856" y="5255552"/>
            <a:ext cx="5332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63 % </a:t>
            </a:r>
            <a:r>
              <a:rPr lang="fi-FI" sz="1200" i="1" noProof="0" dirty="0"/>
              <a:t>(touko 25: 60 %, marras 24: 62 %, touko 24: 57%, 2023: 57%)</a:t>
            </a:r>
            <a:endParaRPr lang="fi-FI" sz="1400" i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E4D99-0F47-EE90-64DC-FA980AD7A9E7}"/>
              </a:ext>
            </a:extLst>
          </p:cNvPr>
          <p:cNvSpPr txBox="1"/>
          <p:nvPr/>
        </p:nvSpPr>
        <p:spPr>
          <a:xfrm>
            <a:off x="10357926" y="1747358"/>
            <a:ext cx="1630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Muutos</a:t>
            </a:r>
          </a:p>
          <a:p>
            <a:pPr algn="ctr"/>
            <a:r>
              <a:rPr lang="fi-FI" sz="1200" b="1" noProof="0" dirty="0"/>
              <a:t>toukokuusta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E2C44-7A99-A1AA-8C06-921979748FE6}"/>
              </a:ext>
            </a:extLst>
          </p:cNvPr>
          <p:cNvSpPr txBox="1"/>
          <p:nvPr/>
        </p:nvSpPr>
        <p:spPr>
          <a:xfrm>
            <a:off x="10357926" y="2372252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+6</a:t>
            </a:r>
            <a:r>
              <a:rPr lang="fi-FI" sz="1400" noProof="0" dirty="0"/>
              <a:t> 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BEB760-7150-4FA4-24F5-56C2824392C1}"/>
              </a:ext>
            </a:extLst>
          </p:cNvPr>
          <p:cNvSpPr txBox="1"/>
          <p:nvPr/>
        </p:nvSpPr>
        <p:spPr>
          <a:xfrm>
            <a:off x="10357926" y="3191355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noProof="0" dirty="0"/>
              <a:t>+4</a:t>
            </a:r>
            <a:r>
              <a:rPr lang="fi-FI" sz="1400" dirty="0"/>
              <a:t> </a:t>
            </a:r>
            <a:r>
              <a:rPr lang="fi-FI" sz="1400" noProof="0" dirty="0"/>
              <a:t>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7E5906-1D4C-12F7-3570-39B30984FD5C}"/>
              </a:ext>
            </a:extLst>
          </p:cNvPr>
          <p:cNvSpPr txBox="1"/>
          <p:nvPr/>
        </p:nvSpPr>
        <p:spPr>
          <a:xfrm>
            <a:off x="10357926" y="3967414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+5</a:t>
            </a:r>
            <a:r>
              <a:rPr lang="fi-FI" sz="1400" noProof="0" dirty="0"/>
              <a:t> 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B204F7-DCE0-0141-02C7-7A50D3C7FDFF}"/>
              </a:ext>
            </a:extLst>
          </p:cNvPr>
          <p:cNvSpPr txBox="1"/>
          <p:nvPr/>
        </p:nvSpPr>
        <p:spPr>
          <a:xfrm>
            <a:off x="10357926" y="4781290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+5</a:t>
            </a:r>
            <a:r>
              <a:rPr lang="fi-FI" sz="1400" noProof="0" dirty="0"/>
              <a:t> 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440459-E1EE-D4A6-9429-A3AFDAA7DE1E}"/>
              </a:ext>
            </a:extLst>
          </p:cNvPr>
          <p:cNvSpPr txBox="1"/>
          <p:nvPr/>
        </p:nvSpPr>
        <p:spPr>
          <a:xfrm>
            <a:off x="10365770" y="5561548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noProof="0" dirty="0"/>
              <a:t>+3 %</a:t>
            </a: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35BBAC23-CC69-6E13-01BE-D2A22AD1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dirty="0"/>
              <a:t>Käsitys yksityisistä palveluntarjoajista on parantunut kaikissa kohderyhmissä. Suhtautuminen on vähintään yhtä myönteistä kuin julkisiin palveluihin kaikkien ryhmien kohdalla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919846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3BB8-5127-B035-6D57-2C3F1A9E1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8009CF5-2F1D-FB40-9198-A23DF3349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5621957"/>
              </p:ext>
            </p:extLst>
          </p:nvPr>
        </p:nvGraphicFramePr>
        <p:xfrm>
          <a:off x="616865" y="2061311"/>
          <a:ext cx="9831499" cy="4796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7C674-EB18-A15D-3CD7-4779235CA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21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3AC87B-FA08-D7C1-0B9F-A31A9DAD44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6" y="1789596"/>
            <a:ext cx="10052645" cy="271714"/>
          </a:xfrm>
        </p:spPr>
        <p:txBody>
          <a:bodyPr/>
          <a:lstStyle/>
          <a:p>
            <a:r>
              <a:rPr lang="fi-FI" sz="1200" noProof="0" dirty="0"/>
              <a:t>Arvioi nyt tarkemmin niitä yksityisiä palveluntarjoajia, jotka kerroit tuntevasi vähintään nimeltä. Minkälainen mielikuva sinulla on niistä yleisellä tasolla?</a:t>
            </a:r>
          </a:p>
        </p:txBody>
      </p:sp>
      <p:graphicFrame>
        <p:nvGraphicFramePr>
          <p:cNvPr id="23" name="Taulukko 22">
            <a:extLst>
              <a:ext uri="{FF2B5EF4-FFF2-40B4-BE49-F238E27FC236}">
                <a16:creationId xmlns:a16="http://schemas.microsoft.com/office/drawing/2014/main" id="{9FEB5265-E6AD-2732-1E33-B7E58E1E7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181810"/>
              </p:ext>
            </p:extLst>
          </p:nvPr>
        </p:nvGraphicFramePr>
        <p:xfrm>
          <a:off x="10438326" y="1789596"/>
          <a:ext cx="882207" cy="4559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2207">
                  <a:extLst>
                    <a:ext uri="{9D8B030D-6E8A-4147-A177-3AD203B41FA5}">
                      <a16:colId xmlns:a16="http://schemas.microsoft.com/office/drawing/2014/main" val="2208937031"/>
                    </a:ext>
                  </a:extLst>
                </a:gridCol>
              </a:tblGrid>
              <a:tr h="371881">
                <a:tc>
                  <a:txBody>
                    <a:bodyPr/>
                    <a:lstStyle/>
                    <a:p>
                      <a:pPr algn="ctr" fontAlgn="b"/>
                      <a:r>
                        <a:rPr lang="fi-FI" sz="1200" b="1" u="none" strike="noStrike" noProof="0" dirty="0">
                          <a:effectLst/>
                        </a:rPr>
                        <a:t>Muutos</a:t>
                      </a:r>
                    </a:p>
                    <a:p>
                      <a:pPr algn="ctr" fontAlgn="b"/>
                      <a:r>
                        <a:rPr lang="fi-FI" sz="12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toukokuusta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056370"/>
                  </a:ext>
                </a:extLst>
              </a:tr>
              <a:tr h="51857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+6 %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403713"/>
                  </a:ext>
                </a:extLst>
              </a:tr>
              <a:tr h="51857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+3 %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517835"/>
                  </a:ext>
                </a:extLst>
              </a:tr>
              <a:tr h="51857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607408"/>
                  </a:ext>
                </a:extLst>
              </a:tr>
              <a:tr h="557043"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-2 %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122344"/>
                  </a:ext>
                </a:extLst>
              </a:tr>
              <a:tr h="51857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-6 %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17693"/>
                  </a:ext>
                </a:extLst>
              </a:tr>
              <a:tr h="51857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+1 %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118404"/>
                  </a:ext>
                </a:extLst>
              </a:tr>
              <a:tr h="51857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  <a:r>
                        <a:rPr lang="fi-FI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  <a:r>
                        <a:rPr lang="fi-FI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fi-FI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946528"/>
                  </a:ext>
                </a:extLst>
              </a:tr>
              <a:tr h="518576">
                <a:tc>
                  <a:txBody>
                    <a:bodyPr/>
                    <a:lstStyle/>
                    <a:p>
                      <a:pPr algn="ctr" fontAlgn="b"/>
                      <a:r>
                        <a:rPr lang="fi-FI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+7 %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627366"/>
                  </a:ext>
                </a:extLst>
              </a:tr>
            </a:tbl>
          </a:graphicData>
        </a:graphic>
      </p:graphicFrame>
      <p:sp>
        <p:nvSpPr>
          <p:cNvPr id="6" name="Title 2">
            <a:extLst>
              <a:ext uri="{FF2B5EF4-FFF2-40B4-BE49-F238E27FC236}">
                <a16:creationId xmlns:a16="http://schemas.microsoft.com/office/drawing/2014/main" id="{1E24A9BD-1C57-5D64-27B0-22418DC67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noProof="0" dirty="0" err="1"/>
              <a:t>Attendon</a:t>
            </a:r>
            <a:r>
              <a:rPr lang="fi-FI" noProof="0" dirty="0"/>
              <a:t> mielikuvat ovat selvästi parantuneet toukokuusta, kuten myös Onnikotien ja </a:t>
            </a:r>
            <a:r>
              <a:rPr lang="fi-FI" noProof="0" dirty="0" err="1"/>
              <a:t>Esperin</a:t>
            </a:r>
            <a:r>
              <a:rPr lang="fi-FI" noProof="0" dirty="0"/>
              <a:t>. Humanan kohdalla mielikuvat ovat selvästi </a:t>
            </a:r>
            <a:r>
              <a:rPr lang="fi-FI" noProof="0" dirty="0" err="1"/>
              <a:t>vähemmä</a:t>
            </a:r>
            <a:r>
              <a:rPr lang="fi-FI" dirty="0"/>
              <a:t>n positiivisia </a:t>
            </a:r>
            <a:r>
              <a:rPr lang="fi-FI" noProof="0" dirty="0"/>
              <a:t>kuin toukokuussa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8DFCE6-517A-A76B-A580-FA9618A53E49}"/>
              </a:ext>
            </a:extLst>
          </p:cNvPr>
          <p:cNvSpPr txBox="1"/>
          <p:nvPr/>
        </p:nvSpPr>
        <p:spPr>
          <a:xfrm>
            <a:off x="3479077" y="4172420"/>
            <a:ext cx="52292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57 % </a:t>
            </a:r>
            <a:r>
              <a:rPr lang="fi-FI" sz="1200" i="1" noProof="0" dirty="0"/>
              <a:t>(touko 25: 63 %, marras 24: 58 %, touko 24: 5</a:t>
            </a:r>
            <a:r>
              <a:rPr lang="fi-FI" sz="1200" i="1" dirty="0"/>
              <a:t>1</a:t>
            </a:r>
            <a:r>
              <a:rPr lang="fi-FI" sz="1200" i="1" noProof="0" dirty="0"/>
              <a:t> %)</a:t>
            </a:r>
            <a:endParaRPr lang="fi-FI" sz="1400" i="1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FF57B-061B-866E-E24F-929B7C0E58D9}"/>
              </a:ext>
            </a:extLst>
          </p:cNvPr>
          <p:cNvSpPr txBox="1"/>
          <p:nvPr/>
        </p:nvSpPr>
        <p:spPr>
          <a:xfrm>
            <a:off x="3115876" y="3120674"/>
            <a:ext cx="5078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58 % </a:t>
            </a:r>
            <a:r>
              <a:rPr lang="fi-FI" sz="1200" i="1" noProof="0" dirty="0"/>
              <a:t>(touko 25: 62 %, marras 24: 61 %, touko 24: 56 %)</a:t>
            </a:r>
            <a:endParaRPr lang="fi-FI" sz="1400" i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EF009D-9338-8650-B1D1-9B8AC74B0C30}"/>
              </a:ext>
            </a:extLst>
          </p:cNvPr>
          <p:cNvSpPr txBox="1"/>
          <p:nvPr/>
        </p:nvSpPr>
        <p:spPr>
          <a:xfrm>
            <a:off x="3246285" y="2069051"/>
            <a:ext cx="48318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</a:t>
            </a:r>
            <a:r>
              <a:rPr lang="fi-FI" sz="1200" b="1" dirty="0"/>
              <a:t>67</a:t>
            </a:r>
            <a:r>
              <a:rPr lang="fi-FI" sz="1200" b="1" noProof="0" dirty="0"/>
              <a:t> % </a:t>
            </a:r>
            <a:r>
              <a:rPr lang="fi-FI" sz="1200" i="1" noProof="0" dirty="0"/>
              <a:t>(touko 25: 61 %, marras 24: 59 %, touko 24: 51 %)</a:t>
            </a:r>
            <a:endParaRPr lang="fi-FI" sz="1400" i="1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F34-6708-DD15-B85B-CB5898426286}"/>
              </a:ext>
            </a:extLst>
          </p:cNvPr>
          <p:cNvSpPr txBox="1"/>
          <p:nvPr/>
        </p:nvSpPr>
        <p:spPr>
          <a:xfrm>
            <a:off x="3557589" y="3631038"/>
            <a:ext cx="47099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58 % </a:t>
            </a:r>
            <a:r>
              <a:rPr lang="fi-FI" sz="1200" i="1" noProof="0" dirty="0"/>
              <a:t>(touko 25: 60 %, marras 24: 59 %, touko 24: 5</a:t>
            </a:r>
            <a:r>
              <a:rPr lang="fi-FI" sz="1200" i="1" dirty="0"/>
              <a:t>3</a:t>
            </a:r>
            <a:r>
              <a:rPr lang="fi-FI" sz="1200" i="1" noProof="0" dirty="0"/>
              <a:t> %)</a:t>
            </a:r>
            <a:endParaRPr lang="fi-FI" sz="1400" i="1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45ACFA-E737-6341-60F6-DFD8A8DA8BC7}"/>
              </a:ext>
            </a:extLst>
          </p:cNvPr>
          <p:cNvSpPr txBox="1"/>
          <p:nvPr/>
        </p:nvSpPr>
        <p:spPr>
          <a:xfrm>
            <a:off x="3085216" y="2595543"/>
            <a:ext cx="50788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</a:t>
            </a:r>
            <a:r>
              <a:rPr lang="fi-FI" sz="1200" b="1" dirty="0"/>
              <a:t>61</a:t>
            </a:r>
            <a:r>
              <a:rPr lang="fi-FI" sz="1200" b="1" noProof="0" dirty="0"/>
              <a:t> % </a:t>
            </a:r>
            <a:r>
              <a:rPr lang="fi-FI" sz="1200" i="1" noProof="0" dirty="0"/>
              <a:t>(touko 25: 58 %, marras 24: 67 %, touko 24: 59 %)</a:t>
            </a:r>
            <a:endParaRPr lang="fi-FI" sz="1400" i="1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7DB256-8ED9-4022-906F-CF0A5C479284}"/>
              </a:ext>
            </a:extLst>
          </p:cNvPr>
          <p:cNvSpPr txBox="1"/>
          <p:nvPr/>
        </p:nvSpPr>
        <p:spPr>
          <a:xfrm>
            <a:off x="4268873" y="4676928"/>
            <a:ext cx="42389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dirty="0"/>
              <a:t>Positiivinen 53 % </a:t>
            </a:r>
            <a:r>
              <a:rPr lang="fi-FI" sz="1200" i="1" dirty="0"/>
              <a:t>(touko 25: 52 %, marras 24: 45 %)</a:t>
            </a:r>
            <a:endParaRPr lang="fi-FI" sz="14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54F56B-1B1B-C767-4E63-14F87959C5A6}"/>
              </a:ext>
            </a:extLst>
          </p:cNvPr>
          <p:cNvSpPr txBox="1"/>
          <p:nvPr/>
        </p:nvSpPr>
        <p:spPr>
          <a:xfrm>
            <a:off x="5000625" y="5193763"/>
            <a:ext cx="46716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</a:t>
            </a:r>
            <a:r>
              <a:rPr lang="fi-FI" sz="1200" b="1" dirty="0"/>
              <a:t>51</a:t>
            </a:r>
            <a:r>
              <a:rPr lang="fi-FI" sz="1200" b="1" noProof="0" dirty="0"/>
              <a:t> % </a:t>
            </a:r>
            <a:r>
              <a:rPr lang="fi-FI" sz="1200" i="1" noProof="0" dirty="0"/>
              <a:t>(touko 25: 43 %, marras 24: 43 %, touko 24: 42 %)</a:t>
            </a:r>
            <a:endParaRPr lang="fi-FI" sz="1400" i="1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2FD2D0-7F68-C837-85F8-F5210120C474}"/>
              </a:ext>
            </a:extLst>
          </p:cNvPr>
          <p:cNvSpPr txBox="1"/>
          <p:nvPr/>
        </p:nvSpPr>
        <p:spPr>
          <a:xfrm>
            <a:off x="5153027" y="5723945"/>
            <a:ext cx="46716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48 % </a:t>
            </a:r>
            <a:r>
              <a:rPr lang="fi-FI" sz="1200" i="1" noProof="0" dirty="0"/>
              <a:t>(touko 25: 41 %, marras 24: 41 %, touko 24: 39 %)</a:t>
            </a:r>
            <a:endParaRPr lang="fi-FI" sz="1400" i="1" noProof="0" dirty="0"/>
          </a:p>
        </p:txBody>
      </p:sp>
    </p:spTree>
    <p:extLst>
      <p:ext uri="{BB962C8B-B14F-4D97-AF65-F5344CB8AC3E}">
        <p14:creationId xmlns:p14="http://schemas.microsoft.com/office/powerpoint/2010/main" val="2185555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CD745-E431-A507-1764-8BDD153D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B2AD01D-22C7-5DB3-D993-64D067170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0162374"/>
              </p:ext>
            </p:extLst>
          </p:nvPr>
        </p:nvGraphicFramePr>
        <p:xfrm>
          <a:off x="566057" y="2100943"/>
          <a:ext cx="9955806" cy="4229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11E40-B0B6-747C-6B24-E21474AAD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58023" y="6343429"/>
            <a:ext cx="358775" cy="412744"/>
          </a:xfrm>
        </p:spPr>
        <p:txBody>
          <a:bodyPr/>
          <a:lstStyle/>
          <a:p>
            <a:fld id="{C4E37AC7-33D9-447F-B835-411F63F8169F}" type="slidenum">
              <a:rPr lang="fi-FI" noProof="0" smtClean="0"/>
              <a:pPr/>
              <a:t>22</a:t>
            </a:fld>
            <a:endParaRPr lang="fi-FI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36F56F-174E-97B4-B546-ABE73628F2A7}"/>
              </a:ext>
            </a:extLst>
          </p:cNvPr>
          <p:cNvSpPr txBox="1"/>
          <p:nvPr/>
        </p:nvSpPr>
        <p:spPr>
          <a:xfrm>
            <a:off x="5544455" y="2550246"/>
            <a:ext cx="4513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</a:t>
            </a:r>
            <a:r>
              <a:rPr lang="fi-FI" sz="1200" b="1" dirty="0"/>
              <a:t>51</a:t>
            </a:r>
            <a:r>
              <a:rPr lang="fi-FI" sz="1200" b="1" noProof="0" dirty="0"/>
              <a:t> % </a:t>
            </a:r>
            <a:r>
              <a:rPr lang="fi-FI" sz="1200" i="1" noProof="0" dirty="0"/>
              <a:t>(</a:t>
            </a:r>
            <a:r>
              <a:rPr lang="fi-FI" sz="1200" i="1" dirty="0"/>
              <a:t>touko 25: 43 % </a:t>
            </a:r>
            <a:r>
              <a:rPr lang="fi-FI" sz="1200" i="1" noProof="0" dirty="0"/>
              <a:t>marras 24: 43 %, touko 24: 42 %)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AD7E8-B4A7-2ABA-7231-35405E3825B6}"/>
              </a:ext>
            </a:extLst>
          </p:cNvPr>
          <p:cNvSpPr txBox="1"/>
          <p:nvPr/>
        </p:nvSpPr>
        <p:spPr>
          <a:xfrm>
            <a:off x="4953954" y="3190840"/>
            <a:ext cx="5104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</a:t>
            </a:r>
            <a:r>
              <a:rPr lang="fi-FI" sz="1200" b="1" dirty="0"/>
              <a:t>54</a:t>
            </a:r>
            <a:r>
              <a:rPr lang="fi-FI" sz="1200" b="1" noProof="0" dirty="0"/>
              <a:t> % </a:t>
            </a:r>
            <a:r>
              <a:rPr lang="fi-FI" sz="1200" i="1" noProof="0" dirty="0"/>
              <a:t>(touko 25: 46 %, marras 24: 48 %, </a:t>
            </a:r>
            <a:r>
              <a:rPr lang="fi-FI" sz="1100" i="1" noProof="0" dirty="0"/>
              <a:t>touko 24: 46 %, 2023: 43 %)</a:t>
            </a:r>
            <a:endParaRPr lang="fi-FI" sz="1200" i="1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D482AA-C409-7986-1478-712F4FA66F28}"/>
              </a:ext>
            </a:extLst>
          </p:cNvPr>
          <p:cNvSpPr txBox="1"/>
          <p:nvPr/>
        </p:nvSpPr>
        <p:spPr>
          <a:xfrm>
            <a:off x="4688115" y="3835605"/>
            <a:ext cx="4838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36 % </a:t>
            </a:r>
            <a:r>
              <a:rPr lang="fi-FI" sz="1200" i="1" noProof="0" dirty="0"/>
              <a:t>(touko 25: 36 %, marras 24: 31 %, touko 24: 28 %)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08B37D-F3B6-D7CF-CB97-813E4EA5298C}"/>
              </a:ext>
            </a:extLst>
          </p:cNvPr>
          <p:cNvSpPr txBox="1"/>
          <p:nvPr/>
        </p:nvSpPr>
        <p:spPr>
          <a:xfrm>
            <a:off x="4325256" y="4474557"/>
            <a:ext cx="4466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</a:t>
            </a:r>
            <a:r>
              <a:rPr lang="fi-FI" sz="1200" b="1" dirty="0"/>
              <a:t>91</a:t>
            </a:r>
            <a:r>
              <a:rPr lang="fi-FI" sz="1200" b="1" noProof="0" dirty="0"/>
              <a:t> % </a:t>
            </a:r>
            <a:r>
              <a:rPr lang="fi-FI" sz="1200" i="1" noProof="0" dirty="0"/>
              <a:t>(touko 26: 87 %, marras 24: 81 % , touko 24: 88 %)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8020E4-7611-7F3F-59D5-251190C48681}"/>
              </a:ext>
            </a:extLst>
          </p:cNvPr>
          <p:cNvSpPr txBox="1"/>
          <p:nvPr/>
        </p:nvSpPr>
        <p:spPr>
          <a:xfrm>
            <a:off x="4905829" y="5119322"/>
            <a:ext cx="5212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Positiivinen </a:t>
            </a:r>
            <a:r>
              <a:rPr lang="fi-FI" sz="1200" b="1" dirty="0"/>
              <a:t>5</a:t>
            </a:r>
            <a:r>
              <a:rPr lang="fi-FI" sz="1200" b="1" noProof="0" dirty="0"/>
              <a:t>4 % </a:t>
            </a:r>
            <a:r>
              <a:rPr lang="fi-FI" sz="1200" i="1" noProof="0" dirty="0"/>
              <a:t>(touko 25: 44 %, marras 24: 48 %, touko 24: 40%, 2023: 46%)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317D4E5-C692-4768-02AA-E37FF7E5BE3D}"/>
              </a:ext>
            </a:extLst>
          </p:cNvPr>
          <p:cNvSpPr txBox="1">
            <a:spLocks/>
          </p:cNvSpPr>
          <p:nvPr/>
        </p:nvSpPr>
        <p:spPr>
          <a:xfrm>
            <a:off x="616264" y="1937889"/>
            <a:ext cx="10052645" cy="271714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noProof="0" dirty="0"/>
              <a:t>Arvioi nyt tarkemmin niitä yksityisiä palveluntarjoajia, jotka kerroit tuntevasi vähintään nimeltä. Minkälainen mielikuva sinulla on niistä yleisellä tasolla?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CC1807-4557-FAF2-FABD-23E4D6A3A45C}"/>
              </a:ext>
            </a:extLst>
          </p:cNvPr>
          <p:cNvSpPr txBox="1"/>
          <p:nvPr/>
        </p:nvSpPr>
        <p:spPr>
          <a:xfrm>
            <a:off x="10357926" y="2137326"/>
            <a:ext cx="1630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200" b="1" noProof="0" dirty="0"/>
              <a:t>Muutos</a:t>
            </a:r>
          </a:p>
          <a:p>
            <a:pPr algn="ctr"/>
            <a:r>
              <a:rPr lang="fi-FI" sz="1200" b="1" noProof="0" dirty="0"/>
              <a:t>toukokuusta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ED1681-C89B-FE15-B38E-23AFEC95F0B7}"/>
              </a:ext>
            </a:extLst>
          </p:cNvPr>
          <p:cNvSpPr txBox="1"/>
          <p:nvPr/>
        </p:nvSpPr>
        <p:spPr>
          <a:xfrm>
            <a:off x="10357926" y="2782393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+8 </a:t>
            </a:r>
            <a:r>
              <a:rPr lang="fi-FI" sz="1400" noProof="0" dirty="0"/>
              <a:t>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182F05-F834-723C-6480-DDBDCD76E3E6}"/>
              </a:ext>
            </a:extLst>
          </p:cNvPr>
          <p:cNvSpPr txBox="1"/>
          <p:nvPr/>
        </p:nvSpPr>
        <p:spPr>
          <a:xfrm>
            <a:off x="10371574" y="3433410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noProof="0" dirty="0"/>
              <a:t>+8 %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C540E4-2DD1-5F79-CB25-B722A679C069}"/>
              </a:ext>
            </a:extLst>
          </p:cNvPr>
          <p:cNvSpPr txBox="1"/>
          <p:nvPr/>
        </p:nvSpPr>
        <p:spPr>
          <a:xfrm>
            <a:off x="10357926" y="4081719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0</a:t>
            </a:r>
            <a:r>
              <a:rPr lang="fi-FI" sz="1400" noProof="0" dirty="0"/>
              <a:t> 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CB38D0-AC82-5DE4-5B67-A3F685F68A3A}"/>
              </a:ext>
            </a:extLst>
          </p:cNvPr>
          <p:cNvSpPr txBox="1"/>
          <p:nvPr/>
        </p:nvSpPr>
        <p:spPr>
          <a:xfrm>
            <a:off x="10357926" y="4740946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+4 </a:t>
            </a:r>
            <a:r>
              <a:rPr lang="fi-FI" sz="1400" noProof="0" dirty="0"/>
              <a:t>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6D7AD8-766C-FCFE-4526-8DF7E893DFEE}"/>
              </a:ext>
            </a:extLst>
          </p:cNvPr>
          <p:cNvSpPr txBox="1"/>
          <p:nvPr/>
        </p:nvSpPr>
        <p:spPr>
          <a:xfrm>
            <a:off x="10365770" y="5400172"/>
            <a:ext cx="16302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dirty="0"/>
              <a:t>+10 </a:t>
            </a:r>
            <a:r>
              <a:rPr lang="fi-FI" sz="1400" noProof="0" dirty="0"/>
              <a:t>%</a:t>
            </a:r>
          </a:p>
        </p:txBody>
      </p:sp>
      <p:sp>
        <p:nvSpPr>
          <p:cNvPr id="24" name="Title 2">
            <a:extLst>
              <a:ext uri="{FF2B5EF4-FFF2-40B4-BE49-F238E27FC236}">
                <a16:creationId xmlns:a16="http://schemas.microsoft.com/office/drawing/2014/main" id="{56F3C673-6B78-D9F2-338D-E0DB4EFAB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noProof="0" dirty="0"/>
              <a:t>Sekä kokemusta omaavien, suosittelijoiden että ammattilaisten keskuudessa mielikuvat </a:t>
            </a:r>
            <a:r>
              <a:rPr lang="fi-FI" noProof="0" dirty="0" err="1"/>
              <a:t>Attendosta</a:t>
            </a:r>
            <a:r>
              <a:rPr lang="fi-FI" noProof="0" dirty="0"/>
              <a:t> ovat kohentuneet. Kokemattomilla mielikuvat ovat pysyneet ennallaan</a:t>
            </a:r>
          </a:p>
        </p:txBody>
      </p:sp>
    </p:spTree>
    <p:extLst>
      <p:ext uri="{BB962C8B-B14F-4D97-AF65-F5344CB8AC3E}">
        <p14:creationId xmlns:p14="http://schemas.microsoft.com/office/powerpoint/2010/main" val="3858868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03F8D-EB45-9E0D-7184-AF57A407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925A8-7B10-651E-AA60-D843AA258E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23</a:t>
            </a:fld>
            <a:endParaRPr lang="fi-FI" noProof="0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12BB67D-B35E-17F1-E2A7-267E11E82C63}"/>
              </a:ext>
            </a:extLst>
          </p:cNvPr>
          <p:cNvSpPr txBox="1">
            <a:spLocks/>
          </p:cNvSpPr>
          <p:nvPr/>
        </p:nvSpPr>
        <p:spPr>
          <a:xfrm>
            <a:off x="616959" y="1783709"/>
            <a:ext cx="10052645" cy="38366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noProof="0" dirty="0"/>
              <a:t>Arvioi nyt tarkemmin niitä yksityisiä palveluntarjoajia, jotka kerroit tuntevasi vähintään nimeltä. Minkälainen mielikuva sinulla on niistä yleisellä tasolla?</a:t>
            </a:r>
          </a:p>
          <a:p>
            <a:r>
              <a:rPr lang="fi-FI" sz="1200" b="1" noProof="0" dirty="0"/>
              <a:t>Taulukko kuvaa niitä, jotka vastasivat ’Hyvä’ tai ’Erittäin hyvä’</a:t>
            </a:r>
          </a:p>
          <a:p>
            <a:endParaRPr lang="fi-FI" sz="1200" noProof="0" dirty="0"/>
          </a:p>
        </p:txBody>
      </p:sp>
      <p:sp>
        <p:nvSpPr>
          <p:cNvPr id="14" name="Tekstiruutu 13">
            <a:extLst>
              <a:ext uri="{FF2B5EF4-FFF2-40B4-BE49-F238E27FC236}">
                <a16:creationId xmlns:a16="http://schemas.microsoft.com/office/drawing/2014/main" id="{112B23E0-608B-DC34-6985-F5E0AF052231}"/>
              </a:ext>
            </a:extLst>
          </p:cNvPr>
          <p:cNvSpPr txBox="1"/>
          <p:nvPr/>
        </p:nvSpPr>
        <p:spPr>
          <a:xfrm>
            <a:off x="616959" y="5612184"/>
            <a:ext cx="4410075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fi-FI" sz="1050" b="0" i="1" u="none" strike="noStrike" noProof="0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Sininen = keskimääräistä enemmän positiivisesti suhtautuvia </a:t>
            </a:r>
          </a:p>
          <a:p>
            <a:pPr fontAlgn="b"/>
            <a:r>
              <a:rPr lang="fi-FI" sz="1050" b="0" i="1" u="none" strike="noStrike" noProof="0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Punainen = keskimääräistä vähemmän positiivisesti suhtautuvia </a:t>
            </a:r>
          </a:p>
          <a:p>
            <a:pPr algn="l" fontAlgn="b"/>
            <a:r>
              <a:rPr lang="fi-FI" sz="1050" i="1" noProof="0" dirty="0">
                <a:solidFill>
                  <a:srgbClr val="000000"/>
                </a:solidFill>
                <a:latin typeface="Aptos Narrow" panose="020B0004020202020204" pitchFamily="34" charset="0"/>
              </a:rPr>
              <a:t>Valkoinen = keskiverto</a:t>
            </a:r>
          </a:p>
        </p:txBody>
      </p:sp>
      <p:sp>
        <p:nvSpPr>
          <p:cNvPr id="16" name="Tekstiruutu 15">
            <a:extLst>
              <a:ext uri="{FF2B5EF4-FFF2-40B4-BE49-F238E27FC236}">
                <a16:creationId xmlns:a16="http://schemas.microsoft.com/office/drawing/2014/main" id="{7CFED6E5-EB6C-F769-409E-C8CE7774C514}"/>
              </a:ext>
            </a:extLst>
          </p:cNvPr>
          <p:cNvSpPr txBox="1"/>
          <p:nvPr/>
        </p:nvSpPr>
        <p:spPr>
          <a:xfrm>
            <a:off x="8669775" y="5637785"/>
            <a:ext cx="290526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fi-FI" sz="1050" b="0" i="1" u="none" strike="noStrike" noProof="0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*Liian pieni otoskoko analysoitavaksi</a:t>
            </a:r>
            <a:r>
              <a:rPr lang="fi-FI" sz="1050" i="1" dirty="0">
                <a:solidFill>
                  <a:srgbClr val="000000"/>
                </a:solidFill>
                <a:latin typeface="Aptos Narrow" panose="020B0004020202020204" pitchFamily="34" charset="0"/>
              </a:rPr>
              <a:t> (</a:t>
            </a:r>
            <a:r>
              <a:rPr lang="fi-FI" sz="1050" b="0" i="1" u="none" strike="noStrike" noProof="0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n </a:t>
            </a:r>
            <a:r>
              <a:rPr lang="fi-FI" sz="1050" i="1" noProof="0" dirty="0">
                <a:solidFill>
                  <a:srgbClr val="000000"/>
                </a:solidFill>
                <a:latin typeface="Aptos Narrow" panose="020B0004020202020204" pitchFamily="34" charset="0"/>
              </a:rPr>
              <a:t>&lt; 30)</a:t>
            </a:r>
          </a:p>
          <a:p>
            <a:pPr algn="l" fontAlgn="b"/>
            <a:r>
              <a:rPr lang="fi-FI" sz="105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**Ei vertailua, sillä otoskoko aiemmin liian pieni</a:t>
            </a:r>
            <a:endParaRPr lang="fi-FI" sz="1050" b="0" i="1" u="none" strike="noStrike" noProof="0" dirty="0">
              <a:solidFill>
                <a:srgbClr val="000000"/>
              </a:solidFill>
              <a:effectLst/>
              <a:latin typeface="Aptos Narrow" panose="020B0004020202020204" pitchFamily="34" charset="0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447672E0-55DE-D9E8-9F13-98A1F1D6D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375119" cy="868589"/>
          </a:xfrm>
        </p:spPr>
        <p:txBody>
          <a:bodyPr/>
          <a:lstStyle/>
          <a:p>
            <a:r>
              <a:rPr lang="fi-FI" noProof="0" dirty="0" err="1"/>
              <a:t>Attendon</a:t>
            </a:r>
            <a:r>
              <a:rPr lang="fi-FI" noProof="0" dirty="0"/>
              <a:t> suosittelijoiden mielikuvat ovat parantuneet monen palveluntarjoajan osalta, kokemusta omaavien ja ammattilaisten puolestaan heikentyneet monen muun kuin </a:t>
            </a:r>
            <a:r>
              <a:rPr lang="fi-FI" noProof="0" dirty="0" err="1"/>
              <a:t>Attendon</a:t>
            </a:r>
            <a:r>
              <a:rPr lang="fi-FI" noProof="0" dirty="0"/>
              <a:t> kohdalla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E4A74F1-1225-33F8-9D20-6A262BA559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549942"/>
              </p:ext>
            </p:extLst>
          </p:nvPr>
        </p:nvGraphicFramePr>
        <p:xfrm>
          <a:off x="616959" y="2292612"/>
          <a:ext cx="10781721" cy="3219939"/>
        </p:xfrm>
        <a:graphic>
          <a:graphicData uri="http://schemas.openxmlformats.org/drawingml/2006/table">
            <a:tbl>
              <a:tblPr/>
              <a:tblGrid>
                <a:gridCol w="1351541">
                  <a:extLst>
                    <a:ext uri="{9D8B030D-6E8A-4147-A177-3AD203B41FA5}">
                      <a16:colId xmlns:a16="http://schemas.microsoft.com/office/drawing/2014/main" val="1276605488"/>
                    </a:ext>
                  </a:extLst>
                </a:gridCol>
                <a:gridCol w="1409700">
                  <a:extLst>
                    <a:ext uri="{9D8B030D-6E8A-4147-A177-3AD203B41FA5}">
                      <a16:colId xmlns:a16="http://schemas.microsoft.com/office/drawing/2014/main" val="2969470954"/>
                    </a:ext>
                  </a:extLst>
                </a:gridCol>
                <a:gridCol w="1002560">
                  <a:extLst>
                    <a:ext uri="{9D8B030D-6E8A-4147-A177-3AD203B41FA5}">
                      <a16:colId xmlns:a16="http://schemas.microsoft.com/office/drawing/2014/main" val="1991226539"/>
                    </a:ext>
                  </a:extLst>
                </a:gridCol>
                <a:gridCol w="1002560">
                  <a:extLst>
                    <a:ext uri="{9D8B030D-6E8A-4147-A177-3AD203B41FA5}">
                      <a16:colId xmlns:a16="http://schemas.microsoft.com/office/drawing/2014/main" val="502046187"/>
                    </a:ext>
                  </a:extLst>
                </a:gridCol>
                <a:gridCol w="1002560">
                  <a:extLst>
                    <a:ext uri="{9D8B030D-6E8A-4147-A177-3AD203B41FA5}">
                      <a16:colId xmlns:a16="http://schemas.microsoft.com/office/drawing/2014/main" val="1190222725"/>
                    </a:ext>
                  </a:extLst>
                </a:gridCol>
                <a:gridCol w="1002560">
                  <a:extLst>
                    <a:ext uri="{9D8B030D-6E8A-4147-A177-3AD203B41FA5}">
                      <a16:colId xmlns:a16="http://schemas.microsoft.com/office/drawing/2014/main" val="1455315170"/>
                    </a:ext>
                  </a:extLst>
                </a:gridCol>
                <a:gridCol w="1002560">
                  <a:extLst>
                    <a:ext uri="{9D8B030D-6E8A-4147-A177-3AD203B41FA5}">
                      <a16:colId xmlns:a16="http://schemas.microsoft.com/office/drawing/2014/main" val="652633982"/>
                    </a:ext>
                  </a:extLst>
                </a:gridCol>
                <a:gridCol w="1002560">
                  <a:extLst>
                    <a:ext uri="{9D8B030D-6E8A-4147-A177-3AD203B41FA5}">
                      <a16:colId xmlns:a16="http://schemas.microsoft.com/office/drawing/2014/main" val="2157384353"/>
                    </a:ext>
                  </a:extLst>
                </a:gridCol>
                <a:gridCol w="1002560">
                  <a:extLst>
                    <a:ext uri="{9D8B030D-6E8A-4147-A177-3AD203B41FA5}">
                      <a16:colId xmlns:a16="http://schemas.microsoft.com/office/drawing/2014/main" val="1600517461"/>
                    </a:ext>
                  </a:extLst>
                </a:gridCol>
                <a:gridCol w="1002560">
                  <a:extLst>
                    <a:ext uri="{9D8B030D-6E8A-4147-A177-3AD203B41FA5}">
                      <a16:colId xmlns:a16="http://schemas.microsoft.com/office/drawing/2014/main" val="507456241"/>
                    </a:ext>
                  </a:extLst>
                </a:gridCol>
              </a:tblGrid>
              <a:tr h="3577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Kaikki vastaajat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Kokemusta omaavat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 kokemusta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Ammattilaiset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Suosittelijat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658073"/>
                  </a:ext>
                </a:extLst>
              </a:tr>
              <a:tr h="3577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Onnikodit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i-FI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82 %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AB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495979"/>
                  </a:ext>
                </a:extLst>
              </a:tr>
              <a:tr h="3577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Ykköskodit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i-FI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B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BD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683219"/>
                  </a:ext>
                </a:extLst>
              </a:tr>
              <a:tr h="3577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Mainio-kodit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i-FI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3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201846"/>
                  </a:ext>
                </a:extLst>
              </a:tr>
              <a:tr h="3577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Rinnekodit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6A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BD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340729"/>
                  </a:ext>
                </a:extLst>
              </a:tr>
              <a:tr h="3577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Humana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i-FI" sz="12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C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-16 %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B6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318051"/>
                  </a:ext>
                </a:extLst>
              </a:tr>
              <a:tr h="3577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Validia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DC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BD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77305"/>
                  </a:ext>
                </a:extLst>
              </a:tr>
              <a:tr h="3577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Attendo</a:t>
                      </a: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97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983818"/>
                  </a:ext>
                </a:extLst>
              </a:tr>
              <a:tr h="3577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Esperi</a:t>
                      </a: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7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A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3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0330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989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8B69-BA0E-DB34-8828-D36A1FF8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36000" tIns="36000" rIns="36000" bIns="36000" rtlCol="0" anchor="b">
            <a:noAutofit/>
          </a:bodyPr>
          <a:lstStyle/>
          <a:p>
            <a:r>
              <a:rPr lang="fi-FI" sz="7200" cap="none" noProof="0" dirty="0">
                <a:latin typeface="Lumios Marker" panose="00000500000000000000" pitchFamily="50" charset="0"/>
              </a:rPr>
              <a:t>Spontaanit brändimielikuvat</a:t>
            </a:r>
          </a:p>
        </p:txBody>
      </p:sp>
    </p:spTree>
    <p:extLst>
      <p:ext uri="{BB962C8B-B14F-4D97-AF65-F5344CB8AC3E}">
        <p14:creationId xmlns:p14="http://schemas.microsoft.com/office/powerpoint/2010/main" val="256331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ABA1F-F2D9-F825-19B7-7F53DFE52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25</a:t>
            </a:fld>
            <a:endParaRPr lang="fi-FI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447197-20AC-68A7-C884-DA9B5CFE7548}"/>
              </a:ext>
            </a:extLst>
          </p:cNvPr>
          <p:cNvSpPr txBox="1"/>
          <p:nvPr/>
        </p:nvSpPr>
        <p:spPr>
          <a:xfrm>
            <a:off x="566057" y="111274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noProof="0" dirty="0"/>
              <a:t>Millä kolmella sanalla kuvailisit mielikuvaasi </a:t>
            </a:r>
            <a:r>
              <a:rPr lang="fi-FI" sz="1200" noProof="0" dirty="0" err="1"/>
              <a:t>Attendosta</a:t>
            </a:r>
            <a:r>
              <a:rPr lang="fi-FI" sz="1200" noProof="0" dirty="0"/>
              <a:t>? (kaikki vastaajat, n=863)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C4CAF5C7-4B43-D65E-4067-1FCDC6E7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260934"/>
            <a:ext cx="11075081" cy="868589"/>
          </a:xfrm>
        </p:spPr>
        <p:txBody>
          <a:bodyPr/>
          <a:lstStyle/>
          <a:p>
            <a:r>
              <a:rPr lang="fi-FI" noProof="0" dirty="0"/>
              <a:t>Spontaanisti </a:t>
            </a:r>
            <a:r>
              <a:rPr lang="fi-FI" noProof="0" dirty="0" err="1"/>
              <a:t>Attendoa</a:t>
            </a:r>
            <a:r>
              <a:rPr lang="fi-FI" noProof="0" dirty="0"/>
              <a:t> kuvataan yhä tyypillisimmin </a:t>
            </a:r>
            <a:r>
              <a:rPr lang="fi-FI" i="1" noProof="0" dirty="0"/>
              <a:t>kalliina</a:t>
            </a:r>
            <a:r>
              <a:rPr lang="fi-FI" noProof="0" dirty="0"/>
              <a:t>, mutta myös </a:t>
            </a:r>
            <a:r>
              <a:rPr lang="fi-FI" i="1" noProof="0" dirty="0"/>
              <a:t>luotettavana</a:t>
            </a:r>
            <a:r>
              <a:rPr lang="fi-FI" noProof="0" dirty="0"/>
              <a:t> hieman useammin kuin aiemmin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DC8CC82-B73B-92DB-2D2D-1BF8948EDA3B}"/>
              </a:ext>
            </a:extLst>
          </p:cNvPr>
          <p:cNvSpPr/>
          <p:nvPr/>
        </p:nvSpPr>
        <p:spPr>
          <a:xfrm>
            <a:off x="10491591" y="1957957"/>
            <a:ext cx="1419380" cy="3349747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Touko 24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(188)</a:t>
            </a:r>
            <a:br>
              <a:rPr lang="fi-FI" sz="1200" dirty="0">
                <a:solidFill>
                  <a:schemeClr val="tx1"/>
                </a:solidFill>
              </a:rPr>
            </a:br>
            <a:r>
              <a:rPr lang="fi-FI" sz="1200" dirty="0">
                <a:solidFill>
                  <a:schemeClr val="tx1"/>
                </a:solidFill>
              </a:rPr>
              <a:t>Kiireinen (68)</a:t>
            </a:r>
            <a:br>
              <a:rPr lang="fi-FI" sz="1200" dirty="0">
                <a:solidFill>
                  <a:schemeClr val="tx1"/>
                </a:solidFill>
              </a:rPr>
            </a:br>
            <a:r>
              <a:rPr lang="fi-FI" sz="1200" dirty="0">
                <a:solidFill>
                  <a:schemeClr val="tx1"/>
                </a:solidFill>
              </a:rPr>
              <a:t>Ahne (59)</a:t>
            </a:r>
            <a:br>
              <a:rPr lang="fi-FI" sz="1200" dirty="0">
                <a:solidFill>
                  <a:schemeClr val="tx1"/>
                </a:solidFill>
              </a:rPr>
            </a:br>
            <a:r>
              <a:rPr lang="fi-FI" sz="1200" dirty="0">
                <a:solidFill>
                  <a:schemeClr val="tx1"/>
                </a:solidFill>
              </a:rPr>
              <a:t>Hyvä (52)</a:t>
            </a:r>
            <a:br>
              <a:rPr lang="fi-FI" sz="1200" dirty="0">
                <a:solidFill>
                  <a:schemeClr val="tx1"/>
                </a:solidFill>
              </a:rPr>
            </a:br>
            <a:r>
              <a:rPr lang="fi-FI" sz="1200" dirty="0">
                <a:solidFill>
                  <a:schemeClr val="tx1"/>
                </a:solidFill>
              </a:rPr>
              <a:t>Luotettava (49)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(43)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(32)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(30)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(28)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Yksityinen (28)</a:t>
            </a:r>
            <a:endParaRPr lang="fi-FI" sz="10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9F833A-BE98-F2B9-A6AA-AC26DF78581D}"/>
              </a:ext>
            </a:extLst>
          </p:cNvPr>
          <p:cNvSpPr/>
          <p:nvPr/>
        </p:nvSpPr>
        <p:spPr>
          <a:xfrm>
            <a:off x="8992306" y="1957392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Marras 24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(166)</a:t>
            </a:r>
            <a:br>
              <a:rPr lang="fi-FI" sz="1200" dirty="0">
                <a:solidFill>
                  <a:schemeClr val="tx1"/>
                </a:solidFill>
              </a:rPr>
            </a:br>
            <a:r>
              <a:rPr lang="fi-FI" sz="1200" dirty="0">
                <a:solidFill>
                  <a:schemeClr val="tx1"/>
                </a:solidFill>
              </a:rPr>
              <a:t>Kiireinen (53)</a:t>
            </a:r>
            <a:br>
              <a:rPr lang="fi-FI" sz="1200" dirty="0">
                <a:solidFill>
                  <a:schemeClr val="tx1"/>
                </a:solidFill>
              </a:rPr>
            </a:br>
            <a:r>
              <a:rPr lang="fi-FI" sz="1200" dirty="0">
                <a:solidFill>
                  <a:schemeClr val="tx1"/>
                </a:solidFill>
              </a:rPr>
              <a:t>Huono (48)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(48)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Ahne (41)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Tunnettu (34)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(34)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(31)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Yksityinen (30)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(28)</a:t>
            </a:r>
            <a:endParaRPr lang="fi-FI" sz="900" noProof="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D6F8C3-4D26-11A1-2257-59E9C665F403}"/>
              </a:ext>
            </a:extLst>
          </p:cNvPr>
          <p:cNvSpPr/>
          <p:nvPr/>
        </p:nvSpPr>
        <p:spPr>
          <a:xfrm>
            <a:off x="7490563" y="1954060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Touko 25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(189)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(81)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Ahne (60)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(58)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Kiireinen (54) 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(38)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(38)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(31)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Laadukas (25)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(24)</a:t>
            </a:r>
            <a:endParaRPr lang="fi-FI" sz="105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FB9EC3D-C3F9-094B-3EB0-FAC9EDA46B05}"/>
              </a:ext>
            </a:extLst>
          </p:cNvPr>
          <p:cNvSpPr/>
          <p:nvPr/>
        </p:nvSpPr>
        <p:spPr>
          <a:xfrm>
            <a:off x="5988820" y="1954060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Marras 25</a:t>
            </a:r>
          </a:p>
          <a:p>
            <a:pPr algn="ctr"/>
            <a:endParaRPr lang="fi-FI" sz="12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(185)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Huono (75)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Kiire/kiireinen (66)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Luotettava (61)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Hyvä (60)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Ahne (57)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Iso (36)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Tunnettu (32)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(32)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Huolehtiva (27)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2F4BEFF-B3F4-11A6-473A-C9986D0DE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659" y="1129523"/>
            <a:ext cx="5437892" cy="5437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5020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68709-52BF-90F3-F848-3F9B897E1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26</a:t>
            </a:fld>
            <a:endParaRPr lang="fi-FI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FC01AF-62F0-60C2-2CB1-8429B506C52C}"/>
              </a:ext>
            </a:extLst>
          </p:cNvPr>
          <p:cNvSpPr txBox="1"/>
          <p:nvPr/>
        </p:nvSpPr>
        <p:spPr>
          <a:xfrm>
            <a:off x="566057" y="111274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noProof="0" dirty="0"/>
              <a:t>Millä kolmella sanalla kuvailisit mielikuvaasi </a:t>
            </a:r>
            <a:r>
              <a:rPr lang="fi-FI" sz="1200" noProof="0" dirty="0" err="1"/>
              <a:t>Attendosta</a:t>
            </a:r>
            <a:r>
              <a:rPr lang="fi-FI" sz="1200" noProof="0" dirty="0"/>
              <a:t>? (kokemusta omaavat, n=554) 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13C16C9E-066C-F0C8-84C3-B98798A6A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260934"/>
            <a:ext cx="11075762" cy="868589"/>
          </a:xfrm>
        </p:spPr>
        <p:txBody>
          <a:bodyPr/>
          <a:lstStyle/>
          <a:p>
            <a:r>
              <a:rPr lang="fi-FI" dirty="0"/>
              <a:t>Kokemusta omaavat yhdistävät sanan </a:t>
            </a:r>
            <a:r>
              <a:rPr lang="fi-FI" i="1" dirty="0"/>
              <a:t>kallis</a:t>
            </a:r>
            <a:r>
              <a:rPr lang="fi-FI" dirty="0"/>
              <a:t> </a:t>
            </a:r>
            <a:r>
              <a:rPr lang="fi-FI" dirty="0" err="1"/>
              <a:t>Attendoon</a:t>
            </a:r>
            <a:r>
              <a:rPr lang="fi-FI" dirty="0"/>
              <a:t> yhä yleisimmin, mutta </a:t>
            </a:r>
            <a:r>
              <a:rPr lang="fi-FI" i="1" dirty="0"/>
              <a:t>luotettavuus</a:t>
            </a:r>
            <a:r>
              <a:rPr lang="fi-FI" dirty="0"/>
              <a:t> mainitaan aiempaa useammin</a:t>
            </a:r>
            <a:endParaRPr lang="fi-FI" i="1" noProof="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B2A1AC-8ACD-FFCA-4CA0-CEC3B1357186}"/>
              </a:ext>
            </a:extLst>
          </p:cNvPr>
          <p:cNvSpPr/>
          <p:nvPr/>
        </p:nvSpPr>
        <p:spPr>
          <a:xfrm>
            <a:off x="10491591" y="1957957"/>
            <a:ext cx="1419380" cy="3349747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Touko 24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(131)</a:t>
            </a:r>
            <a:br>
              <a:rPr lang="fi-FI" sz="1200" dirty="0">
                <a:solidFill>
                  <a:schemeClr val="tx1"/>
                </a:solidFill>
              </a:rPr>
            </a:br>
            <a:r>
              <a:rPr lang="fi-FI" sz="1200" dirty="0">
                <a:solidFill>
                  <a:schemeClr val="tx1"/>
                </a:solidFill>
              </a:rPr>
              <a:t>Ahne (53)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Kiireinen (47)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(43)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(33)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(33)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(20)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(20)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Yksityinen (19)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(18)</a:t>
            </a:r>
            <a:endParaRPr lang="fi-FI" sz="105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A4DBEC-691B-D990-58C4-584EA2CFE645}"/>
              </a:ext>
            </a:extLst>
          </p:cNvPr>
          <p:cNvSpPr/>
          <p:nvPr/>
        </p:nvSpPr>
        <p:spPr>
          <a:xfrm>
            <a:off x="8992306" y="1957392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Marras 24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(98)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(38)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Kiireinen (34)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(24)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Ahne (23)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Tunnettu (23)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(19)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(19)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(18)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(17)</a:t>
            </a:r>
            <a:endParaRPr lang="fi-FI" sz="1000" noProof="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F01C66-F49C-1E93-36DD-A962DA3942B1}"/>
              </a:ext>
            </a:extLst>
          </p:cNvPr>
          <p:cNvSpPr/>
          <p:nvPr/>
        </p:nvSpPr>
        <p:spPr>
          <a:xfrm>
            <a:off x="7490563" y="1954060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Touko 25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(110)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(42)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(37)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Ahne (33)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(25)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(25)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Kiireinen (19)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(19)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Huolehtiva (17)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(17)</a:t>
            </a:r>
            <a:endParaRPr lang="fi-FI" sz="11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28FC615-A79D-9B21-974B-3637322B5F13}"/>
              </a:ext>
            </a:extLst>
          </p:cNvPr>
          <p:cNvSpPr/>
          <p:nvPr/>
        </p:nvSpPr>
        <p:spPr>
          <a:xfrm>
            <a:off x="5988820" y="1954060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Marras 25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Kallis (125)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(49)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Kiire/kiireinen (49)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(47)</a:t>
            </a:r>
            <a:endParaRPr lang="fi-FI" sz="1200" noProof="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(47)</a:t>
            </a:r>
            <a:endParaRPr lang="fi-FI" sz="1200" noProof="0" dirty="0">
              <a:solidFill>
                <a:schemeClr val="tx1"/>
              </a:solidFill>
            </a:endParaRP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Ahne (33)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(25)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Kiire (25)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Tunnettu (25)</a:t>
            </a:r>
          </a:p>
          <a:p>
            <a:pPr algn="ctr"/>
            <a:r>
              <a:rPr lang="fi-FI" sz="1200" noProof="0" dirty="0" err="1">
                <a:solidFill>
                  <a:schemeClr val="tx1"/>
                </a:solidFill>
              </a:rPr>
              <a:t>Huo</a:t>
            </a:r>
            <a:r>
              <a:rPr lang="fi-FI" sz="1200" dirty="0" err="1">
                <a:solidFill>
                  <a:schemeClr val="tx1"/>
                </a:solidFill>
              </a:rPr>
              <a:t>lehtiva</a:t>
            </a:r>
            <a:r>
              <a:rPr lang="fi-FI" sz="1200" dirty="0">
                <a:solidFill>
                  <a:schemeClr val="tx1"/>
                </a:solidFill>
              </a:rPr>
              <a:t> (20)</a:t>
            </a:r>
            <a:endParaRPr lang="fi-FI" sz="1200" noProof="0" dirty="0">
              <a:solidFill>
                <a:schemeClr val="tx1"/>
              </a:solid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776B0DA-194E-A12F-EA5C-5154E9B15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44" y="1112743"/>
            <a:ext cx="5468258" cy="546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0239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2640C-AE5C-0C53-0680-B86738EA0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27</a:t>
            </a:fld>
            <a:endParaRPr lang="fi-FI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697E1-8969-7FA0-B56C-FDE517604D2D}"/>
              </a:ext>
            </a:extLst>
          </p:cNvPr>
          <p:cNvSpPr txBox="1"/>
          <p:nvPr/>
        </p:nvSpPr>
        <p:spPr>
          <a:xfrm>
            <a:off x="566057" y="111274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noProof="0" dirty="0"/>
              <a:t>Millä kolmella sanalla kuvailisit mielikuvaasi </a:t>
            </a:r>
            <a:r>
              <a:rPr lang="fi-FI" sz="1200" noProof="0" dirty="0" err="1"/>
              <a:t>Attendosta</a:t>
            </a:r>
            <a:r>
              <a:rPr lang="fi-FI" sz="1200" noProof="0" dirty="0"/>
              <a:t>? (kokemattomat, n=</a:t>
            </a:r>
            <a:r>
              <a:rPr lang="fi-FI" sz="1200" dirty="0"/>
              <a:t>181</a:t>
            </a:r>
            <a:r>
              <a:rPr lang="fi-FI" sz="1200" noProof="0" dirty="0"/>
              <a:t>) </a:t>
            </a: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EB9EBC77-5677-7839-B890-66A2A91B9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2" y="260934"/>
            <a:ext cx="9941410" cy="868589"/>
          </a:xfrm>
        </p:spPr>
        <p:txBody>
          <a:bodyPr/>
          <a:lstStyle/>
          <a:p>
            <a:r>
              <a:rPr lang="fi-FI" dirty="0"/>
              <a:t>Myös k</a:t>
            </a:r>
            <a:r>
              <a:rPr lang="fi-FI" noProof="0" dirty="0" err="1"/>
              <a:t>okemattomien</a:t>
            </a:r>
            <a:r>
              <a:rPr lang="fi-FI" noProof="0" dirty="0"/>
              <a:t> kohdalla sana </a:t>
            </a:r>
            <a:r>
              <a:rPr lang="fi-FI" i="1" noProof="0" dirty="0"/>
              <a:t>kallis</a:t>
            </a:r>
            <a:r>
              <a:rPr lang="fi-FI" noProof="0" dirty="0"/>
              <a:t> korostuu yhä selvästi yleisimmin</a:t>
            </a:r>
            <a:endParaRPr lang="fi-FI" i="1" noProof="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A32FE2-D78E-40A7-D56B-847B97C1D66C}"/>
              </a:ext>
            </a:extLst>
          </p:cNvPr>
          <p:cNvSpPr/>
          <p:nvPr/>
        </p:nvSpPr>
        <p:spPr>
          <a:xfrm>
            <a:off x="10491591" y="1957957"/>
            <a:ext cx="1419380" cy="3349747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Touko 24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(26)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(12)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(10)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Kiireinen (8)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Yksityinen (7)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Ahne (6)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Epäluotettava (6)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(6)</a:t>
            </a:r>
            <a:endParaRPr lang="fi-FI" sz="11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2E9AD0-A518-8DF5-5BEB-9D0D43ED13FD}"/>
              </a:ext>
            </a:extLst>
          </p:cNvPr>
          <p:cNvSpPr/>
          <p:nvPr/>
        </p:nvSpPr>
        <p:spPr>
          <a:xfrm>
            <a:off x="8992306" y="1957392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Marras 24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(50)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(18)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Ahne (15)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(11)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Yksityinen (11)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Kiireinen (7)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Tunnettu (7)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Lähellä (6)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Palveleva (6)</a:t>
            </a:r>
            <a:endParaRPr lang="fi-FI" sz="1050" noProof="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8E0135-C704-4B0E-1D80-7A9E1A4F8F10}"/>
              </a:ext>
            </a:extLst>
          </p:cNvPr>
          <p:cNvSpPr/>
          <p:nvPr/>
        </p:nvSpPr>
        <p:spPr>
          <a:xfrm>
            <a:off x="7490563" y="1954060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Touko 25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(59)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(24)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Ahne (17)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(11)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Epäluotettava (9)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Laadukas (8)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Etäinen (6)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Suuri (6)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BED15E-D18A-38D0-A4A2-8C4D20135276}"/>
              </a:ext>
            </a:extLst>
          </p:cNvPr>
          <p:cNvSpPr/>
          <p:nvPr/>
        </p:nvSpPr>
        <p:spPr>
          <a:xfrm>
            <a:off x="5988820" y="1954060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Marras 25</a:t>
            </a:r>
          </a:p>
          <a:p>
            <a:pPr algn="ctr"/>
            <a:endParaRPr lang="fi-FI" sz="1400" b="1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(45)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(17)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Ahne (13)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(13)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Suuri (8)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Epäluotettava (6)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Huolehtiva (6)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FE550797-A747-BF34-82D7-9D2E9F08E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683" y="933518"/>
            <a:ext cx="5566775" cy="55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488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55B02-DA49-CE68-ECEC-73486C209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28</a:t>
            </a:fld>
            <a:endParaRPr lang="fi-FI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36288-0BEC-FF3F-8545-D205CD6CD764}"/>
              </a:ext>
            </a:extLst>
          </p:cNvPr>
          <p:cNvSpPr txBox="1"/>
          <p:nvPr/>
        </p:nvSpPr>
        <p:spPr>
          <a:xfrm>
            <a:off x="566057" y="111274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noProof="0" dirty="0"/>
              <a:t>Millä kolmella sanalla kuvailisit mielikuvaasi </a:t>
            </a:r>
            <a:r>
              <a:rPr lang="fi-FI" sz="1200" noProof="0" dirty="0" err="1"/>
              <a:t>Attendosta</a:t>
            </a:r>
            <a:r>
              <a:rPr lang="fi-FI" sz="1200" noProof="0" dirty="0"/>
              <a:t>? (suosittelijat, n=</a:t>
            </a:r>
            <a:r>
              <a:rPr lang="fi-FI" sz="1200" dirty="0"/>
              <a:t>239)</a:t>
            </a:r>
            <a:endParaRPr lang="fi-FI" sz="1200" noProof="0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FF57229D-EC36-50A2-95BB-44C53A9F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260934"/>
            <a:ext cx="11075081" cy="868589"/>
          </a:xfrm>
        </p:spPr>
        <p:txBody>
          <a:bodyPr/>
          <a:lstStyle/>
          <a:p>
            <a:r>
              <a:rPr lang="fi-FI" dirty="0"/>
              <a:t>Suosittelijat yhdistävät </a:t>
            </a:r>
            <a:r>
              <a:rPr lang="fi-FI" dirty="0" err="1"/>
              <a:t>Attendoon</a:t>
            </a:r>
            <a:r>
              <a:rPr lang="fi-FI" dirty="0"/>
              <a:t> yhä positiivisia sanoja, kuten l</a:t>
            </a:r>
            <a:r>
              <a:rPr lang="fi-FI" i="1" dirty="0"/>
              <a:t>uotettava</a:t>
            </a:r>
            <a:r>
              <a:rPr lang="fi-FI" dirty="0"/>
              <a:t>, </a:t>
            </a:r>
            <a:r>
              <a:rPr lang="fi-FI" i="1" dirty="0"/>
              <a:t>huolehtiva</a:t>
            </a:r>
            <a:r>
              <a:rPr lang="fi-FI" dirty="0"/>
              <a:t>, </a:t>
            </a:r>
            <a:r>
              <a:rPr lang="fi-FI" i="1" dirty="0"/>
              <a:t>välittävä</a:t>
            </a:r>
            <a:r>
              <a:rPr lang="fi-FI" dirty="0"/>
              <a:t> ja </a:t>
            </a:r>
            <a:r>
              <a:rPr lang="fi-FI" i="1" dirty="0"/>
              <a:t>laadukas</a:t>
            </a:r>
            <a:endParaRPr lang="fi-FI" i="1" noProof="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BF8D8B-6E42-7E4F-9107-89D7E72B73D9}"/>
              </a:ext>
            </a:extLst>
          </p:cNvPr>
          <p:cNvSpPr/>
          <p:nvPr/>
        </p:nvSpPr>
        <p:spPr>
          <a:xfrm>
            <a:off x="10491591" y="1957957"/>
            <a:ext cx="1419380" cy="3349747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Touko 24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(35)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(18)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(16)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Kiireinen (13)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Ahne (10)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Yksityinen (8)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Huolehtiva (5)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(5)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A74A69-892C-24CE-2DFE-D12B46F4206B}"/>
              </a:ext>
            </a:extLst>
          </p:cNvPr>
          <p:cNvSpPr/>
          <p:nvPr/>
        </p:nvSpPr>
        <p:spPr>
          <a:xfrm>
            <a:off x="8992306" y="1957392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Marras 24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(34)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(20)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(17)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(14)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Huolehtiva (13)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Osaava (11)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Tehokas (11)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Laadukas (9)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Palveleva (9)</a:t>
            </a:r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Toimiva (9)</a:t>
            </a:r>
            <a:endParaRPr lang="fi-FI" sz="1100" noProof="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CC09C4-2370-2F4A-D5F5-8393831A14A4}"/>
              </a:ext>
            </a:extLst>
          </p:cNvPr>
          <p:cNvSpPr/>
          <p:nvPr/>
        </p:nvSpPr>
        <p:spPr>
          <a:xfrm>
            <a:off x="7490563" y="1954060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Touko 25</a:t>
            </a:r>
          </a:p>
          <a:p>
            <a:pPr algn="ctr"/>
            <a:endParaRPr lang="fi-FI" sz="140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(34)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(24)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(21)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Laadukas (16)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Huolehtiva (14)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(13)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Toimiva (12)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Osaava (19)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Turvallinen (10)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Laaja (8)</a:t>
            </a:r>
            <a:endParaRPr lang="fi-FI" sz="1200" noProof="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674124-54EC-D42D-0974-B9AB3D37DC19}"/>
              </a:ext>
            </a:extLst>
          </p:cNvPr>
          <p:cNvSpPr/>
          <p:nvPr/>
        </p:nvSpPr>
        <p:spPr>
          <a:xfrm>
            <a:off x="5988820" y="1954060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600" b="1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600" b="1" dirty="0">
                <a:solidFill>
                  <a:schemeClr val="tx1"/>
                </a:solidFill>
              </a:rPr>
              <a:t>Marras 25</a:t>
            </a:r>
          </a:p>
          <a:p>
            <a:pPr algn="ctr"/>
            <a:endParaRPr lang="fi-FI" sz="1600" b="1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(39)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(33)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(31)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Huolehtiva (20)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(20)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Tunnettu (18)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Laadukas (15)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(12)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Osaava (12)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Turvallinen (12)</a:t>
            </a:r>
          </a:p>
          <a:p>
            <a:pPr algn="ctr"/>
            <a:endParaRPr lang="fi-FI" sz="1400" noProof="0" dirty="0">
              <a:solidFill>
                <a:schemeClr val="tx1"/>
              </a:solidFill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A25A6C3D-FA5D-0F93-0F77-6E8B4DE1D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29" y="1112743"/>
            <a:ext cx="5443366" cy="5443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172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55B02-DA49-CE68-ECEC-73486C209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29</a:t>
            </a:fld>
            <a:endParaRPr lang="fi-FI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30C292-A0CE-6753-E350-2F0B39F75DEE}"/>
              </a:ext>
            </a:extLst>
          </p:cNvPr>
          <p:cNvSpPr txBox="1"/>
          <p:nvPr/>
        </p:nvSpPr>
        <p:spPr>
          <a:xfrm>
            <a:off x="566057" y="111274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noProof="0" dirty="0"/>
              <a:t>Millä kolmella sanalla kuvailisit mielikuvaasi </a:t>
            </a:r>
            <a:r>
              <a:rPr lang="fi-FI" sz="1200" noProof="0" dirty="0" err="1"/>
              <a:t>Attendosta</a:t>
            </a:r>
            <a:r>
              <a:rPr lang="fi-FI" sz="1200" noProof="0" dirty="0"/>
              <a:t>? (ammattilaiset, n=201)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7733E6-BA7B-ACC2-A334-E08D6CF5AFE8}"/>
              </a:ext>
            </a:extLst>
          </p:cNvPr>
          <p:cNvSpPr/>
          <p:nvPr/>
        </p:nvSpPr>
        <p:spPr>
          <a:xfrm>
            <a:off x="10491591" y="1957957"/>
            <a:ext cx="1419380" cy="3349747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Touko 24</a:t>
            </a:r>
          </a:p>
          <a:p>
            <a:pPr algn="ctr"/>
            <a:endParaRPr lang="fi-FI" sz="1400" noProof="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(56)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Kiireinen(23)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Hyvä (15)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(12)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(11)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(10)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Laaja (8)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Voittoa </a:t>
            </a:r>
            <a:r>
              <a:rPr lang="fi-FI" sz="1200" dirty="0" err="1">
                <a:solidFill>
                  <a:schemeClr val="tx1"/>
                </a:solidFill>
              </a:rPr>
              <a:t>tavoit</a:t>
            </a:r>
            <a:r>
              <a:rPr lang="fi-FI" sz="1200" dirty="0">
                <a:solidFill>
                  <a:schemeClr val="tx1"/>
                </a:solidFill>
              </a:rPr>
              <a:t>. (8)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Välittävä (8)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02C6A8-01E4-2D06-4BDC-133A7DFF489D}"/>
              </a:ext>
            </a:extLst>
          </p:cNvPr>
          <p:cNvSpPr/>
          <p:nvPr/>
        </p:nvSpPr>
        <p:spPr>
          <a:xfrm>
            <a:off x="8992306" y="1957392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Marras 24</a:t>
            </a:r>
          </a:p>
          <a:p>
            <a:pPr algn="ctr"/>
            <a:endParaRPr lang="fi-FI" sz="1400" noProof="0" dirty="0">
              <a:solidFill>
                <a:schemeClr val="tx1"/>
              </a:solidFill>
            </a:endParaRP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Kallis (26)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Kiireinen (17)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Välittävä (11)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(9)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Hyvä (8)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(8)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Luotettava (7)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Monipuolinen (7)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Yksityinen (7)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Epäluotettava (6)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92389A-CF6B-50C0-4C06-B727D6FCEA6E}"/>
              </a:ext>
            </a:extLst>
          </p:cNvPr>
          <p:cNvSpPr/>
          <p:nvPr/>
        </p:nvSpPr>
        <p:spPr>
          <a:xfrm>
            <a:off x="7490563" y="1954060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dirty="0">
                <a:solidFill>
                  <a:schemeClr val="tx1"/>
                </a:solidFill>
              </a:rPr>
              <a:t>Touko</a:t>
            </a:r>
            <a:r>
              <a:rPr lang="fi-FI" sz="1400" b="1" noProof="0" dirty="0">
                <a:solidFill>
                  <a:schemeClr val="tx1"/>
                </a:solidFill>
              </a:rPr>
              <a:t> 25</a:t>
            </a:r>
          </a:p>
          <a:p>
            <a:pPr algn="ctr"/>
            <a:endParaRPr lang="fi-FI" sz="1400" noProof="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(32)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Hu</a:t>
            </a:r>
            <a:r>
              <a:rPr lang="fi-FI" sz="1200" dirty="0" err="1">
                <a:solidFill>
                  <a:schemeClr val="tx1"/>
                </a:solidFill>
              </a:rPr>
              <a:t>ono</a:t>
            </a:r>
            <a:r>
              <a:rPr lang="fi-FI" sz="1200" dirty="0">
                <a:solidFill>
                  <a:schemeClr val="tx1"/>
                </a:solidFill>
              </a:rPr>
              <a:t> (26)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Kiireinen (20)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Välinpitämätön (14)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Ahne (13)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(12)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Hyvä (10)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Laaja (9)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Raha (9)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Iso (8)</a:t>
            </a:r>
            <a:endParaRPr lang="fi-FI" sz="1400" noProof="0" dirty="0">
              <a:solidFill>
                <a:schemeClr val="tx1"/>
              </a:solidFill>
            </a:endParaRPr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427FE228-44F3-6D98-F8E2-EE6ACDE04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260934"/>
            <a:ext cx="11314340" cy="868589"/>
          </a:xfrm>
        </p:spPr>
        <p:txBody>
          <a:bodyPr/>
          <a:lstStyle/>
          <a:p>
            <a:r>
              <a:rPr lang="fi-FI" noProof="0" dirty="0"/>
              <a:t>Ammattilaisten keskuudessa korostuvat yhä hyvin samankaltaiset sanat kuin aiemmin, kuten </a:t>
            </a:r>
            <a:r>
              <a:rPr lang="fi-FI" i="1" noProof="0" dirty="0"/>
              <a:t>kallis</a:t>
            </a:r>
            <a:r>
              <a:rPr lang="fi-FI" noProof="0" dirty="0"/>
              <a:t>, </a:t>
            </a:r>
            <a:r>
              <a:rPr lang="fi-FI" i="1" noProof="0" dirty="0"/>
              <a:t>huono</a:t>
            </a:r>
            <a:r>
              <a:rPr lang="fi-FI" noProof="0" dirty="0"/>
              <a:t> ja </a:t>
            </a:r>
            <a:r>
              <a:rPr lang="fi-FI" i="1" noProof="0" dirty="0"/>
              <a:t>kiireinen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C7C4E1D-66C5-16EC-75B2-A55B89448E17}"/>
              </a:ext>
            </a:extLst>
          </p:cNvPr>
          <p:cNvSpPr/>
          <p:nvPr/>
        </p:nvSpPr>
        <p:spPr>
          <a:xfrm>
            <a:off x="5988820" y="1954060"/>
            <a:ext cx="1419381" cy="3353644"/>
          </a:xfrm>
          <a:prstGeom prst="roundRect">
            <a:avLst/>
          </a:prstGeom>
          <a:solidFill>
            <a:srgbClr val="F2EB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TOP 10</a:t>
            </a:r>
          </a:p>
          <a:p>
            <a:pPr algn="ctr"/>
            <a:r>
              <a:rPr lang="fi-FI" sz="1400" b="1" noProof="0" dirty="0">
                <a:solidFill>
                  <a:schemeClr val="tx1"/>
                </a:solidFill>
              </a:rPr>
              <a:t>Marras 25</a:t>
            </a:r>
          </a:p>
          <a:p>
            <a:pPr algn="ctr"/>
            <a:endParaRPr lang="fi-FI" sz="1400" noProof="0" dirty="0">
              <a:solidFill>
                <a:schemeClr val="tx1"/>
              </a:solidFill>
            </a:endParaRP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Kallis (34)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Huono (24)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Kiire/kiireinen (20)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Ahne (17)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Luotettava (12)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Hyvä (11)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Epäluotettava (9)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Yksityinen (8)</a:t>
            </a:r>
          </a:p>
          <a:p>
            <a:pPr algn="ctr"/>
            <a:r>
              <a:rPr lang="fi-FI" sz="1200" dirty="0">
                <a:solidFill>
                  <a:schemeClr val="tx1"/>
                </a:solidFill>
              </a:rPr>
              <a:t>Monipuolinen (7)</a:t>
            </a:r>
          </a:p>
          <a:p>
            <a:pPr algn="ctr"/>
            <a:r>
              <a:rPr lang="fi-FI" sz="1200" noProof="0" dirty="0">
                <a:solidFill>
                  <a:schemeClr val="tx1"/>
                </a:solidFill>
              </a:rPr>
              <a:t>Tavoitteleva (7)</a:t>
            </a:r>
            <a:endParaRPr lang="fi-FI" sz="1400" noProof="0" dirty="0">
              <a:solidFill>
                <a:schemeClr val="tx1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053C967-289C-6A2D-8B8F-D54893C17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79" y="1129523"/>
            <a:ext cx="5411244" cy="541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6198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45AC0-35AA-DC4F-CDDD-08E7AE91F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0E468-1B7D-274C-0F57-224CC51F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36000" tIns="36000" rIns="36000" bIns="36000" rtlCol="0" anchor="b">
            <a:noAutofit/>
          </a:bodyPr>
          <a:lstStyle/>
          <a:p>
            <a:r>
              <a:rPr lang="fi-FI" sz="7200" cap="none" noProof="0" dirty="0">
                <a:latin typeface="Lumios Marker" panose="00000500000000000000" pitchFamily="50" charset="0"/>
              </a:rPr>
              <a:t>Autetut brändimielikuvat</a:t>
            </a:r>
          </a:p>
        </p:txBody>
      </p:sp>
    </p:spTree>
    <p:extLst>
      <p:ext uri="{BB962C8B-B14F-4D97-AF65-F5344CB8AC3E}">
        <p14:creationId xmlns:p14="http://schemas.microsoft.com/office/powerpoint/2010/main" val="2372788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87604-1EAC-40B5-EEF5-4A3561BA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31</a:t>
            </a:fld>
            <a:endParaRPr lang="fi-FI" noProof="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01EF0464-E43F-FA69-A130-6DDECFBF5182}"/>
              </a:ext>
            </a:extLst>
          </p:cNvPr>
          <p:cNvSpPr txBox="1">
            <a:spLocks/>
          </p:cNvSpPr>
          <p:nvPr/>
        </p:nvSpPr>
        <p:spPr>
          <a:xfrm>
            <a:off x="609601" y="1729937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100" noProof="0" dirty="0"/>
              <a:t>Arvioi nyt tarkemmin mielikuvaasi kustakin yksityisestä palveluntarjoajasta, jonka kerroit tuntevasi vähintään nimeltä. Kuinka hyvin seuraavat ominaisuudet vastaavat mielikuvaasi? Vastaa asteikolla 1-5, jossa 1 = Ei vastaa lainkaan ja 5 = Vastaa erittäin hyvin. </a:t>
            </a:r>
            <a:r>
              <a:rPr lang="fi-FI" sz="1100" b="1" noProof="0" dirty="0"/>
              <a:t>Kaavio kuvaa 4 + 5 vastauksien osuuksia.</a:t>
            </a:r>
            <a:endParaRPr lang="fi-FI" sz="1100" noProof="0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0FE2AA77-AEC2-9C2D-21B0-8ADF0526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2" y="655984"/>
            <a:ext cx="11286914" cy="868589"/>
          </a:xfrm>
        </p:spPr>
        <p:txBody>
          <a:bodyPr/>
          <a:lstStyle/>
          <a:p>
            <a:r>
              <a:rPr lang="fi-FI" noProof="0" dirty="0"/>
              <a:t>Hoivapalvelubrändien mielikuvat ovat</a:t>
            </a:r>
            <a:r>
              <a:rPr lang="fi-FI" dirty="0"/>
              <a:t> </a:t>
            </a:r>
            <a:r>
              <a:rPr lang="fi-FI" noProof="0" dirty="0"/>
              <a:t>profiililtaan jälleen hyvin samankaltaisia. Onnikodit yhdistetään lähes kaikkiin ominaisuuksiin muita palveluntarjoajia useammin</a:t>
            </a:r>
          </a:p>
        </p:txBody>
      </p:sp>
      <p:graphicFrame>
        <p:nvGraphicFramePr>
          <p:cNvPr id="6" name="Content Placeholder 7">
            <a:extLst>
              <a:ext uri="{FF2B5EF4-FFF2-40B4-BE49-F238E27FC236}">
                <a16:creationId xmlns:a16="http://schemas.microsoft.com/office/drawing/2014/main" id="{6FDBF926-868F-2009-7FEB-B81CB27D62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00086"/>
              </p:ext>
            </p:extLst>
          </p:nvPr>
        </p:nvGraphicFramePr>
        <p:xfrm>
          <a:off x="250825" y="1949825"/>
          <a:ext cx="6900582" cy="4598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AB598F86-1156-ADF3-FE19-0889A55829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465788"/>
              </p:ext>
            </p:extLst>
          </p:nvPr>
        </p:nvGraphicFramePr>
        <p:xfrm>
          <a:off x="7721601" y="2258990"/>
          <a:ext cx="3949700" cy="3852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0F34D4A-F806-53A5-84B7-023CE039F82A}"/>
              </a:ext>
            </a:extLst>
          </p:cNvPr>
          <p:cNvSpPr txBox="1"/>
          <p:nvPr/>
        </p:nvSpPr>
        <p:spPr>
          <a:xfrm>
            <a:off x="8947284" y="2385793"/>
            <a:ext cx="14983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sz="1400" noProof="0" dirty="0"/>
              <a:t>Toukokuu 2025</a:t>
            </a:r>
          </a:p>
        </p:txBody>
      </p:sp>
    </p:spTree>
    <p:extLst>
      <p:ext uri="{BB962C8B-B14F-4D97-AF65-F5344CB8AC3E}">
        <p14:creationId xmlns:p14="http://schemas.microsoft.com/office/powerpoint/2010/main" val="2266369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BE866-851E-D71A-FEA1-2D701ED0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8F638-9315-0082-65EA-2D478C8A7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32</a:t>
            </a:fld>
            <a:endParaRPr lang="fi-FI" noProof="0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08B205F-472D-1072-B6C9-6DC7B3974F4B}"/>
              </a:ext>
            </a:extLst>
          </p:cNvPr>
          <p:cNvSpPr txBox="1">
            <a:spLocks/>
          </p:cNvSpPr>
          <p:nvPr/>
        </p:nvSpPr>
        <p:spPr>
          <a:xfrm>
            <a:off x="620487" y="1728436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100" noProof="0" dirty="0"/>
              <a:t>Arvioi nyt tarkemmin mielikuvaasi kustakin yksityisestä palveluntarjoajasta, jonka kerroit tuntevasi vähintään nimeltä. Kuinka hyvin seuraavat ominaisuudet vastaavat mielikuvaasi? Vastaa asteikolla 1-5, jossa 1 = Ei vastaa lainkaan ja 5 = Vastaa erittäin hyvin. </a:t>
            </a:r>
            <a:r>
              <a:rPr lang="fi-FI" sz="1100" b="1" noProof="0" dirty="0"/>
              <a:t>Taulukko kuvaa 4 + 5 vastauksien osuuksia.</a:t>
            </a:r>
            <a:endParaRPr lang="fi-FI" sz="1100" noProof="0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1E8F0C7C-ED4A-9D70-A278-109DC54C3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2" y="645360"/>
            <a:ext cx="11111550" cy="868589"/>
          </a:xfrm>
        </p:spPr>
        <p:txBody>
          <a:bodyPr/>
          <a:lstStyle/>
          <a:p>
            <a:r>
              <a:rPr lang="fi-FI" noProof="0" dirty="0"/>
              <a:t>Onnikoteihin </a:t>
            </a:r>
            <a:r>
              <a:rPr lang="fi-FI" dirty="0"/>
              <a:t>liitetään positiivisia ominaisuuksia selvästi useammin kuin toukokuussa.</a:t>
            </a:r>
            <a:r>
              <a:rPr lang="fi-FI" noProof="0" dirty="0"/>
              <a:t> </a:t>
            </a:r>
            <a:r>
              <a:rPr lang="fi-FI" noProof="0" dirty="0" err="1"/>
              <a:t>Attendo</a:t>
            </a:r>
            <a:r>
              <a:rPr lang="fi-FI" noProof="0" dirty="0"/>
              <a:t> koetaan melko samankaltaisena sekä </a:t>
            </a:r>
            <a:r>
              <a:rPr lang="fi-FI" noProof="0" dirty="0" err="1"/>
              <a:t>Validian</a:t>
            </a:r>
            <a:r>
              <a:rPr lang="fi-FI" noProof="0" dirty="0"/>
              <a:t> että </a:t>
            </a:r>
            <a:r>
              <a:rPr lang="fi-FI" noProof="0" dirty="0" err="1"/>
              <a:t>Esperin</a:t>
            </a:r>
            <a:r>
              <a:rPr lang="fi-FI" noProof="0" dirty="0"/>
              <a:t> kanssa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16A3846-6027-CCCE-4737-18F6F9E227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704343"/>
              </p:ext>
            </p:extLst>
          </p:nvPr>
        </p:nvGraphicFramePr>
        <p:xfrm>
          <a:off x="644892" y="2142867"/>
          <a:ext cx="10679700" cy="4138085"/>
        </p:xfrm>
        <a:graphic>
          <a:graphicData uri="http://schemas.openxmlformats.org/drawingml/2006/table">
            <a:tbl>
              <a:tblPr/>
              <a:tblGrid>
                <a:gridCol w="2072292">
                  <a:extLst>
                    <a:ext uri="{9D8B030D-6E8A-4147-A177-3AD203B41FA5}">
                      <a16:colId xmlns:a16="http://schemas.microsoft.com/office/drawing/2014/main" val="574609169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2213430730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583635223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613500013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234451163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1856108348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3433802913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604936280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3566918759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143257781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3783941242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2740651675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3907430335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607416148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2794022273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2018106875"/>
                    </a:ext>
                  </a:extLst>
                </a:gridCol>
                <a:gridCol w="537963">
                  <a:extLst>
                    <a:ext uri="{9D8B030D-6E8A-4147-A177-3AD203B41FA5}">
                      <a16:colId xmlns:a16="http://schemas.microsoft.com/office/drawing/2014/main" val="2536843132"/>
                    </a:ext>
                  </a:extLst>
                </a:gridCol>
              </a:tblGrid>
              <a:tr h="2713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Onnikodit,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n=257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3" marR="4353" marT="43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Ykköskodit,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n=147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3" marR="4353" marT="43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Mainio-kodit, n=219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3" marR="4353" marT="43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Rinnekodit,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n=425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3" marR="4353" marT="43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Humana,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n=130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3" marR="4353" marT="43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Validia,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n=334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3" marR="4353" marT="43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Attendo</a:t>
                      </a: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n=863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3" marR="4353" marT="43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Esperi</a:t>
                      </a: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n=751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353" marR="4353" marT="435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217421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Mahdollistaa hyvän arjen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93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F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9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948754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laadukkaita hoivapalveluita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A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5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705409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monipuolista ruokaa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9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E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B9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502348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Inhimillinen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A1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C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5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240337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Luotettava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5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BF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69758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Välittävä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D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406757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Ammattitaitoinen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1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B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BA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767453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Kohtelee ihmisiä arvostavasti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A1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1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F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054284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Edelläkävijä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1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CA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9A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A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294301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Rehellinen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C3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F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8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8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682518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Kehittää toimintatapojaan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9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F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B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E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949354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Välinpitämätön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A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B6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D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B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952544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Ahne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FA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B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A8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93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066777"/>
                  </a:ext>
                </a:extLst>
              </a:tr>
              <a:tr h="27131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Kodikas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B1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1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E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D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353" marR="4353" marT="435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1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615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A9B3-9843-147C-45C4-3D0CE1B31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0AC6C-219D-E0DD-F868-1D0B73625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33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C269E-23FB-03B0-832A-D7EF7B5F5F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24790"/>
            <a:ext cx="9301162" cy="323689"/>
          </a:xfrm>
        </p:spPr>
        <p:txBody>
          <a:bodyPr/>
          <a:lstStyle/>
          <a:p>
            <a:r>
              <a:rPr lang="fi-FI" sz="1200" b="1" noProof="0" dirty="0" err="1"/>
              <a:t>Attendo</a:t>
            </a:r>
            <a:r>
              <a:rPr lang="fi-FI" sz="1200" b="1" noProof="0" dirty="0"/>
              <a:t>:</a:t>
            </a:r>
            <a:r>
              <a:rPr lang="fi-FI" sz="12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 (n=863)</a:t>
            </a:r>
          </a:p>
          <a:p>
            <a:endParaRPr lang="fi-FI" sz="1200" dirty="0"/>
          </a:p>
          <a:p>
            <a:r>
              <a:rPr lang="fi-FI" sz="1200" b="1" noProof="0" dirty="0"/>
              <a:t>Kaikki, jotka vastasivat 4 tai 5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1FD3A13-A2E1-AA1B-D2FB-6DFDDEB5A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noProof="0" dirty="0" err="1"/>
              <a:t>Attendoon</a:t>
            </a:r>
            <a:r>
              <a:rPr lang="fi-FI" noProof="0" dirty="0"/>
              <a:t> liitetään erilaisia positiivisia ominaisuuksia hieman useammin kuin aiemmin. Erityisesti </a:t>
            </a:r>
            <a:r>
              <a:rPr lang="fi-FI" i="1" noProof="0" dirty="0"/>
              <a:t>ammattitaitoisuudessa</a:t>
            </a:r>
            <a:r>
              <a:rPr lang="fi-FI" noProof="0" dirty="0"/>
              <a:t>, </a:t>
            </a:r>
            <a:r>
              <a:rPr lang="fi-FI" i="1" noProof="0" dirty="0"/>
              <a:t>hyvän arjen mahdollistamisessa</a:t>
            </a:r>
            <a:r>
              <a:rPr lang="fi-FI" noProof="0" dirty="0"/>
              <a:t> ja </a:t>
            </a:r>
            <a:r>
              <a:rPr lang="fi-FI" i="1" noProof="0" dirty="0"/>
              <a:t>luotettavuudessa</a:t>
            </a:r>
            <a:r>
              <a:rPr lang="fi-FI" noProof="0" dirty="0"/>
              <a:t> on selvää nousua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2B5DEC1-6380-7B20-633C-35134EEE23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9483562"/>
              </p:ext>
            </p:extLst>
          </p:nvPr>
        </p:nvGraphicFramePr>
        <p:xfrm>
          <a:off x="490818" y="2487706"/>
          <a:ext cx="11349317" cy="391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451682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DECD3-A505-5B1B-EC13-75CFA3DC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066AB8A-C514-3B35-2290-E90E02C023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6829582"/>
              </p:ext>
            </p:extLst>
          </p:nvPr>
        </p:nvGraphicFramePr>
        <p:xfrm>
          <a:off x="566738" y="2090288"/>
          <a:ext cx="9518556" cy="454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71D3A-3D79-45DC-C878-51E05DADC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34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36C09-6181-FE25-3B7B-2A483A7A5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32196"/>
            <a:ext cx="9301162" cy="323689"/>
          </a:xfrm>
        </p:spPr>
        <p:txBody>
          <a:bodyPr/>
          <a:lstStyle/>
          <a:p>
            <a:r>
              <a:rPr lang="fi-FI" sz="1200" b="1" noProof="0" dirty="0" err="1"/>
              <a:t>Attendo</a:t>
            </a:r>
            <a:r>
              <a:rPr lang="fi-FI" sz="1200" b="1" noProof="0" dirty="0"/>
              <a:t>:</a:t>
            </a:r>
            <a:r>
              <a:rPr lang="fi-FI" sz="12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 (n=</a:t>
            </a:r>
            <a:r>
              <a:rPr lang="fi-FI" sz="1200" dirty="0"/>
              <a:t>863</a:t>
            </a:r>
            <a:r>
              <a:rPr lang="fi-FI" sz="1200" noProof="0" dirty="0"/>
              <a:t>)</a:t>
            </a:r>
          </a:p>
        </p:txBody>
      </p:sp>
      <p:graphicFrame>
        <p:nvGraphicFramePr>
          <p:cNvPr id="6" name="Taulukko 5">
            <a:extLst>
              <a:ext uri="{FF2B5EF4-FFF2-40B4-BE49-F238E27FC236}">
                <a16:creationId xmlns:a16="http://schemas.microsoft.com/office/drawing/2014/main" id="{9879A2F9-A62D-DEC4-D73B-C6B45E894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336459"/>
              </p:ext>
            </p:extLst>
          </p:nvPr>
        </p:nvGraphicFramePr>
        <p:xfrm>
          <a:off x="10189810" y="1894040"/>
          <a:ext cx="609600" cy="42986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312807614"/>
                    </a:ext>
                  </a:extLst>
                </a:gridCol>
              </a:tblGrid>
              <a:tr h="283730">
                <a:tc>
                  <a:txBody>
                    <a:bodyPr/>
                    <a:lstStyle/>
                    <a:p>
                      <a:pPr algn="ctr" rtl="0" fontAlgn="b"/>
                      <a:r>
                        <a:rPr lang="fi-FI" sz="1050" b="1" u="none" strike="noStrike" noProof="0" dirty="0">
                          <a:effectLst/>
                        </a:rPr>
                        <a:t>4+5 yhteensä</a:t>
                      </a:r>
                      <a:endParaRPr lang="fi-FI" sz="1050" b="1" i="0" u="none" strike="noStrike" noProof="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258054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300731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992235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333554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7087324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54070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524168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006093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7404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082276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223270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461290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622920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622370"/>
                  </a:ext>
                </a:extLst>
              </a:tr>
              <a:tr h="283730">
                <a:tc>
                  <a:txBody>
                    <a:bodyPr/>
                    <a:lstStyle/>
                    <a:p>
                      <a:pPr algn="ctr" fontAlgn="b"/>
                      <a:r>
                        <a:rPr lang="fi-FI" sz="10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24 %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376479"/>
                  </a:ext>
                </a:extLst>
              </a:tr>
            </a:tbl>
          </a:graphicData>
        </a:graphic>
      </p:graphicFrame>
      <p:sp>
        <p:nvSpPr>
          <p:cNvPr id="12" name="Title 2">
            <a:extLst>
              <a:ext uri="{FF2B5EF4-FFF2-40B4-BE49-F238E27FC236}">
                <a16:creationId xmlns:a16="http://schemas.microsoft.com/office/drawing/2014/main" id="{771D6E85-1EFF-5E07-4952-D53269A8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560734"/>
            <a:ext cx="11075081" cy="868589"/>
          </a:xfrm>
        </p:spPr>
        <p:txBody>
          <a:bodyPr/>
          <a:lstStyle/>
          <a:p>
            <a:r>
              <a:rPr lang="fi-FI" noProof="0" dirty="0" err="1"/>
              <a:t>Attendoon</a:t>
            </a:r>
            <a:r>
              <a:rPr lang="fi-FI" noProof="0" dirty="0"/>
              <a:t> yhdistetään </a:t>
            </a:r>
            <a:r>
              <a:rPr lang="fi-FI" dirty="0"/>
              <a:t>nyt</a:t>
            </a:r>
            <a:r>
              <a:rPr lang="fi-FI" noProof="0" dirty="0"/>
              <a:t> yleisimmin ominaisuudet </a:t>
            </a:r>
            <a:r>
              <a:rPr lang="fi-FI" i="1" noProof="0" dirty="0"/>
              <a:t>ahne</a:t>
            </a:r>
            <a:r>
              <a:rPr lang="fi-FI" noProof="0" dirty="0"/>
              <a:t>, </a:t>
            </a:r>
            <a:r>
              <a:rPr lang="fi-FI" i="1" noProof="0" dirty="0"/>
              <a:t>ammattitaitoinen</a:t>
            </a:r>
            <a:r>
              <a:rPr lang="fi-FI" noProof="0" dirty="0"/>
              <a:t> ja </a:t>
            </a:r>
            <a:r>
              <a:rPr lang="fi-FI" i="1" noProof="0" dirty="0"/>
              <a:t>mahdollistaa hyvän arjen</a:t>
            </a:r>
          </a:p>
        </p:txBody>
      </p:sp>
    </p:spTree>
    <p:extLst>
      <p:ext uri="{BB962C8B-B14F-4D97-AF65-F5344CB8AC3E}">
        <p14:creationId xmlns:p14="http://schemas.microsoft.com/office/powerpoint/2010/main" val="3005228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F717F-DE6E-7471-C1A3-B46079F77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AA560-A749-6BFB-1E7B-D6738C7318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35</a:t>
            </a:fld>
            <a:endParaRPr lang="fi-FI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6FF26E33-D9A5-D8D1-91A7-3E8216DB8193}"/>
              </a:ext>
            </a:extLst>
          </p:cNvPr>
          <p:cNvSpPr txBox="1">
            <a:spLocks/>
          </p:cNvSpPr>
          <p:nvPr/>
        </p:nvSpPr>
        <p:spPr>
          <a:xfrm>
            <a:off x="620487" y="1726331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b="1" noProof="0" dirty="0" err="1"/>
              <a:t>Attendo</a:t>
            </a:r>
            <a:r>
              <a:rPr lang="fi-FI" sz="1200" b="1" noProof="0" dirty="0"/>
              <a:t>: </a:t>
            </a:r>
            <a:r>
              <a:rPr lang="fi-FI" sz="1200" noProof="0" dirty="0"/>
              <a:t>Arvioi nyt tarkemmin mielikuvaasi kustakin yksityisestä palveluntarjoajasta, jonka kerroit tuntevasi vähintään nimeltä. Kuinka hyvin seuraavat ominaisuudet vastaavat mielikuvaasi? Vastaa asteikolla 1-5, jossa 1 = Ei vastaa lainkaan ja 5 = Vastaa erittäin hyvin 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6CE648C0-9441-BA98-7418-927DCD52E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dirty="0"/>
              <a:t>Kaikki kohderyhmät yhdistävät </a:t>
            </a:r>
            <a:r>
              <a:rPr lang="fi-FI" dirty="0" err="1"/>
              <a:t>Attendoon</a:t>
            </a:r>
            <a:r>
              <a:rPr lang="fi-FI" dirty="0"/>
              <a:t> positiivisia ominaisuuksia hieman aiempaa useammin. Isoimmat muutokset näkyvät ammattilaisten keskuudessa</a:t>
            </a:r>
            <a:endParaRPr lang="fi-FI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37CF34-944D-2694-3B9C-E528669A59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348747"/>
              </p:ext>
            </p:extLst>
          </p:nvPr>
        </p:nvGraphicFramePr>
        <p:xfrm>
          <a:off x="620487" y="2203046"/>
          <a:ext cx="10640412" cy="3680539"/>
        </p:xfrm>
        <a:graphic>
          <a:graphicData uri="http://schemas.openxmlformats.org/drawingml/2006/table">
            <a:tbl>
              <a:tblPr/>
              <a:tblGrid>
                <a:gridCol w="2247973">
                  <a:extLst>
                    <a:ext uri="{9D8B030D-6E8A-4147-A177-3AD203B41FA5}">
                      <a16:colId xmlns:a16="http://schemas.microsoft.com/office/drawing/2014/main" val="4022465811"/>
                    </a:ext>
                  </a:extLst>
                </a:gridCol>
                <a:gridCol w="1099519">
                  <a:extLst>
                    <a:ext uri="{9D8B030D-6E8A-4147-A177-3AD203B41FA5}">
                      <a16:colId xmlns:a16="http://schemas.microsoft.com/office/drawing/2014/main" val="4228349718"/>
                    </a:ext>
                  </a:extLst>
                </a:gridCol>
                <a:gridCol w="911615">
                  <a:extLst>
                    <a:ext uri="{9D8B030D-6E8A-4147-A177-3AD203B41FA5}">
                      <a16:colId xmlns:a16="http://schemas.microsoft.com/office/drawing/2014/main" val="129086457"/>
                    </a:ext>
                  </a:extLst>
                </a:gridCol>
                <a:gridCol w="911615">
                  <a:extLst>
                    <a:ext uri="{9D8B030D-6E8A-4147-A177-3AD203B41FA5}">
                      <a16:colId xmlns:a16="http://schemas.microsoft.com/office/drawing/2014/main" val="3541986675"/>
                    </a:ext>
                  </a:extLst>
                </a:gridCol>
                <a:gridCol w="911615">
                  <a:extLst>
                    <a:ext uri="{9D8B030D-6E8A-4147-A177-3AD203B41FA5}">
                      <a16:colId xmlns:a16="http://schemas.microsoft.com/office/drawing/2014/main" val="3725916115"/>
                    </a:ext>
                  </a:extLst>
                </a:gridCol>
                <a:gridCol w="911615">
                  <a:extLst>
                    <a:ext uri="{9D8B030D-6E8A-4147-A177-3AD203B41FA5}">
                      <a16:colId xmlns:a16="http://schemas.microsoft.com/office/drawing/2014/main" val="2600953809"/>
                    </a:ext>
                  </a:extLst>
                </a:gridCol>
                <a:gridCol w="911615">
                  <a:extLst>
                    <a:ext uri="{9D8B030D-6E8A-4147-A177-3AD203B41FA5}">
                      <a16:colId xmlns:a16="http://schemas.microsoft.com/office/drawing/2014/main" val="2885918705"/>
                    </a:ext>
                  </a:extLst>
                </a:gridCol>
                <a:gridCol w="911615">
                  <a:extLst>
                    <a:ext uri="{9D8B030D-6E8A-4147-A177-3AD203B41FA5}">
                      <a16:colId xmlns:a16="http://schemas.microsoft.com/office/drawing/2014/main" val="776706410"/>
                    </a:ext>
                  </a:extLst>
                </a:gridCol>
                <a:gridCol w="911615">
                  <a:extLst>
                    <a:ext uri="{9D8B030D-6E8A-4147-A177-3AD203B41FA5}">
                      <a16:colId xmlns:a16="http://schemas.microsoft.com/office/drawing/2014/main" val="2367799610"/>
                    </a:ext>
                  </a:extLst>
                </a:gridCol>
                <a:gridCol w="911615">
                  <a:extLst>
                    <a:ext uri="{9D8B030D-6E8A-4147-A177-3AD203B41FA5}">
                      <a16:colId xmlns:a16="http://schemas.microsoft.com/office/drawing/2014/main" val="2021839873"/>
                    </a:ext>
                  </a:extLst>
                </a:gridCol>
              </a:tblGrid>
              <a:tr h="3559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Kaikki vastaajat, n=863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Kokemusta omaavat,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n=554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1" marR="4801" marT="4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 kokemusta,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n=181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1" marR="4801" marT="4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Ammattilaiset,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n=201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1" marR="4801" marT="4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Suosittelijat,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n=239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01" marR="4801" marT="480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249799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Mahdollistaa hyvän arjen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D9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9A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501874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laadukkaita hoivapalveluita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C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9D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311096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monipuolista ruokaa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C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6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4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687438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Inhimillinen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7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177884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Luotettava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A9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850001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Välittävä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7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7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327531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Ammattitaitoinen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088109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Kohtelee ihmisiä arvostavasti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4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F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640676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Edelläkävijä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D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4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39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B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399811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Rehellinen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D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2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637637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Kehittää toimintatapojaan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6A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5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208720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Välinpitämätön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D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57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218280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Ahne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7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F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666611"/>
                  </a:ext>
                </a:extLst>
              </a:tr>
              <a:tr h="23642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Kodikas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78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7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01" marR="4801" marT="480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4404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099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51FDA-4088-764A-AED0-56497AE5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D8010-50C1-67DD-F938-AF36B884B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36</a:t>
            </a:fld>
            <a:endParaRPr lang="fi-FI" noProof="0" dirty="0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BDC4856B-F2F3-BB54-05F6-1C27325A2AD3}"/>
              </a:ext>
            </a:extLst>
          </p:cNvPr>
          <p:cNvSpPr txBox="1"/>
          <p:nvPr/>
        </p:nvSpPr>
        <p:spPr>
          <a:xfrm>
            <a:off x="506113" y="1590853"/>
            <a:ext cx="1077515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100" b="1" noProof="0" dirty="0" err="1"/>
              <a:t>Attendo</a:t>
            </a:r>
            <a:r>
              <a:rPr lang="fi-FI" sz="1100" b="1" noProof="0" dirty="0"/>
              <a:t>:</a:t>
            </a:r>
            <a:r>
              <a:rPr lang="fi-FI" sz="11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</a:t>
            </a:r>
          </a:p>
          <a:p>
            <a:r>
              <a:rPr lang="fi-FI" sz="1100" b="1" i="1" noProof="0" dirty="0"/>
              <a:t>Keskiarvot, joissa ’en osaa sanoa’ –vastauksia ei ole otettu huomioon</a:t>
            </a:r>
          </a:p>
        </p:txBody>
      </p:sp>
      <p:graphicFrame>
        <p:nvGraphicFramePr>
          <p:cNvPr id="19" name="Kaavio 18">
            <a:extLst>
              <a:ext uri="{FF2B5EF4-FFF2-40B4-BE49-F238E27FC236}">
                <a16:creationId xmlns:a16="http://schemas.microsoft.com/office/drawing/2014/main" id="{B3FF6079-3EE4-0B8A-7D01-AE23FA0955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622221"/>
              </p:ext>
            </p:extLst>
          </p:nvPr>
        </p:nvGraphicFramePr>
        <p:xfrm>
          <a:off x="813337" y="2351487"/>
          <a:ext cx="4613385" cy="4065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4" name="Tekstiruutu 23">
            <a:extLst>
              <a:ext uri="{FF2B5EF4-FFF2-40B4-BE49-F238E27FC236}">
                <a16:creationId xmlns:a16="http://schemas.microsoft.com/office/drawing/2014/main" id="{459D2AB0-03FD-D525-D309-C882D8CCC443}"/>
              </a:ext>
            </a:extLst>
          </p:cNvPr>
          <p:cNvSpPr txBox="1"/>
          <p:nvPr/>
        </p:nvSpPr>
        <p:spPr>
          <a:xfrm>
            <a:off x="6096000" y="2464265"/>
            <a:ext cx="17120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1" i="1" u="none" strike="noStrike" noProof="0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Katsomme eteenpäin</a:t>
            </a:r>
            <a:r>
              <a:rPr lang="fi-FI" sz="1200" b="1" noProof="0" dirty="0"/>
              <a:t> </a:t>
            </a:r>
          </a:p>
        </p:txBody>
      </p:sp>
      <p:sp>
        <p:nvSpPr>
          <p:cNvPr id="27" name="Tekstiruutu 26">
            <a:extLst>
              <a:ext uri="{FF2B5EF4-FFF2-40B4-BE49-F238E27FC236}">
                <a16:creationId xmlns:a16="http://schemas.microsoft.com/office/drawing/2014/main" id="{6A28E299-2C0A-D7FC-7279-3CBEF657AC4D}"/>
              </a:ext>
            </a:extLst>
          </p:cNvPr>
          <p:cNvSpPr txBox="1"/>
          <p:nvPr/>
        </p:nvSpPr>
        <p:spPr>
          <a:xfrm>
            <a:off x="8107179" y="2464265"/>
            <a:ext cx="25336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1" i="1" u="none" strike="noStrike" noProof="0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Ennen kaikkea olemme koti</a:t>
            </a:r>
            <a:endParaRPr lang="fi-FI" sz="1200" b="1" noProof="0" dirty="0"/>
          </a:p>
        </p:txBody>
      </p:sp>
      <p:sp>
        <p:nvSpPr>
          <p:cNvPr id="28" name="Tekstiruutu 27">
            <a:extLst>
              <a:ext uri="{FF2B5EF4-FFF2-40B4-BE49-F238E27FC236}">
                <a16:creationId xmlns:a16="http://schemas.microsoft.com/office/drawing/2014/main" id="{7F5C918C-3FA2-2003-22B6-1BC146DF04F0}"/>
              </a:ext>
            </a:extLst>
          </p:cNvPr>
          <p:cNvSpPr txBox="1"/>
          <p:nvPr/>
        </p:nvSpPr>
        <p:spPr>
          <a:xfrm>
            <a:off x="6096000" y="3864816"/>
            <a:ext cx="25336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1" i="1" u="none" strike="noStrike" noProof="0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Vahvistamme ihmistä</a:t>
            </a:r>
            <a:endParaRPr lang="fi-FI" sz="1200" b="1" noProof="0" dirty="0"/>
          </a:p>
        </p:txBody>
      </p:sp>
      <p:sp>
        <p:nvSpPr>
          <p:cNvPr id="29" name="Tekstiruutu 28">
            <a:extLst>
              <a:ext uri="{FF2B5EF4-FFF2-40B4-BE49-F238E27FC236}">
                <a16:creationId xmlns:a16="http://schemas.microsoft.com/office/drawing/2014/main" id="{5A0CAC30-C3F8-A822-7BF5-D9FDA5AB1CF9}"/>
              </a:ext>
            </a:extLst>
          </p:cNvPr>
          <p:cNvSpPr txBox="1"/>
          <p:nvPr/>
        </p:nvSpPr>
        <p:spPr>
          <a:xfrm>
            <a:off x="8107179" y="3864816"/>
            <a:ext cx="25336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1" i="1" u="none" strike="noStrike" noProof="0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Ratkaisemme yhdessä</a:t>
            </a:r>
            <a:endParaRPr lang="fi-FI" sz="1200" b="1" noProof="0" dirty="0"/>
          </a:p>
        </p:txBody>
      </p:sp>
      <p:sp>
        <p:nvSpPr>
          <p:cNvPr id="32" name="Tekstiruutu 31">
            <a:extLst>
              <a:ext uri="{FF2B5EF4-FFF2-40B4-BE49-F238E27FC236}">
                <a16:creationId xmlns:a16="http://schemas.microsoft.com/office/drawing/2014/main" id="{87FDA4CC-8D4C-8557-2E3A-95422424B5B8}"/>
              </a:ext>
            </a:extLst>
          </p:cNvPr>
          <p:cNvSpPr txBox="1"/>
          <p:nvPr/>
        </p:nvSpPr>
        <p:spPr>
          <a:xfrm>
            <a:off x="6096000" y="2732008"/>
            <a:ext cx="1822515" cy="109260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/>
              <a:t>Ammattitaitoinen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/>
              <a:t>Kehittää toimintatapojaan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/>
              <a:t>Edelläkävijä</a:t>
            </a:r>
          </a:p>
          <a:p>
            <a:endParaRPr lang="fi-FI" sz="1300" noProof="0" dirty="0"/>
          </a:p>
        </p:txBody>
      </p:sp>
      <p:sp>
        <p:nvSpPr>
          <p:cNvPr id="35" name="Tekstiruutu 34">
            <a:extLst>
              <a:ext uri="{FF2B5EF4-FFF2-40B4-BE49-F238E27FC236}">
                <a16:creationId xmlns:a16="http://schemas.microsoft.com/office/drawing/2014/main" id="{1CEA7B93-86A1-A12A-FB2B-ECA7BFDB5602}"/>
              </a:ext>
            </a:extLst>
          </p:cNvPr>
          <p:cNvSpPr txBox="1"/>
          <p:nvPr/>
        </p:nvSpPr>
        <p:spPr>
          <a:xfrm>
            <a:off x="8107179" y="2732008"/>
            <a:ext cx="2383575" cy="892552"/>
          </a:xfrm>
          <a:prstGeom prst="rect">
            <a:avLst/>
          </a:prstGeom>
          <a:solidFill>
            <a:schemeClr val="accent3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>
                <a:solidFill>
                  <a:schemeClr val="bg1"/>
                </a:solidFill>
              </a:rPr>
              <a:t>Kodikas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>
                <a:solidFill>
                  <a:schemeClr val="bg1"/>
                </a:solidFill>
              </a:rPr>
              <a:t>Välittävä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>
                <a:solidFill>
                  <a:schemeClr val="bg1"/>
                </a:solidFill>
              </a:rPr>
              <a:t>Mahdollistaa hyvän arjen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>
                <a:solidFill>
                  <a:schemeClr val="bg1"/>
                </a:solidFill>
              </a:rPr>
              <a:t>Tarjoaa monipuolista ruokaa</a:t>
            </a:r>
          </a:p>
        </p:txBody>
      </p:sp>
      <p:sp>
        <p:nvSpPr>
          <p:cNvPr id="37" name="Tekstiruutu 36">
            <a:extLst>
              <a:ext uri="{FF2B5EF4-FFF2-40B4-BE49-F238E27FC236}">
                <a16:creationId xmlns:a16="http://schemas.microsoft.com/office/drawing/2014/main" id="{A9A2D142-CB99-0490-2919-C36CB8AC1473}"/>
              </a:ext>
            </a:extLst>
          </p:cNvPr>
          <p:cNvSpPr txBox="1"/>
          <p:nvPr/>
        </p:nvSpPr>
        <p:spPr>
          <a:xfrm>
            <a:off x="6096000" y="4169370"/>
            <a:ext cx="1822514" cy="129266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b="0" i="0" u="none" strike="noStrike" noProof="0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Inhimillinen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>
                <a:solidFill>
                  <a:schemeClr val="bg1"/>
                </a:solidFill>
              </a:rPr>
              <a:t>Tarjoaa laadukkaita hoivapalveluita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>
                <a:solidFill>
                  <a:schemeClr val="bg1"/>
                </a:solidFill>
              </a:rPr>
              <a:t>Kohtelee ihmisiä arvostavasti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 sz="1300" noProof="0" dirty="0">
              <a:solidFill>
                <a:schemeClr val="bg1"/>
              </a:solidFill>
            </a:endParaRPr>
          </a:p>
        </p:txBody>
      </p:sp>
      <p:sp>
        <p:nvSpPr>
          <p:cNvPr id="40" name="Tekstiruutu 39">
            <a:extLst>
              <a:ext uri="{FF2B5EF4-FFF2-40B4-BE49-F238E27FC236}">
                <a16:creationId xmlns:a16="http://schemas.microsoft.com/office/drawing/2014/main" id="{A05A882A-DD5C-C781-226C-6BAD24080D41}"/>
              </a:ext>
            </a:extLst>
          </p:cNvPr>
          <p:cNvSpPr txBox="1"/>
          <p:nvPr/>
        </p:nvSpPr>
        <p:spPr>
          <a:xfrm>
            <a:off x="8107179" y="4169372"/>
            <a:ext cx="2383575" cy="492443"/>
          </a:xfrm>
          <a:prstGeom prst="rect">
            <a:avLst/>
          </a:prstGeom>
          <a:solidFill>
            <a:schemeClr val="accent4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/>
              <a:t>Luotettava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sz="1300" noProof="0" dirty="0"/>
              <a:t>Rehellinen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FA573651-9D05-8122-FBEC-F6BC1366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br>
              <a:rPr lang="fi-FI" noProof="0" dirty="0"/>
            </a:br>
            <a:r>
              <a:rPr lang="fi-FI" noProof="0" dirty="0"/>
              <a:t>Kun attribuutit ryhmitellään strategisten teemojen mukaan, mielikuvat ovat parantuneet joka ryhmän kohdalla. </a:t>
            </a:r>
            <a:r>
              <a:rPr lang="fi-FI" noProof="0" dirty="0" err="1"/>
              <a:t>Attendo</a:t>
            </a:r>
            <a:r>
              <a:rPr lang="fi-FI" noProof="0" dirty="0"/>
              <a:t> yhdistetään yhä vahvimmin </a:t>
            </a:r>
            <a:r>
              <a:rPr lang="fi-FI" i="1" noProof="0" dirty="0"/>
              <a:t>Katsomme eteenpäin</a:t>
            </a:r>
            <a:r>
              <a:rPr lang="fi-FI" noProof="0" dirty="0"/>
              <a:t>-teemaan</a:t>
            </a:r>
          </a:p>
        </p:txBody>
      </p:sp>
    </p:spTree>
    <p:extLst>
      <p:ext uri="{BB962C8B-B14F-4D97-AF65-F5344CB8AC3E}">
        <p14:creationId xmlns:p14="http://schemas.microsoft.com/office/powerpoint/2010/main" val="3605928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888A8-D65F-B08A-44D8-BA5FB378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C4C48-7AE6-25F3-3D2B-DC600B018C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37</a:t>
            </a:fld>
            <a:endParaRPr lang="fi-FI" noProof="0" dirty="0"/>
          </a:p>
        </p:txBody>
      </p:sp>
      <p:graphicFrame>
        <p:nvGraphicFramePr>
          <p:cNvPr id="20" name="Kaavio 19">
            <a:extLst>
              <a:ext uri="{FF2B5EF4-FFF2-40B4-BE49-F238E27FC236}">
                <a16:creationId xmlns:a16="http://schemas.microsoft.com/office/drawing/2014/main" id="{29630733-CC67-4624-0E86-D16746A6E7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8809905"/>
              </p:ext>
            </p:extLst>
          </p:nvPr>
        </p:nvGraphicFramePr>
        <p:xfrm>
          <a:off x="449322" y="2494434"/>
          <a:ext cx="3579910" cy="39833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2">
            <a:extLst>
              <a:ext uri="{FF2B5EF4-FFF2-40B4-BE49-F238E27FC236}">
                <a16:creationId xmlns:a16="http://schemas.microsoft.com/office/drawing/2014/main" id="{4F80AF08-AFDE-C04D-1133-0D3941541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noProof="0" dirty="0"/>
              <a:t>Kokemusta omaavat, kokemattomat ja ammattilaiset yhdistävät </a:t>
            </a:r>
            <a:r>
              <a:rPr lang="fi-FI" noProof="0" dirty="0" err="1"/>
              <a:t>Attendon</a:t>
            </a:r>
            <a:r>
              <a:rPr lang="fi-FI" dirty="0"/>
              <a:t> yhä </a:t>
            </a:r>
            <a:r>
              <a:rPr lang="fi-FI" noProof="0" dirty="0"/>
              <a:t>vahvimmin </a:t>
            </a:r>
            <a:r>
              <a:rPr lang="fi-FI" i="1" noProof="0" dirty="0"/>
              <a:t>Katsomme eteenpäin </a:t>
            </a:r>
            <a:r>
              <a:rPr lang="fi-FI" noProof="0" dirty="0"/>
              <a:t>-teemaan, kun taas suosittelijat liittävät sen </a:t>
            </a:r>
            <a:r>
              <a:rPr lang="fi-FI" i="1" noProof="0" dirty="0"/>
              <a:t>Vahvistamme ihmisiä </a:t>
            </a:r>
            <a:r>
              <a:rPr lang="fi-FI" noProof="0" dirty="0"/>
              <a:t>-teemaan</a:t>
            </a:r>
          </a:p>
        </p:txBody>
      </p:sp>
      <p:graphicFrame>
        <p:nvGraphicFramePr>
          <p:cNvPr id="3" name="Kaavio 19">
            <a:extLst>
              <a:ext uri="{FF2B5EF4-FFF2-40B4-BE49-F238E27FC236}">
                <a16:creationId xmlns:a16="http://schemas.microsoft.com/office/drawing/2014/main" id="{52DFD9FD-7DC6-5A7C-B6AE-E92156A8D1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4333072"/>
              </p:ext>
            </p:extLst>
          </p:nvPr>
        </p:nvGraphicFramePr>
        <p:xfrm>
          <a:off x="4183577" y="2501158"/>
          <a:ext cx="3723350" cy="3988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DC65CAC-D092-3AB5-3EE4-1BA05988E34D}"/>
              </a:ext>
            </a:extLst>
          </p:cNvPr>
          <p:cNvSpPr txBox="1">
            <a:spLocks/>
          </p:cNvSpPr>
          <p:nvPr/>
        </p:nvSpPr>
        <p:spPr>
          <a:xfrm>
            <a:off x="1609219" y="2243140"/>
            <a:ext cx="1740921" cy="288764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noProof="0" dirty="0"/>
              <a:t>Marraskuu 2024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0910F0-046D-06BE-0807-AB7816B3AD9D}"/>
              </a:ext>
            </a:extLst>
          </p:cNvPr>
          <p:cNvSpPr txBox="1">
            <a:spLocks/>
          </p:cNvSpPr>
          <p:nvPr/>
        </p:nvSpPr>
        <p:spPr>
          <a:xfrm>
            <a:off x="5189846" y="2246009"/>
            <a:ext cx="1740921" cy="288764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noProof="0" dirty="0"/>
              <a:t>Toukokuu 2025</a:t>
            </a:r>
          </a:p>
        </p:txBody>
      </p:sp>
      <p:graphicFrame>
        <p:nvGraphicFramePr>
          <p:cNvPr id="2" name="Kaavio 19">
            <a:extLst>
              <a:ext uri="{FF2B5EF4-FFF2-40B4-BE49-F238E27FC236}">
                <a16:creationId xmlns:a16="http://schemas.microsoft.com/office/drawing/2014/main" id="{E8B71BC0-17BF-348E-DEF2-56FC344818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9069384"/>
              </p:ext>
            </p:extLst>
          </p:nvPr>
        </p:nvGraphicFramePr>
        <p:xfrm>
          <a:off x="7940546" y="2534773"/>
          <a:ext cx="3723350" cy="3988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EDFDE3C-99E6-D31E-0D4C-35DB66A1986C}"/>
              </a:ext>
            </a:extLst>
          </p:cNvPr>
          <p:cNvSpPr txBox="1">
            <a:spLocks/>
          </p:cNvSpPr>
          <p:nvPr/>
        </p:nvSpPr>
        <p:spPr>
          <a:xfrm>
            <a:off x="9040644" y="2243140"/>
            <a:ext cx="1740921" cy="288764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dirty="0"/>
              <a:t>Marraskuu </a:t>
            </a:r>
            <a:r>
              <a:rPr lang="fi-FI" sz="1600" b="1" noProof="0" dirty="0"/>
              <a:t>2025</a:t>
            </a:r>
          </a:p>
        </p:txBody>
      </p:sp>
      <p:sp>
        <p:nvSpPr>
          <p:cNvPr id="10" name="Tekstiruutu 4">
            <a:extLst>
              <a:ext uri="{FF2B5EF4-FFF2-40B4-BE49-F238E27FC236}">
                <a16:creationId xmlns:a16="http://schemas.microsoft.com/office/drawing/2014/main" id="{BC29BBFB-D509-78DC-CF7A-28D72E5ABC31}"/>
              </a:ext>
            </a:extLst>
          </p:cNvPr>
          <p:cNvSpPr txBox="1"/>
          <p:nvPr/>
        </p:nvSpPr>
        <p:spPr>
          <a:xfrm>
            <a:off x="506113" y="1590853"/>
            <a:ext cx="1077515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100" b="1" noProof="0" dirty="0" err="1"/>
              <a:t>Attendo</a:t>
            </a:r>
            <a:r>
              <a:rPr lang="fi-FI" sz="1100" b="1" noProof="0" dirty="0"/>
              <a:t>:</a:t>
            </a:r>
            <a:r>
              <a:rPr lang="fi-FI" sz="11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</a:t>
            </a:r>
          </a:p>
          <a:p>
            <a:r>
              <a:rPr lang="fi-FI" sz="1100" b="1" i="1" noProof="0" dirty="0"/>
              <a:t>Keskiarvot, joissa ’en osaa sanoa’ –vastauksia ei ole otettu huomioon</a:t>
            </a:r>
          </a:p>
        </p:txBody>
      </p:sp>
    </p:spTree>
    <p:extLst>
      <p:ext uri="{BB962C8B-B14F-4D97-AF65-F5344CB8AC3E}">
        <p14:creationId xmlns:p14="http://schemas.microsoft.com/office/powerpoint/2010/main" val="41496918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18F88-DB88-1455-CF2F-C43BA321D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A5100-8097-07EA-CDBA-0401A7AF43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38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9D9E1C-6DF5-E490-8B58-087A584CD2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24790"/>
            <a:ext cx="9301162" cy="323689"/>
          </a:xfrm>
        </p:spPr>
        <p:txBody>
          <a:bodyPr/>
          <a:lstStyle/>
          <a:p>
            <a:r>
              <a:rPr lang="fi-FI" sz="1200" b="1" noProof="0" dirty="0" err="1"/>
              <a:t>Esperi</a:t>
            </a:r>
            <a:r>
              <a:rPr lang="fi-FI" sz="1200" b="1" noProof="0" dirty="0"/>
              <a:t>:</a:t>
            </a:r>
            <a:r>
              <a:rPr lang="fi-FI" sz="12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 (n=751)</a:t>
            </a:r>
          </a:p>
          <a:p>
            <a:endParaRPr lang="fi-FI" sz="1200" dirty="0"/>
          </a:p>
          <a:p>
            <a:r>
              <a:rPr lang="fi-FI" sz="1200" b="1" noProof="0" dirty="0"/>
              <a:t>Kaikki, jotka vastasivat 4 tai 5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FE6582B6-E146-016E-2CB9-E66553AE8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2" y="655984"/>
            <a:ext cx="10948712" cy="868589"/>
          </a:xfrm>
        </p:spPr>
        <p:txBody>
          <a:bodyPr/>
          <a:lstStyle/>
          <a:p>
            <a:r>
              <a:rPr lang="fi-FI" noProof="0" dirty="0" err="1"/>
              <a:t>Esperiin</a:t>
            </a:r>
            <a:r>
              <a:rPr lang="fi-FI" noProof="0" dirty="0"/>
              <a:t> yhdistetään eri ominaisuuksia hieman harvemmin kuin </a:t>
            </a:r>
            <a:r>
              <a:rPr lang="fi-FI" noProof="0" dirty="0" err="1"/>
              <a:t>Attendoon</a:t>
            </a:r>
            <a:r>
              <a:rPr lang="fi-FI" noProof="0" dirty="0"/>
              <a:t>. </a:t>
            </a:r>
            <a:r>
              <a:rPr lang="fi-FI" noProof="0" dirty="0" err="1"/>
              <a:t>Esperin</a:t>
            </a:r>
            <a:r>
              <a:rPr lang="fi-FI" noProof="0" dirty="0"/>
              <a:t> kohdalla ei ole havaittavissa suuria muutoksia viime mittauskerrasta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4D98AF33-A8B9-BD8D-D2DC-E1CED75A66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5263199"/>
              </p:ext>
            </p:extLst>
          </p:nvPr>
        </p:nvGraphicFramePr>
        <p:xfrm>
          <a:off x="490818" y="2487706"/>
          <a:ext cx="11349317" cy="391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553804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C518-BE22-812C-40FE-CAB139E3D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DC50-E583-8C37-3BDD-3AAD4E251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39</a:t>
            </a:fld>
            <a:endParaRPr lang="fi-FI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1F9FAB8-61B8-CED2-78FD-07F7F84C9F6E}"/>
              </a:ext>
            </a:extLst>
          </p:cNvPr>
          <p:cNvSpPr txBox="1">
            <a:spLocks/>
          </p:cNvSpPr>
          <p:nvPr/>
        </p:nvSpPr>
        <p:spPr>
          <a:xfrm>
            <a:off x="620487" y="1727416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b="1" noProof="0" dirty="0" err="1"/>
              <a:t>Esperi</a:t>
            </a:r>
            <a:r>
              <a:rPr lang="fi-FI" sz="1200" b="1" noProof="0" dirty="0"/>
              <a:t>: </a:t>
            </a:r>
            <a:r>
              <a:rPr lang="fi-FI" sz="1200" noProof="0" dirty="0"/>
              <a:t>Arvioi nyt tarkemmin mielikuvaasi kustakin yksityisestä palveluntarjoajasta, jonka kerroit tuntevasi vähintään nimeltä. Kuinka hyvin seuraavat ominaisuudet vastaavat mielikuvaasi? Vastaa asteikolla 1-5, jossa 1 = Ei vastaa lainkaan ja 5 = Vastaa erittäin hyvin 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496BB34B-F8C7-1478-B7C9-2077377A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0873555" cy="868589"/>
          </a:xfrm>
        </p:spPr>
        <p:txBody>
          <a:bodyPr/>
          <a:lstStyle/>
          <a:p>
            <a:r>
              <a:rPr lang="fi-FI" noProof="0" dirty="0"/>
              <a:t>Kohderyhmät yhdistävät erilaisia attribuutteja </a:t>
            </a:r>
            <a:r>
              <a:rPr lang="fi-FI" noProof="0" dirty="0" err="1"/>
              <a:t>Esperiin</a:t>
            </a:r>
            <a:r>
              <a:rPr lang="fi-FI" dirty="0"/>
              <a:t> suunnilleen yhtä usein kuin toukokuussa. Kokemattomien kohdalla on havaittavissa pientä nousua viime mittauskerrasta</a:t>
            </a:r>
            <a:endParaRPr lang="fi-FI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CD62B-D4CD-1217-7163-C54A4EB71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3515443"/>
              </p:ext>
            </p:extLst>
          </p:nvPr>
        </p:nvGraphicFramePr>
        <p:xfrm>
          <a:off x="632413" y="2211307"/>
          <a:ext cx="9651456" cy="3965651"/>
        </p:xfrm>
        <a:graphic>
          <a:graphicData uri="http://schemas.openxmlformats.org/drawingml/2006/table">
            <a:tbl>
              <a:tblPr/>
              <a:tblGrid>
                <a:gridCol w="2284602">
                  <a:extLst>
                    <a:ext uri="{9D8B030D-6E8A-4147-A177-3AD203B41FA5}">
                      <a16:colId xmlns:a16="http://schemas.microsoft.com/office/drawing/2014/main" val="1154787102"/>
                    </a:ext>
                  </a:extLst>
                </a:gridCol>
                <a:gridCol w="1304256">
                  <a:extLst>
                    <a:ext uri="{9D8B030D-6E8A-4147-A177-3AD203B41FA5}">
                      <a16:colId xmlns:a16="http://schemas.microsoft.com/office/drawing/2014/main" val="2496445695"/>
                    </a:ext>
                  </a:extLst>
                </a:gridCol>
                <a:gridCol w="1010433">
                  <a:extLst>
                    <a:ext uri="{9D8B030D-6E8A-4147-A177-3AD203B41FA5}">
                      <a16:colId xmlns:a16="http://schemas.microsoft.com/office/drawing/2014/main" val="3383415936"/>
                    </a:ext>
                  </a:extLst>
                </a:gridCol>
                <a:gridCol w="1010433">
                  <a:extLst>
                    <a:ext uri="{9D8B030D-6E8A-4147-A177-3AD203B41FA5}">
                      <a16:colId xmlns:a16="http://schemas.microsoft.com/office/drawing/2014/main" val="3266554839"/>
                    </a:ext>
                  </a:extLst>
                </a:gridCol>
                <a:gridCol w="1010433">
                  <a:extLst>
                    <a:ext uri="{9D8B030D-6E8A-4147-A177-3AD203B41FA5}">
                      <a16:colId xmlns:a16="http://schemas.microsoft.com/office/drawing/2014/main" val="2093704755"/>
                    </a:ext>
                  </a:extLst>
                </a:gridCol>
                <a:gridCol w="1010433">
                  <a:extLst>
                    <a:ext uri="{9D8B030D-6E8A-4147-A177-3AD203B41FA5}">
                      <a16:colId xmlns:a16="http://schemas.microsoft.com/office/drawing/2014/main" val="1507855237"/>
                    </a:ext>
                  </a:extLst>
                </a:gridCol>
                <a:gridCol w="1010433">
                  <a:extLst>
                    <a:ext uri="{9D8B030D-6E8A-4147-A177-3AD203B41FA5}">
                      <a16:colId xmlns:a16="http://schemas.microsoft.com/office/drawing/2014/main" val="547958436"/>
                    </a:ext>
                  </a:extLst>
                </a:gridCol>
                <a:gridCol w="1010433">
                  <a:extLst>
                    <a:ext uri="{9D8B030D-6E8A-4147-A177-3AD203B41FA5}">
                      <a16:colId xmlns:a16="http://schemas.microsoft.com/office/drawing/2014/main" val="1693524159"/>
                    </a:ext>
                  </a:extLst>
                </a:gridCol>
              </a:tblGrid>
              <a:tr h="50065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Kaikki vastaajat, n=751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Kokemusta omaavat,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n=482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 kokemusta,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n=149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Ammattilaiset,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n=187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484644"/>
                  </a:ext>
                </a:extLst>
              </a:tr>
              <a:tr h="277439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Ahne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66221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Ammattitaitoinen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C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545244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Mahdollistaa hyvän arjen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D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B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616377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laadukkaita hoivapalveluita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6A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921386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Kohtelee ihmisiä arvostavasti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0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B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175037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Välittävä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F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C6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391797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Kodikas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003095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Välinpitämätön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E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799437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Inhimillinen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0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486616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Luotettava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0B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7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230247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Kehittää toimintatapojaan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C9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620860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Rehellinen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A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D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659267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monipuolista ruokaa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6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720849"/>
                  </a:ext>
                </a:extLst>
              </a:tr>
              <a:tr h="24519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Edelläkävijä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B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D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C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243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4170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2CB12-A7D8-8857-C018-F2A34CB43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2C5DA-C442-FEF4-7B69-C992E3324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40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FB0C4A-9543-1044-7428-121827F62E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24790"/>
            <a:ext cx="9301162" cy="323689"/>
          </a:xfrm>
        </p:spPr>
        <p:txBody>
          <a:bodyPr/>
          <a:lstStyle/>
          <a:p>
            <a:r>
              <a:rPr lang="fi-FI" sz="1200" b="1" noProof="0" dirty="0"/>
              <a:t>Mainio-kodit:</a:t>
            </a:r>
            <a:r>
              <a:rPr lang="fi-FI" sz="12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 (n=219)</a:t>
            </a:r>
          </a:p>
          <a:p>
            <a:endParaRPr lang="fi-FI" sz="1200" dirty="0"/>
          </a:p>
          <a:p>
            <a:r>
              <a:rPr lang="fi-FI" sz="1200" b="1" noProof="0" dirty="0"/>
              <a:t>Kaikki, jotka vastasivat 4 tai 5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EEDE6C9-A9ED-A167-F18F-6B2A61D29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2" y="655984"/>
            <a:ext cx="10873556" cy="868589"/>
          </a:xfrm>
        </p:spPr>
        <p:txBody>
          <a:bodyPr/>
          <a:lstStyle/>
          <a:p>
            <a:r>
              <a:rPr lang="fi-FI" dirty="0"/>
              <a:t>Mainio-koteihin liitetään positiivisia attribuutteja hieman aiempaa harvemmin. Suurin muutos nähdään </a:t>
            </a:r>
            <a:r>
              <a:rPr lang="fi-FI" i="1" dirty="0"/>
              <a:t>ammattitaitoisuuden</a:t>
            </a:r>
            <a:r>
              <a:rPr lang="fi-FI" dirty="0"/>
              <a:t> kohdalla</a:t>
            </a:r>
            <a:endParaRPr lang="fi-FI" noProof="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EFCD5CE6-10C3-5378-7E04-B29B9E55B3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8625763"/>
              </p:ext>
            </p:extLst>
          </p:nvPr>
        </p:nvGraphicFramePr>
        <p:xfrm>
          <a:off x="490818" y="2487706"/>
          <a:ext cx="11349317" cy="391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416440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B51C3-5B92-D676-BBF1-6498F98D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54A84-E1A8-1079-6788-0A9B9108F0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41</a:t>
            </a:fld>
            <a:endParaRPr lang="fi-FI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A63BF72-72F6-9614-1780-8119EFC9C383}"/>
              </a:ext>
            </a:extLst>
          </p:cNvPr>
          <p:cNvSpPr txBox="1">
            <a:spLocks/>
          </p:cNvSpPr>
          <p:nvPr/>
        </p:nvSpPr>
        <p:spPr>
          <a:xfrm>
            <a:off x="620487" y="1716464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b="1" noProof="0" dirty="0"/>
              <a:t>Mainio-kodit: </a:t>
            </a:r>
            <a:r>
              <a:rPr lang="fi-FI" sz="1200" noProof="0" dirty="0"/>
              <a:t>Arvioi nyt tarkemmin mielikuvaasi kustakin yksityisestä palveluntarjoajasta, jonka kerroit tuntevasi vähintään nimeltä. Kuinka hyvin seuraavat ominaisuudet vastaavat mielikuvaasi? Vastaa asteikolla 1-5, jossa 1 = Ei vastaa lainkaan ja 5 = Vastaa erittäin hyvin </a:t>
            </a:r>
          </a:p>
        </p:txBody>
      </p:sp>
      <p:sp>
        <p:nvSpPr>
          <p:cNvPr id="17" name="Tekstiruutu 16">
            <a:extLst>
              <a:ext uri="{FF2B5EF4-FFF2-40B4-BE49-F238E27FC236}">
                <a16:creationId xmlns:a16="http://schemas.microsoft.com/office/drawing/2014/main" id="{609704F5-5D47-DEF8-D18E-0D07B3B772E5}"/>
              </a:ext>
            </a:extLst>
          </p:cNvPr>
          <p:cNvSpPr txBox="1"/>
          <p:nvPr/>
        </p:nvSpPr>
        <p:spPr>
          <a:xfrm>
            <a:off x="8716569" y="5517187"/>
            <a:ext cx="16038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fi-FI" sz="1050" i="1" noProof="0" dirty="0">
                <a:solidFill>
                  <a:srgbClr val="000000"/>
                </a:solidFill>
                <a:latin typeface="Aptos Narrow" panose="020B0004020202020204" pitchFamily="34" charset="0"/>
              </a:rPr>
              <a:t>Ei kokemusta–ryhmä jätetty vertailun ulkopuolelle liian pienen n-luvun takia.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5EAF5626-EDBE-EBA3-9F0C-822DDC2AF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2" y="655984"/>
            <a:ext cx="10698192" cy="868589"/>
          </a:xfrm>
        </p:spPr>
        <p:txBody>
          <a:bodyPr/>
          <a:lstStyle/>
          <a:p>
            <a:r>
              <a:rPr lang="fi-FI" dirty="0"/>
              <a:t>Ammattilaisten keskuudessa on havaittavissa laskua viime mittauskerrasta. </a:t>
            </a:r>
            <a:r>
              <a:rPr lang="fi-FI" dirty="0" err="1"/>
              <a:t>Ko</a:t>
            </a:r>
            <a:r>
              <a:rPr lang="fi-FI" noProof="0" dirty="0"/>
              <a:t>kemusta omaavat ovat ammattilaisia positiivisempia Mainio-kotien suhteen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654B40-3753-3E2E-60D9-DC531569B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399205"/>
              </p:ext>
            </p:extLst>
          </p:nvPr>
        </p:nvGraphicFramePr>
        <p:xfrm>
          <a:off x="620485" y="2165958"/>
          <a:ext cx="8096082" cy="4036054"/>
        </p:xfrm>
        <a:graphic>
          <a:graphicData uri="http://schemas.openxmlformats.org/drawingml/2006/table">
            <a:tbl>
              <a:tblPr/>
              <a:tblGrid>
                <a:gridCol w="2385762">
                  <a:extLst>
                    <a:ext uri="{9D8B030D-6E8A-4147-A177-3AD203B41FA5}">
                      <a16:colId xmlns:a16="http://schemas.microsoft.com/office/drawing/2014/main" val="3639345551"/>
                    </a:ext>
                  </a:extLst>
                </a:gridCol>
                <a:gridCol w="1142064">
                  <a:extLst>
                    <a:ext uri="{9D8B030D-6E8A-4147-A177-3AD203B41FA5}">
                      <a16:colId xmlns:a16="http://schemas.microsoft.com/office/drawing/2014/main" val="1346520293"/>
                    </a:ext>
                  </a:extLst>
                </a:gridCol>
                <a:gridCol w="1142064">
                  <a:extLst>
                    <a:ext uri="{9D8B030D-6E8A-4147-A177-3AD203B41FA5}">
                      <a16:colId xmlns:a16="http://schemas.microsoft.com/office/drawing/2014/main" val="1163312823"/>
                    </a:ext>
                  </a:extLst>
                </a:gridCol>
                <a:gridCol w="1142064">
                  <a:extLst>
                    <a:ext uri="{9D8B030D-6E8A-4147-A177-3AD203B41FA5}">
                      <a16:colId xmlns:a16="http://schemas.microsoft.com/office/drawing/2014/main" val="3584443875"/>
                    </a:ext>
                  </a:extLst>
                </a:gridCol>
                <a:gridCol w="1142064">
                  <a:extLst>
                    <a:ext uri="{9D8B030D-6E8A-4147-A177-3AD203B41FA5}">
                      <a16:colId xmlns:a16="http://schemas.microsoft.com/office/drawing/2014/main" val="2852577144"/>
                    </a:ext>
                  </a:extLst>
                </a:gridCol>
                <a:gridCol w="1142064">
                  <a:extLst>
                    <a:ext uri="{9D8B030D-6E8A-4147-A177-3AD203B41FA5}">
                      <a16:colId xmlns:a16="http://schemas.microsoft.com/office/drawing/2014/main" val="4077677727"/>
                    </a:ext>
                  </a:extLst>
                </a:gridCol>
              </a:tblGrid>
              <a:tr h="3801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Kaikki vastaajat,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n=219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Kokemusta omaavat,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n=141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Ammattilaiset,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n=88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742374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Mahdollistaa hyvän arjen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007624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Välittävä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8F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8447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Kohtelee ihmisiä arvostavasti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A8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802374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Inhimillinen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99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84680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Ammattitaitoinen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D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7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509945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Kodikas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D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7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406149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Luotettava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7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0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63027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Rehellinen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B7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4C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497703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laadukkaita hoivapalveluita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BC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2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8661761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Kehittää toimintatapojaan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5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7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065955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monipuolista ruokaa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CB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B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062569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Ahne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850820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Edelläkävijä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D9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622698"/>
                  </a:ext>
                </a:extLst>
              </a:tr>
              <a:tr h="26113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Välinpitämätön</a:t>
                      </a: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F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674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3058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D8DE-DC09-4491-DC16-968F45E42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F68CA-106D-219F-9096-DCABF60AC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42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C6BC4-03BD-448F-3622-BB8BFAA8D3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24790"/>
            <a:ext cx="9301162" cy="323689"/>
          </a:xfrm>
        </p:spPr>
        <p:txBody>
          <a:bodyPr/>
          <a:lstStyle/>
          <a:p>
            <a:r>
              <a:rPr lang="fi-FI" sz="1200" b="1" noProof="0" dirty="0"/>
              <a:t>Humana:</a:t>
            </a:r>
            <a:r>
              <a:rPr lang="fi-FI" sz="12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 (n=130)</a:t>
            </a:r>
          </a:p>
          <a:p>
            <a:endParaRPr lang="fi-FI" sz="1200" dirty="0"/>
          </a:p>
          <a:p>
            <a:r>
              <a:rPr lang="fi-FI" sz="1200" b="1" noProof="0" dirty="0"/>
              <a:t>Kaikki, jotka vastasivat 4 tai 5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2A0B6094-DFF5-3E94-DA74-D7E359F1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349317" cy="868589"/>
          </a:xfrm>
        </p:spPr>
        <p:txBody>
          <a:bodyPr/>
          <a:lstStyle/>
          <a:p>
            <a:r>
              <a:rPr lang="fi-FI" dirty="0"/>
              <a:t>Humanaan liitetyt mielikuvat ovat pääosin hyvin samankaltaisia kuin toukokuussa. Se nähdään kuitenkin </a:t>
            </a:r>
            <a:r>
              <a:rPr lang="fi-FI" i="1" dirty="0"/>
              <a:t>luotettavampana </a:t>
            </a:r>
            <a:r>
              <a:rPr lang="fi-FI" dirty="0"/>
              <a:t>ja vähemmän</a:t>
            </a:r>
            <a:r>
              <a:rPr lang="fi-FI" i="1" dirty="0"/>
              <a:t> välinpitämättömänä </a:t>
            </a:r>
            <a:r>
              <a:rPr lang="fi-FI" dirty="0"/>
              <a:t>kuin aiemmin</a:t>
            </a:r>
            <a:endParaRPr lang="fi-FI" noProof="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7F0A1BF-697D-C67D-2464-164A8559D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6839548"/>
              </p:ext>
            </p:extLst>
          </p:nvPr>
        </p:nvGraphicFramePr>
        <p:xfrm>
          <a:off x="490818" y="2487706"/>
          <a:ext cx="11349317" cy="391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20278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D3283-F5AA-FD2A-06BB-24D9177E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5D642-BEB4-96B7-9883-226EE1F09E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43</a:t>
            </a:fld>
            <a:endParaRPr lang="fi-FI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04A0E36-4308-B953-A2AA-D17A866AE718}"/>
              </a:ext>
            </a:extLst>
          </p:cNvPr>
          <p:cNvSpPr txBox="1">
            <a:spLocks/>
          </p:cNvSpPr>
          <p:nvPr/>
        </p:nvSpPr>
        <p:spPr>
          <a:xfrm>
            <a:off x="620486" y="1713811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b="1" noProof="0" dirty="0"/>
              <a:t>Humana: </a:t>
            </a:r>
            <a:r>
              <a:rPr lang="fi-FI" sz="1200" noProof="0" dirty="0"/>
              <a:t>Arvioi nyt tarkemmin mielikuvaasi kustakin yksityisestä palveluntarjoajasta, jonka kerroit tuntevasi vähintään nimeltä. Kuinka hyvin seuraavat ominaisuudet vastaavat mielikuvaasi? Vastaa asteikolla 1-5, jossa 1 = Ei vastaa lainkaan ja 5 = Vastaa erittäin hyvin 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F400FEE8-E919-36BF-5497-AFF4E20B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noProof="0" dirty="0"/>
              <a:t>Kokemusta omaavat liittävät Humanaan erilaisia attribuutteja yhä ammattilaisia yleisemmin, ja ammattilaisten kohdalla on havaittavissa pientä laskua toukokuusta</a:t>
            </a:r>
          </a:p>
        </p:txBody>
      </p:sp>
      <p:sp>
        <p:nvSpPr>
          <p:cNvPr id="5" name="Tekstiruutu 16">
            <a:extLst>
              <a:ext uri="{FF2B5EF4-FFF2-40B4-BE49-F238E27FC236}">
                <a16:creationId xmlns:a16="http://schemas.microsoft.com/office/drawing/2014/main" id="{7233EB4D-EC87-A7CB-BF0B-06259F4A7999}"/>
              </a:ext>
            </a:extLst>
          </p:cNvPr>
          <p:cNvSpPr txBox="1"/>
          <p:nvPr/>
        </p:nvSpPr>
        <p:spPr>
          <a:xfrm>
            <a:off x="8716569" y="5517187"/>
            <a:ext cx="16038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fi-FI" sz="1050" i="1" noProof="0" dirty="0">
                <a:solidFill>
                  <a:srgbClr val="000000"/>
                </a:solidFill>
                <a:latin typeface="Aptos Narrow" panose="020B0004020202020204" pitchFamily="34" charset="0"/>
              </a:rPr>
              <a:t>Ei kokemusta–ryhmä jätetty vertailun ulkopuolelle liian pienen n-luvun takia.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FF08F0-A5BA-9326-DD82-898DB2C82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692699"/>
              </p:ext>
            </p:extLst>
          </p:nvPr>
        </p:nvGraphicFramePr>
        <p:xfrm>
          <a:off x="620485" y="2164108"/>
          <a:ext cx="7972369" cy="4037915"/>
        </p:xfrm>
        <a:graphic>
          <a:graphicData uri="http://schemas.openxmlformats.org/drawingml/2006/table">
            <a:tbl>
              <a:tblPr/>
              <a:tblGrid>
                <a:gridCol w="2481184">
                  <a:extLst>
                    <a:ext uri="{9D8B030D-6E8A-4147-A177-3AD203B41FA5}">
                      <a16:colId xmlns:a16="http://schemas.microsoft.com/office/drawing/2014/main" val="2474967815"/>
                    </a:ext>
                  </a:extLst>
                </a:gridCol>
                <a:gridCol w="1098237">
                  <a:extLst>
                    <a:ext uri="{9D8B030D-6E8A-4147-A177-3AD203B41FA5}">
                      <a16:colId xmlns:a16="http://schemas.microsoft.com/office/drawing/2014/main" val="550057875"/>
                    </a:ext>
                  </a:extLst>
                </a:gridCol>
                <a:gridCol w="1098237">
                  <a:extLst>
                    <a:ext uri="{9D8B030D-6E8A-4147-A177-3AD203B41FA5}">
                      <a16:colId xmlns:a16="http://schemas.microsoft.com/office/drawing/2014/main" val="1538519204"/>
                    </a:ext>
                  </a:extLst>
                </a:gridCol>
                <a:gridCol w="1098237">
                  <a:extLst>
                    <a:ext uri="{9D8B030D-6E8A-4147-A177-3AD203B41FA5}">
                      <a16:colId xmlns:a16="http://schemas.microsoft.com/office/drawing/2014/main" val="3868814787"/>
                    </a:ext>
                  </a:extLst>
                </a:gridCol>
                <a:gridCol w="1098237">
                  <a:extLst>
                    <a:ext uri="{9D8B030D-6E8A-4147-A177-3AD203B41FA5}">
                      <a16:colId xmlns:a16="http://schemas.microsoft.com/office/drawing/2014/main" val="3902125439"/>
                    </a:ext>
                  </a:extLst>
                </a:gridCol>
                <a:gridCol w="1098237">
                  <a:extLst>
                    <a:ext uri="{9D8B030D-6E8A-4147-A177-3AD203B41FA5}">
                      <a16:colId xmlns:a16="http://schemas.microsoft.com/office/drawing/2014/main" val="3326007629"/>
                    </a:ext>
                  </a:extLst>
                </a:gridCol>
              </a:tblGrid>
              <a:tr h="3747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Kaikki vastaajat, n=130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Kokemusta omaavat,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n=103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Ammattilaiset,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n=44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3170393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Ammattitaitoinen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202539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Luotettava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94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767214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Välittävä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9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047205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Kodikas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844996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Kohtelee ihmisiä arvostavasti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45446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Mahdollistaa hyvän arjen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076200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Inhimillinen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C5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336916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Kehittää toimintatapojaan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F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8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776970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laadukkaita hoivapalveluita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8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503268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Ahne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8B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439763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Rehellinen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8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80672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monipuolista ruokaa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89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928622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Edelläkävijä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8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82127"/>
                  </a:ext>
                </a:extLst>
              </a:tr>
              <a:tr h="26165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Välinpitämätön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0D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871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2132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98F8-CB78-E569-42B0-92890294E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C9414-DF78-FA1E-4738-FE6D5ABCBE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44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A0217B-78FC-4056-D815-79A74271CB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24790"/>
            <a:ext cx="9301162" cy="323689"/>
          </a:xfrm>
        </p:spPr>
        <p:txBody>
          <a:bodyPr/>
          <a:lstStyle/>
          <a:p>
            <a:r>
              <a:rPr lang="fi-FI" sz="1200" b="1" noProof="0" dirty="0"/>
              <a:t>Onnikodit:</a:t>
            </a:r>
            <a:r>
              <a:rPr lang="fi-FI" sz="12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 (n=</a:t>
            </a:r>
            <a:r>
              <a:rPr lang="fi-FI" sz="1200" dirty="0"/>
              <a:t>257</a:t>
            </a:r>
            <a:r>
              <a:rPr lang="fi-FI" sz="1200" noProof="0" dirty="0"/>
              <a:t>)</a:t>
            </a:r>
          </a:p>
          <a:p>
            <a:endParaRPr lang="fi-FI" sz="1200" dirty="0"/>
          </a:p>
          <a:p>
            <a:r>
              <a:rPr lang="fi-FI" sz="1200" b="1" noProof="0" dirty="0"/>
              <a:t>Kaikki, jotka vastasivat 4 tai 5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829C06AA-08D3-5D10-CAEE-12931D75A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2" y="655984"/>
            <a:ext cx="11124076" cy="868589"/>
          </a:xfrm>
        </p:spPr>
        <p:txBody>
          <a:bodyPr/>
          <a:lstStyle/>
          <a:p>
            <a:r>
              <a:rPr lang="fi-FI" dirty="0"/>
              <a:t>Onnikoteihin liitetään positiivisia attribuutteja selvästi useammin kuin toukokuussa. Isoimmat muutokset nähdään </a:t>
            </a:r>
            <a:r>
              <a:rPr lang="fi-FI" i="1" dirty="0"/>
              <a:t>monipuolisen ruoan</a:t>
            </a:r>
            <a:r>
              <a:rPr lang="fi-FI" dirty="0"/>
              <a:t>, koetun </a:t>
            </a:r>
            <a:r>
              <a:rPr lang="fi-FI" i="1" dirty="0"/>
              <a:t>ammattitaidon</a:t>
            </a:r>
            <a:r>
              <a:rPr lang="fi-FI" dirty="0"/>
              <a:t> ja </a:t>
            </a:r>
            <a:r>
              <a:rPr lang="fi-FI" i="1" dirty="0"/>
              <a:t>hyvän arjen mahdollistajana</a:t>
            </a:r>
            <a:endParaRPr lang="fi-FI" i="1" noProof="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0C4CA68-4DC7-71FC-98E0-8DFAE84897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3886146"/>
              </p:ext>
            </p:extLst>
          </p:nvPr>
        </p:nvGraphicFramePr>
        <p:xfrm>
          <a:off x="490818" y="2487706"/>
          <a:ext cx="11349317" cy="391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870294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CF93F-F8C0-1A5A-2AD0-D1B92779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824B4-EFDD-DA6E-2CB7-CB51CF4A1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45</a:t>
            </a:fld>
            <a:endParaRPr lang="fi-FI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0946E9C-23D1-26E4-63EF-4978680A4BA9}"/>
              </a:ext>
            </a:extLst>
          </p:cNvPr>
          <p:cNvSpPr txBox="1">
            <a:spLocks/>
          </p:cNvSpPr>
          <p:nvPr/>
        </p:nvSpPr>
        <p:spPr>
          <a:xfrm>
            <a:off x="620487" y="1721584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b="1" noProof="0" dirty="0"/>
              <a:t>Onnikodit: </a:t>
            </a:r>
            <a:r>
              <a:rPr lang="fi-FI" sz="1200" noProof="0" dirty="0"/>
              <a:t>Arvioi nyt tarkemmin mielikuvaasi kustakin yksityisestä palveluntarjoajasta, jonka kerroit tuntevasi vähintään nimeltä. Kuinka hyvin seuraavat ominaisuudet vastaavat mielikuvaasi? Vastaa asteikolla 1-5, jossa 1 = Ei vastaa lainkaan ja 5 = Vastaa erittäin hyvin 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F66010-83D2-8529-53B5-0E4AFBE31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noProof="0" dirty="0"/>
              <a:t>Kokemusta </a:t>
            </a:r>
            <a:r>
              <a:rPr lang="fi-FI" dirty="0"/>
              <a:t>omaavat liittävät Onnikoteihin positiivisia attribuutteja yhä selvästi ammattilaisia useammin. Mielikuvat </a:t>
            </a:r>
            <a:r>
              <a:rPr lang="fi-FI" i="1" dirty="0"/>
              <a:t>ammattitaitoisuudesta</a:t>
            </a:r>
            <a:r>
              <a:rPr lang="fi-FI" dirty="0"/>
              <a:t> ovat vahvistuneet molemmilla</a:t>
            </a:r>
            <a:endParaRPr lang="fi-FI" noProof="0" dirty="0"/>
          </a:p>
        </p:txBody>
      </p:sp>
      <p:sp>
        <p:nvSpPr>
          <p:cNvPr id="5" name="Tekstiruutu 16">
            <a:extLst>
              <a:ext uri="{FF2B5EF4-FFF2-40B4-BE49-F238E27FC236}">
                <a16:creationId xmlns:a16="http://schemas.microsoft.com/office/drawing/2014/main" id="{7A64981A-E96C-DFC5-1D78-FE0828004C0E}"/>
              </a:ext>
            </a:extLst>
          </p:cNvPr>
          <p:cNvSpPr txBox="1"/>
          <p:nvPr/>
        </p:nvSpPr>
        <p:spPr>
          <a:xfrm>
            <a:off x="8716569" y="5517187"/>
            <a:ext cx="16038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fi-FI" sz="1050" i="1" noProof="0" dirty="0">
                <a:solidFill>
                  <a:srgbClr val="000000"/>
                </a:solidFill>
                <a:latin typeface="Aptos Narrow" panose="020B0004020202020204" pitchFamily="34" charset="0"/>
              </a:rPr>
              <a:t>Ei kokemusta–ryhmä jätetty vertailun ulkopuolelle liian pienen n-luvun takia.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BB7839A-7E9F-77CB-DBAC-447735579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615358"/>
              </p:ext>
            </p:extLst>
          </p:nvPr>
        </p:nvGraphicFramePr>
        <p:xfrm>
          <a:off x="620487" y="2160346"/>
          <a:ext cx="8096080" cy="4041673"/>
        </p:xfrm>
        <a:graphic>
          <a:graphicData uri="http://schemas.openxmlformats.org/drawingml/2006/table">
            <a:tbl>
              <a:tblPr/>
              <a:tblGrid>
                <a:gridCol w="2273025">
                  <a:extLst>
                    <a:ext uri="{9D8B030D-6E8A-4147-A177-3AD203B41FA5}">
                      <a16:colId xmlns:a16="http://schemas.microsoft.com/office/drawing/2014/main" val="991182550"/>
                    </a:ext>
                  </a:extLst>
                </a:gridCol>
                <a:gridCol w="1164611">
                  <a:extLst>
                    <a:ext uri="{9D8B030D-6E8A-4147-A177-3AD203B41FA5}">
                      <a16:colId xmlns:a16="http://schemas.microsoft.com/office/drawing/2014/main" val="917920802"/>
                    </a:ext>
                  </a:extLst>
                </a:gridCol>
                <a:gridCol w="1164611">
                  <a:extLst>
                    <a:ext uri="{9D8B030D-6E8A-4147-A177-3AD203B41FA5}">
                      <a16:colId xmlns:a16="http://schemas.microsoft.com/office/drawing/2014/main" val="1299495002"/>
                    </a:ext>
                  </a:extLst>
                </a:gridCol>
                <a:gridCol w="1164611">
                  <a:extLst>
                    <a:ext uri="{9D8B030D-6E8A-4147-A177-3AD203B41FA5}">
                      <a16:colId xmlns:a16="http://schemas.microsoft.com/office/drawing/2014/main" val="838110009"/>
                    </a:ext>
                  </a:extLst>
                </a:gridCol>
                <a:gridCol w="1164611">
                  <a:extLst>
                    <a:ext uri="{9D8B030D-6E8A-4147-A177-3AD203B41FA5}">
                      <a16:colId xmlns:a16="http://schemas.microsoft.com/office/drawing/2014/main" val="2860810080"/>
                    </a:ext>
                  </a:extLst>
                </a:gridCol>
                <a:gridCol w="1164611">
                  <a:extLst>
                    <a:ext uri="{9D8B030D-6E8A-4147-A177-3AD203B41FA5}">
                      <a16:colId xmlns:a16="http://schemas.microsoft.com/office/drawing/2014/main" val="2213084785"/>
                    </a:ext>
                  </a:extLst>
                </a:gridCol>
              </a:tblGrid>
              <a:tr h="48567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Kaikki vastaajat,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n=257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Kokemusta omaavat,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n=188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Ammattilaiset,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n=79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576305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Ammattitaitoinen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0001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Mahdollistaa hyvän arjen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96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9998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Kohtelee ihmisiä arvostavasti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5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60395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Inhimillinen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A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2323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laadukkaita hoivapalveluita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A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44071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Kodikas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B1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09796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Rehellinen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C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1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08578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Välittävä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6752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Luotettava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1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5B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61686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monipuolista ruokaa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2607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Kehittää toimintatapojaan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7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13049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Edelläkävijä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99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5389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Ahne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A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B8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0256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Välinpitämätön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979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6398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59A4A-B73B-0C6B-CCEC-3F7FF8B6C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B4B42-3FEF-E33A-13B1-AF9FC23E4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46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027D5-CEF1-5B9D-45D1-EC85EDF8C3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24790"/>
            <a:ext cx="9301162" cy="323689"/>
          </a:xfrm>
        </p:spPr>
        <p:txBody>
          <a:bodyPr/>
          <a:lstStyle/>
          <a:p>
            <a:r>
              <a:rPr lang="fi-FI" sz="1200" b="1" noProof="0" dirty="0"/>
              <a:t>Ykköskodit:</a:t>
            </a:r>
            <a:r>
              <a:rPr lang="fi-FI" sz="12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 (n=</a:t>
            </a:r>
            <a:r>
              <a:rPr lang="fi-FI" sz="1200" dirty="0"/>
              <a:t>147</a:t>
            </a:r>
            <a:r>
              <a:rPr lang="fi-FI" sz="1200" noProof="0" dirty="0"/>
              <a:t>)</a:t>
            </a:r>
          </a:p>
          <a:p>
            <a:endParaRPr lang="fi-FI" sz="1200" dirty="0"/>
          </a:p>
          <a:p>
            <a:r>
              <a:rPr lang="fi-FI" sz="1200" b="1" noProof="0" dirty="0"/>
              <a:t>Kaikki, jotka vastasivat 4 tai 5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F4996790-F99E-7073-DA04-1EE574D08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0998815" cy="868589"/>
          </a:xfrm>
        </p:spPr>
        <p:txBody>
          <a:bodyPr/>
          <a:lstStyle/>
          <a:p>
            <a:r>
              <a:rPr lang="fi-FI" dirty="0"/>
              <a:t>Ykköskoteihin yhdistetään eri ominaisuuksiin lähes yhtä usein kuin toukokuussa. </a:t>
            </a:r>
            <a:r>
              <a:rPr lang="fi-FI" i="1" dirty="0"/>
              <a:t>Kodikkuuden</a:t>
            </a:r>
            <a:r>
              <a:rPr lang="fi-FI" dirty="0"/>
              <a:t> ja </a:t>
            </a:r>
            <a:r>
              <a:rPr lang="fi-FI" i="1" dirty="0"/>
              <a:t>toimintatapojen kehittämisen </a:t>
            </a:r>
            <a:r>
              <a:rPr lang="fi-FI" dirty="0"/>
              <a:t>kohdalla nähdään pientä nousua aiemmasta</a:t>
            </a:r>
            <a:endParaRPr lang="fi-FI" noProof="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58345DE9-43E6-60FB-930B-A033547B92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0072726"/>
              </p:ext>
            </p:extLst>
          </p:nvPr>
        </p:nvGraphicFramePr>
        <p:xfrm>
          <a:off x="490818" y="2487706"/>
          <a:ext cx="11349317" cy="391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420527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D4492-9020-DE0E-1ED9-FA2E4652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EE2EB-F7A3-97B4-027D-0CEB51B2B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47</a:t>
            </a:fld>
            <a:endParaRPr lang="fi-FI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8095ED5-A144-EB69-A1A5-D6B575E533FA}"/>
              </a:ext>
            </a:extLst>
          </p:cNvPr>
          <p:cNvSpPr txBox="1">
            <a:spLocks/>
          </p:cNvSpPr>
          <p:nvPr/>
        </p:nvSpPr>
        <p:spPr>
          <a:xfrm>
            <a:off x="620487" y="1721359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b="1" noProof="0" dirty="0"/>
              <a:t>Ykköskodit: </a:t>
            </a:r>
            <a:r>
              <a:rPr lang="fi-FI" sz="1200" noProof="0" dirty="0"/>
              <a:t>Arvioi nyt tarkemmin mielikuvaasi kustakin yksityisestä palveluntarjoajasta, jonka kerroit tuntevasi vähintään nimeltä. Kuinka hyvin seuraavat ominaisuudet vastaavat mielikuvaasi? Vastaa asteikolla 1-5, jossa 1 = Ei vastaa lainkaan ja 5 = Vastaa erittäin hyvin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762AC622-C6C7-F8AE-3970-215B506F0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noProof="0" dirty="0"/>
              <a:t>Erityisesti ammattilaisilla on Ykköskodeista hyvinkin positiivinen näkemys. </a:t>
            </a:r>
            <a:r>
              <a:rPr lang="fi-FI" dirty="0"/>
              <a:t>He yhdistävät erilaisia positiivisia ominaisuuksia Ykköskoteihin aiempaa useammin</a:t>
            </a:r>
            <a:endParaRPr lang="fi-FI" noProof="0" dirty="0"/>
          </a:p>
        </p:txBody>
      </p:sp>
      <p:sp>
        <p:nvSpPr>
          <p:cNvPr id="3" name="Tekstiruutu 16">
            <a:extLst>
              <a:ext uri="{FF2B5EF4-FFF2-40B4-BE49-F238E27FC236}">
                <a16:creationId xmlns:a16="http://schemas.microsoft.com/office/drawing/2014/main" id="{9B66A460-2AC1-61EA-DBA4-FCC3556AEF50}"/>
              </a:ext>
            </a:extLst>
          </p:cNvPr>
          <p:cNvSpPr txBox="1"/>
          <p:nvPr/>
        </p:nvSpPr>
        <p:spPr>
          <a:xfrm>
            <a:off x="8716569" y="5517187"/>
            <a:ext cx="16038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/>
            <a:r>
              <a:rPr lang="fi-FI" sz="1050" i="1" noProof="0" dirty="0">
                <a:solidFill>
                  <a:srgbClr val="000000"/>
                </a:solidFill>
                <a:latin typeface="Aptos Narrow" panose="020B0004020202020204" pitchFamily="34" charset="0"/>
              </a:rPr>
              <a:t>Ei kokemusta–ryhmä jätetty vertailun ulkopuolelle liian pienen n-luvun takia.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6EAAF4-BE78-EAF0-6F6D-06ABA8D26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476794"/>
              </p:ext>
            </p:extLst>
          </p:nvPr>
        </p:nvGraphicFramePr>
        <p:xfrm>
          <a:off x="620487" y="2204256"/>
          <a:ext cx="8096085" cy="4028132"/>
        </p:xfrm>
        <a:graphic>
          <a:graphicData uri="http://schemas.openxmlformats.org/drawingml/2006/table">
            <a:tbl>
              <a:tblPr/>
              <a:tblGrid>
                <a:gridCol w="2335655">
                  <a:extLst>
                    <a:ext uri="{9D8B030D-6E8A-4147-A177-3AD203B41FA5}">
                      <a16:colId xmlns:a16="http://schemas.microsoft.com/office/drawing/2014/main" val="1216147078"/>
                    </a:ext>
                  </a:extLst>
                </a:gridCol>
                <a:gridCol w="1152086">
                  <a:extLst>
                    <a:ext uri="{9D8B030D-6E8A-4147-A177-3AD203B41FA5}">
                      <a16:colId xmlns:a16="http://schemas.microsoft.com/office/drawing/2014/main" val="1864450626"/>
                    </a:ext>
                  </a:extLst>
                </a:gridCol>
                <a:gridCol w="1152086">
                  <a:extLst>
                    <a:ext uri="{9D8B030D-6E8A-4147-A177-3AD203B41FA5}">
                      <a16:colId xmlns:a16="http://schemas.microsoft.com/office/drawing/2014/main" val="3881217440"/>
                    </a:ext>
                  </a:extLst>
                </a:gridCol>
                <a:gridCol w="1152086">
                  <a:extLst>
                    <a:ext uri="{9D8B030D-6E8A-4147-A177-3AD203B41FA5}">
                      <a16:colId xmlns:a16="http://schemas.microsoft.com/office/drawing/2014/main" val="2130857270"/>
                    </a:ext>
                  </a:extLst>
                </a:gridCol>
                <a:gridCol w="1152086">
                  <a:extLst>
                    <a:ext uri="{9D8B030D-6E8A-4147-A177-3AD203B41FA5}">
                      <a16:colId xmlns:a16="http://schemas.microsoft.com/office/drawing/2014/main" val="241455868"/>
                    </a:ext>
                  </a:extLst>
                </a:gridCol>
                <a:gridCol w="1152086">
                  <a:extLst>
                    <a:ext uri="{9D8B030D-6E8A-4147-A177-3AD203B41FA5}">
                      <a16:colId xmlns:a16="http://schemas.microsoft.com/office/drawing/2014/main" val="120767768"/>
                    </a:ext>
                  </a:extLst>
                </a:gridCol>
              </a:tblGrid>
              <a:tr h="3321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Kaikki vastaajat, n=147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Kokemusta omaavat,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n=197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Ammattilaiset,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n=58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877949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Kodikas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0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725867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Inhimillinen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555814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Kohtelee ihmisiä arvostavasti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A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645507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Mahdollistaa hyvän arjen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833026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Ammattitaitoinen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970222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Luotettava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C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315174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laadukkaita hoivapalveluita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324578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Välittävä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2533681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Kehittää toimintatapojaan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6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C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040127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Rehellinen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E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787145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monipuolista ruokaa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C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94128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Edelläkävijä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FC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C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237043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Ahne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6A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410611"/>
                  </a:ext>
                </a:extLst>
              </a:tr>
              <a:tr h="26125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Välinpitämätön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37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661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12146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5AB7-0772-F902-E1E8-2DDE5782F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5FA99-8FBA-CEC7-DFA9-95D312F53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48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E0574-3F95-CCB4-465B-7A5C514B40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24790"/>
            <a:ext cx="9301162" cy="323689"/>
          </a:xfrm>
        </p:spPr>
        <p:txBody>
          <a:bodyPr/>
          <a:lstStyle/>
          <a:p>
            <a:r>
              <a:rPr lang="fi-FI" sz="1200" b="1" noProof="0" dirty="0"/>
              <a:t>Rinnekodit:</a:t>
            </a:r>
            <a:r>
              <a:rPr lang="fi-FI" sz="12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 (n=</a:t>
            </a:r>
            <a:r>
              <a:rPr lang="fi-FI" sz="1200" dirty="0"/>
              <a:t>425</a:t>
            </a:r>
            <a:r>
              <a:rPr lang="fi-FI" sz="1200" noProof="0" dirty="0"/>
              <a:t>)</a:t>
            </a:r>
          </a:p>
          <a:p>
            <a:endParaRPr lang="fi-FI" sz="1200" dirty="0"/>
          </a:p>
          <a:p>
            <a:r>
              <a:rPr lang="fi-FI" sz="1200" b="1" noProof="0" dirty="0"/>
              <a:t>Kaikki, jotka vastasivat 4 tai 5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801D15E-D2C3-1E1A-7D53-5D508518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2" y="655984"/>
            <a:ext cx="11349316" cy="868589"/>
          </a:xfrm>
        </p:spPr>
        <p:txBody>
          <a:bodyPr/>
          <a:lstStyle/>
          <a:p>
            <a:r>
              <a:rPr lang="fi-FI" dirty="0"/>
              <a:t>Rinnekodit yhdistetään eri ominaisuuksiin yhtä usein kuin aiemminkin. Se nähdään erityisesti </a:t>
            </a:r>
            <a:r>
              <a:rPr lang="fi-FI" i="1" dirty="0"/>
              <a:t>ammattitaitoisena</a:t>
            </a:r>
            <a:r>
              <a:rPr lang="fi-FI" dirty="0"/>
              <a:t> ja </a:t>
            </a:r>
            <a:r>
              <a:rPr lang="fi-FI" i="1" dirty="0"/>
              <a:t>ihmistä arvostavasti kohtelevana</a:t>
            </a:r>
            <a:endParaRPr lang="fi-FI" i="1" noProof="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4DA90031-3663-CE59-EB25-13D9226B53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7653756"/>
              </p:ext>
            </p:extLst>
          </p:nvPr>
        </p:nvGraphicFramePr>
        <p:xfrm>
          <a:off x="490818" y="2487706"/>
          <a:ext cx="11349317" cy="391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46944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5D31C-EC1C-B748-C016-4BEA54AB3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F926D-337B-9C53-37DD-1E70A4907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49</a:t>
            </a:fld>
            <a:endParaRPr lang="fi-FI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F265950-DA6E-90E4-75D8-EF3F20FC5279}"/>
              </a:ext>
            </a:extLst>
          </p:cNvPr>
          <p:cNvSpPr txBox="1">
            <a:spLocks/>
          </p:cNvSpPr>
          <p:nvPr/>
        </p:nvSpPr>
        <p:spPr>
          <a:xfrm>
            <a:off x="620487" y="1721359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b="1" dirty="0"/>
              <a:t>Rinnekodit</a:t>
            </a:r>
            <a:r>
              <a:rPr lang="fi-FI" sz="1200" b="1" noProof="0" dirty="0"/>
              <a:t>: </a:t>
            </a:r>
            <a:r>
              <a:rPr lang="fi-FI" sz="1200" noProof="0" dirty="0"/>
              <a:t>Arvioi nyt tarkemmin mielikuvaasi kustakin yksityisestä palveluntarjoajasta, jonka kerroit tuntevasi vähintään nimeltä. Kuinka hyvin seuraavat ominaisuudet vastaavat mielikuvaasi? Vastaa asteikolla 1-5, jossa 1 = Ei vastaa lainkaan ja 5 = Vastaa erittäin hyvin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DBE1EDA-F144-31E8-7FA2-59D2A058B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49337" cy="868589"/>
          </a:xfrm>
        </p:spPr>
        <p:txBody>
          <a:bodyPr/>
          <a:lstStyle/>
          <a:p>
            <a:r>
              <a:rPr lang="fi-FI" dirty="0"/>
              <a:t>Kokemattomien kohdalla on havaittavissa pieniä positiivisia muutoksia toukokuusta, kun taas ammattilaiset yhdistävät Rinnekoteihin positiivisia attribuutteja hieman harvemmin</a:t>
            </a:r>
            <a:endParaRPr lang="fi-FI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29EAB6-FE0F-6471-92A1-A67256CC8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805731"/>
              </p:ext>
            </p:extLst>
          </p:nvPr>
        </p:nvGraphicFramePr>
        <p:xfrm>
          <a:off x="620487" y="2241834"/>
          <a:ext cx="9876325" cy="3820772"/>
        </p:xfrm>
        <a:graphic>
          <a:graphicData uri="http://schemas.openxmlformats.org/drawingml/2006/table">
            <a:tbl>
              <a:tblPr/>
              <a:tblGrid>
                <a:gridCol w="2323129">
                  <a:extLst>
                    <a:ext uri="{9D8B030D-6E8A-4147-A177-3AD203B41FA5}">
                      <a16:colId xmlns:a16="http://schemas.microsoft.com/office/drawing/2014/main" val="218921999"/>
                    </a:ext>
                  </a:extLst>
                </a:gridCol>
                <a:gridCol w="1079028">
                  <a:extLst>
                    <a:ext uri="{9D8B030D-6E8A-4147-A177-3AD203B41FA5}">
                      <a16:colId xmlns:a16="http://schemas.microsoft.com/office/drawing/2014/main" val="262699580"/>
                    </a:ext>
                  </a:extLst>
                </a:gridCol>
                <a:gridCol w="1079028">
                  <a:extLst>
                    <a:ext uri="{9D8B030D-6E8A-4147-A177-3AD203B41FA5}">
                      <a16:colId xmlns:a16="http://schemas.microsoft.com/office/drawing/2014/main" val="1022899933"/>
                    </a:ext>
                  </a:extLst>
                </a:gridCol>
                <a:gridCol w="1079028">
                  <a:extLst>
                    <a:ext uri="{9D8B030D-6E8A-4147-A177-3AD203B41FA5}">
                      <a16:colId xmlns:a16="http://schemas.microsoft.com/office/drawing/2014/main" val="989665368"/>
                    </a:ext>
                  </a:extLst>
                </a:gridCol>
                <a:gridCol w="1079028">
                  <a:extLst>
                    <a:ext uri="{9D8B030D-6E8A-4147-A177-3AD203B41FA5}">
                      <a16:colId xmlns:a16="http://schemas.microsoft.com/office/drawing/2014/main" val="3715526490"/>
                    </a:ext>
                  </a:extLst>
                </a:gridCol>
                <a:gridCol w="1079028">
                  <a:extLst>
                    <a:ext uri="{9D8B030D-6E8A-4147-A177-3AD203B41FA5}">
                      <a16:colId xmlns:a16="http://schemas.microsoft.com/office/drawing/2014/main" val="3974624529"/>
                    </a:ext>
                  </a:extLst>
                </a:gridCol>
                <a:gridCol w="1079028">
                  <a:extLst>
                    <a:ext uri="{9D8B030D-6E8A-4147-A177-3AD203B41FA5}">
                      <a16:colId xmlns:a16="http://schemas.microsoft.com/office/drawing/2014/main" val="1853396157"/>
                    </a:ext>
                  </a:extLst>
                </a:gridCol>
                <a:gridCol w="1079028">
                  <a:extLst>
                    <a:ext uri="{9D8B030D-6E8A-4147-A177-3AD203B41FA5}">
                      <a16:colId xmlns:a16="http://schemas.microsoft.com/office/drawing/2014/main" val="3574556571"/>
                    </a:ext>
                  </a:extLst>
                </a:gridCol>
              </a:tblGrid>
              <a:tr h="38545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Kaikki vastaajat, n=425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Kokemusta omaavat,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n=289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 kokemusta,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n=64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Ammattilaiset,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n=115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743832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Ammattitaitoinen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A9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B2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10098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Kohtelee ihmisiä arvostavasti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AA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49103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Välittävä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B2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4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741211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Kodikas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849193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laadukkaita hoivapalveluita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C1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E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7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064021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Luotettava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B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437324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Mahdollistaa hyvän arjen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9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B2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554784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Inhimillinen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CF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CF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167600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Rehellinen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9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A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795137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Kehittää toimintatapojaan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9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8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184355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Edelläkävijä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EB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7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875185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monipuolista ruokaa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8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64089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Ahne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2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8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875097"/>
                  </a:ext>
                </a:extLst>
              </a:tr>
              <a:tr h="24538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Välinpitämätön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848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1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1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350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5410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1A7D-5675-715B-450D-BB23D3D23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E2EFB-9231-E1B0-C10E-2C2CA4603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50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534DE5-27DE-0EB7-8B3E-CD7CF43DEF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24790"/>
            <a:ext cx="9301162" cy="323689"/>
          </a:xfrm>
        </p:spPr>
        <p:txBody>
          <a:bodyPr/>
          <a:lstStyle/>
          <a:p>
            <a:r>
              <a:rPr lang="fi-FI" sz="1200" b="1" dirty="0"/>
              <a:t>Validia</a:t>
            </a:r>
            <a:r>
              <a:rPr lang="fi-FI" sz="1200" b="1" noProof="0" dirty="0"/>
              <a:t>:</a:t>
            </a:r>
            <a:r>
              <a:rPr lang="fi-FI" sz="1200" noProof="0" dirty="0"/>
              <a:t> Arvioi nyt tarkemmin mielikuvaasi kustakin yksityisestä palveluntarjoajasta, jonka kerroit tuntevasi vähintään nimeltä. Kuinka hyvin seuraavat ominaisuudet vastaavat mielikuvaasi? Vastaa asteikolla 1-5, jossa 1 = Ei vastaa lainkaan ja 5 = Vastaa erittäin hyvin (n=</a:t>
            </a:r>
            <a:r>
              <a:rPr lang="fi-FI" sz="1200" dirty="0"/>
              <a:t>334</a:t>
            </a:r>
            <a:r>
              <a:rPr lang="fi-FI" sz="1200" noProof="0" dirty="0"/>
              <a:t>)</a:t>
            </a:r>
          </a:p>
          <a:p>
            <a:endParaRPr lang="fi-FI" sz="1200" dirty="0"/>
          </a:p>
          <a:p>
            <a:r>
              <a:rPr lang="fi-FI" sz="1200" b="1" noProof="0" dirty="0"/>
              <a:t>Kaikki, jotka vastasivat 4 tai 5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082F906-4955-7DA0-DC96-680DC39E7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2" y="655984"/>
            <a:ext cx="10799136" cy="868589"/>
          </a:xfrm>
        </p:spPr>
        <p:txBody>
          <a:bodyPr/>
          <a:lstStyle/>
          <a:p>
            <a:r>
              <a:rPr lang="fi-FI" dirty="0"/>
              <a:t>Validiaan yhdistetyt mielikuvat ovat säilyneet samankaltaisina toukokuusta. Se nähdään yleisimmin </a:t>
            </a:r>
            <a:r>
              <a:rPr lang="fi-FI" i="1" dirty="0"/>
              <a:t>ammattitaitoisena, välittävänä </a:t>
            </a:r>
            <a:r>
              <a:rPr lang="fi-FI" dirty="0"/>
              <a:t>ja </a:t>
            </a:r>
            <a:r>
              <a:rPr lang="fi-FI" i="1" dirty="0"/>
              <a:t>laadukkaita hoivapalveluita tarjoavana</a:t>
            </a:r>
            <a:endParaRPr lang="fi-FI" i="1" noProof="0" dirty="0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CDDA348A-F2FA-B9D0-55BC-84178642F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2702834"/>
              </p:ext>
            </p:extLst>
          </p:nvPr>
        </p:nvGraphicFramePr>
        <p:xfrm>
          <a:off x="490818" y="2487706"/>
          <a:ext cx="11349317" cy="3919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89172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FDE8-3FF4-D25D-9824-3386C5A3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FC68F-C88E-F45D-6889-E856469C6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51</a:t>
            </a:fld>
            <a:endParaRPr lang="fi-FI" noProof="0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337BFF0-42A6-A225-7807-3EAF962C578E}"/>
              </a:ext>
            </a:extLst>
          </p:cNvPr>
          <p:cNvSpPr txBox="1">
            <a:spLocks/>
          </p:cNvSpPr>
          <p:nvPr/>
        </p:nvSpPr>
        <p:spPr>
          <a:xfrm>
            <a:off x="620487" y="1719989"/>
            <a:ext cx="9301162" cy="32368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b="1" noProof="0" dirty="0"/>
              <a:t>Validia: </a:t>
            </a:r>
            <a:r>
              <a:rPr lang="fi-FI" sz="1200" noProof="0" dirty="0"/>
              <a:t>Arvioi nyt tarkemmin mielikuvaasi kustakin yksityisestä palveluntarjoajasta, jonka kerroit tuntevasi vähintään nimeltä. Kuinka hyvin seuraavat ominaisuudet vastaavat mielikuvaasi? Vastaa asteikolla 1-5, jossa 1 = Ei vastaa lainkaan ja 5 = Vastaa erittäin hyvin.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1EACE5D3-9FAA-DD39-33C1-D2F26C1CA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noProof="0" dirty="0" err="1"/>
              <a:t>Validian</a:t>
            </a:r>
            <a:r>
              <a:rPr lang="fi-FI" noProof="0" dirty="0"/>
              <a:t> kohdalla on yhä suuria eroja eri kohderyhmien välillä. Kokemusta omaavat yhdistävät siihen positiivisia ominaisuuksia yhä </a:t>
            </a:r>
            <a:r>
              <a:rPr lang="fi-FI" dirty="0"/>
              <a:t>muita kohderyhmiä </a:t>
            </a:r>
            <a:r>
              <a:rPr lang="fi-FI" noProof="0" dirty="0"/>
              <a:t>useammin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A5999C-6FAE-57F4-F51E-ABAAF78A0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025095"/>
              </p:ext>
            </p:extLst>
          </p:nvPr>
        </p:nvGraphicFramePr>
        <p:xfrm>
          <a:off x="633014" y="2173048"/>
          <a:ext cx="9838746" cy="3877019"/>
        </p:xfrm>
        <a:graphic>
          <a:graphicData uri="http://schemas.openxmlformats.org/drawingml/2006/table">
            <a:tbl>
              <a:tblPr/>
              <a:tblGrid>
                <a:gridCol w="2384754">
                  <a:extLst>
                    <a:ext uri="{9D8B030D-6E8A-4147-A177-3AD203B41FA5}">
                      <a16:colId xmlns:a16="http://schemas.microsoft.com/office/drawing/2014/main" val="556072358"/>
                    </a:ext>
                  </a:extLst>
                </a:gridCol>
                <a:gridCol w="1064856">
                  <a:extLst>
                    <a:ext uri="{9D8B030D-6E8A-4147-A177-3AD203B41FA5}">
                      <a16:colId xmlns:a16="http://schemas.microsoft.com/office/drawing/2014/main" val="2386158554"/>
                    </a:ext>
                  </a:extLst>
                </a:gridCol>
                <a:gridCol w="1064856">
                  <a:extLst>
                    <a:ext uri="{9D8B030D-6E8A-4147-A177-3AD203B41FA5}">
                      <a16:colId xmlns:a16="http://schemas.microsoft.com/office/drawing/2014/main" val="1535589226"/>
                    </a:ext>
                  </a:extLst>
                </a:gridCol>
                <a:gridCol w="1064856">
                  <a:extLst>
                    <a:ext uri="{9D8B030D-6E8A-4147-A177-3AD203B41FA5}">
                      <a16:colId xmlns:a16="http://schemas.microsoft.com/office/drawing/2014/main" val="3844968657"/>
                    </a:ext>
                  </a:extLst>
                </a:gridCol>
                <a:gridCol w="1064856">
                  <a:extLst>
                    <a:ext uri="{9D8B030D-6E8A-4147-A177-3AD203B41FA5}">
                      <a16:colId xmlns:a16="http://schemas.microsoft.com/office/drawing/2014/main" val="2137346297"/>
                    </a:ext>
                  </a:extLst>
                </a:gridCol>
                <a:gridCol w="1064856">
                  <a:extLst>
                    <a:ext uri="{9D8B030D-6E8A-4147-A177-3AD203B41FA5}">
                      <a16:colId xmlns:a16="http://schemas.microsoft.com/office/drawing/2014/main" val="801915182"/>
                    </a:ext>
                  </a:extLst>
                </a:gridCol>
                <a:gridCol w="1064856">
                  <a:extLst>
                    <a:ext uri="{9D8B030D-6E8A-4147-A177-3AD203B41FA5}">
                      <a16:colId xmlns:a16="http://schemas.microsoft.com/office/drawing/2014/main" val="1655251024"/>
                    </a:ext>
                  </a:extLst>
                </a:gridCol>
                <a:gridCol w="1064856">
                  <a:extLst>
                    <a:ext uri="{9D8B030D-6E8A-4147-A177-3AD203B41FA5}">
                      <a16:colId xmlns:a16="http://schemas.microsoft.com/office/drawing/2014/main" val="2085060286"/>
                    </a:ext>
                  </a:extLst>
                </a:gridCol>
              </a:tblGrid>
              <a:tr h="380771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Kaikki vastaajat,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n=334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Kokemusta omaavat,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n=208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Ei kokemusta,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n=43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Ammattilaiset,</a:t>
                      </a:r>
                    </a:p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n=132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i-FI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111372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Ammattitaitoinen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8A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A9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462460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Välittävä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8E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0B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E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60071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laadukkaita hoivapalveluita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9A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738835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Inhimillinen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9E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0B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A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682225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Luotettava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B0B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168199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Kohtelee ihmisiä arvostavasti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A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E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97721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Rehellinen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8B6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9E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376604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Mahdollistaa hyvän arjen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2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873967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Ahne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4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463757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Kehittää toimintatapojaan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6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149719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Kodikas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1551937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Tarjoaa monipuolista ruokaa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5F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691600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Edelläkävijä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9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+4 %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0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39867"/>
                  </a:ext>
                </a:extLst>
              </a:tr>
              <a:tr h="249732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Välinpitämätön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4C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+7 %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B3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i-FI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0 %</a:t>
                      </a:r>
                    </a:p>
                  </a:txBody>
                  <a:tcPr marL="4830" marR="4830" marT="483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6761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535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8B69-BA0E-DB34-8828-D36A1FF8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1" y="2647826"/>
            <a:ext cx="8821739" cy="2124075"/>
          </a:xfrm>
        </p:spPr>
        <p:txBody>
          <a:bodyPr vert="horz" lIns="36000" tIns="36000" rIns="36000" bIns="36000" rtlCol="0" anchor="b">
            <a:noAutofit/>
          </a:bodyPr>
          <a:lstStyle/>
          <a:p>
            <a:r>
              <a:rPr lang="fi-FI" sz="6600" cap="none" noProof="0" dirty="0">
                <a:latin typeface="Lumios Marker" panose="00000500000000000000" pitchFamily="50" charset="0"/>
              </a:rPr>
              <a:t>Halukkuus valita/suositella</a:t>
            </a:r>
          </a:p>
        </p:txBody>
      </p:sp>
    </p:spTree>
    <p:extLst>
      <p:ext uri="{BB962C8B-B14F-4D97-AF65-F5344CB8AC3E}">
        <p14:creationId xmlns:p14="http://schemas.microsoft.com/office/powerpoint/2010/main" val="8441243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57730-B46D-0350-9976-E49A9B7C9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53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BBE9DA-4A51-8048-2E3F-041DA244AB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08608"/>
            <a:ext cx="9301162" cy="525829"/>
          </a:xfrm>
        </p:spPr>
        <p:txBody>
          <a:bodyPr/>
          <a:lstStyle/>
          <a:p>
            <a:r>
              <a:rPr lang="fi-FI" sz="1200" noProof="0" dirty="0"/>
              <a:t>Mitä alla olevista palveluntarjoajista voisit kuvitella valitsevasi itsellesi tai suosittelevasi läheisellesi? Valitse kaikki, joita voisit kuvitella valitsevasi tai suosittelevasi. (</a:t>
            </a:r>
            <a:r>
              <a:rPr lang="fi-FI" sz="1200" i="1" noProof="0" dirty="0"/>
              <a:t>muut paitsi ammattilaiset</a:t>
            </a:r>
            <a:r>
              <a:rPr lang="fi-FI" sz="1200" noProof="0" dirty="0"/>
              <a:t>, n=</a:t>
            </a:r>
            <a:r>
              <a:rPr lang="fi-FI" sz="1200" dirty="0"/>
              <a:t>865</a:t>
            </a:r>
            <a:r>
              <a:rPr lang="fi-FI" sz="1200" noProof="0" dirty="0"/>
              <a:t>)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5CEA397-95F3-729C-1918-40D9EDFC31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453280"/>
              </p:ext>
            </p:extLst>
          </p:nvPr>
        </p:nvGraphicFramePr>
        <p:xfrm>
          <a:off x="566057" y="2234437"/>
          <a:ext cx="11074400" cy="4093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2">
            <a:extLst>
              <a:ext uri="{FF2B5EF4-FFF2-40B4-BE49-F238E27FC236}">
                <a16:creationId xmlns:a16="http://schemas.microsoft.com/office/drawing/2014/main" id="{E6313674-C47B-5959-B447-57AE3D70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235419" cy="868589"/>
          </a:xfrm>
        </p:spPr>
        <p:txBody>
          <a:bodyPr/>
          <a:lstStyle/>
          <a:p>
            <a:r>
              <a:rPr lang="fi-FI" noProof="0" dirty="0"/>
              <a:t>Vastaajat suosittelisivat yhä erityisesti julkisia hoivapalveluita</a:t>
            </a:r>
            <a:r>
              <a:rPr lang="fi-FI" dirty="0"/>
              <a:t>. </a:t>
            </a:r>
            <a:r>
              <a:rPr lang="fi-FI" dirty="0" err="1"/>
              <a:t>Attendoa</a:t>
            </a:r>
            <a:r>
              <a:rPr lang="fi-FI" dirty="0"/>
              <a:t> </a:t>
            </a:r>
            <a:r>
              <a:rPr lang="fi-FI" noProof="0" dirty="0"/>
              <a:t>suositellaan aiempaa yleisemmin ja yhä todennäköisemmin kuin muita yksityisiä palveluntarjoajia</a:t>
            </a:r>
          </a:p>
        </p:txBody>
      </p:sp>
    </p:spTree>
    <p:extLst>
      <p:ext uri="{BB962C8B-B14F-4D97-AF65-F5344CB8AC3E}">
        <p14:creationId xmlns:p14="http://schemas.microsoft.com/office/powerpoint/2010/main" val="31099950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57730-B46D-0350-9976-E49A9B7C9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54</a:t>
            </a:fld>
            <a:endParaRPr lang="fi-FI" noProof="0" dirty="0"/>
          </a:p>
        </p:txBody>
      </p:sp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854EEF91-ADA1-296A-88DA-AEA3F4DB81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7742188"/>
              </p:ext>
            </p:extLst>
          </p:nvPr>
        </p:nvGraphicFramePr>
        <p:xfrm>
          <a:off x="2957077" y="2469673"/>
          <a:ext cx="3694608" cy="4036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ontent Placeholder 8">
            <a:extLst>
              <a:ext uri="{FF2B5EF4-FFF2-40B4-BE49-F238E27FC236}">
                <a16:creationId xmlns:a16="http://schemas.microsoft.com/office/drawing/2014/main" id="{2837AACC-5117-DC21-F336-D51289BC74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866287"/>
              </p:ext>
            </p:extLst>
          </p:nvPr>
        </p:nvGraphicFramePr>
        <p:xfrm>
          <a:off x="156260" y="2234437"/>
          <a:ext cx="2854983" cy="4235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38F463-BDF8-AA9E-A7DB-5D1411D658C1}"/>
              </a:ext>
            </a:extLst>
          </p:cNvPr>
          <p:cNvSpPr txBox="1">
            <a:spLocks/>
          </p:cNvSpPr>
          <p:nvPr/>
        </p:nvSpPr>
        <p:spPr>
          <a:xfrm>
            <a:off x="3958653" y="2205243"/>
            <a:ext cx="1647051" cy="264430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noProof="0" dirty="0"/>
              <a:t>Marraskuu 2024</a:t>
            </a:r>
            <a:endParaRPr lang="fi-FI" sz="1600" b="1" noProof="0" dirty="0">
              <a:highlight>
                <a:srgbClr val="FFFF00"/>
              </a:highlight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19C0C68-5D47-B706-1B8C-9FA49D914058}"/>
              </a:ext>
            </a:extLst>
          </p:cNvPr>
          <p:cNvSpPr txBox="1">
            <a:spLocks/>
          </p:cNvSpPr>
          <p:nvPr/>
        </p:nvSpPr>
        <p:spPr>
          <a:xfrm>
            <a:off x="1036440" y="2205665"/>
            <a:ext cx="1740921" cy="288764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noProof="0" dirty="0"/>
              <a:t>Toukokuu 2024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77A24B0-F956-82D8-D86C-9743C091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487331" cy="868589"/>
          </a:xfrm>
        </p:spPr>
        <p:txBody>
          <a:bodyPr/>
          <a:lstStyle/>
          <a:p>
            <a:r>
              <a:rPr lang="fi-FI" noProof="0" dirty="0" err="1"/>
              <a:t>Attendon</a:t>
            </a:r>
            <a:r>
              <a:rPr lang="fi-FI" noProof="0" dirty="0"/>
              <a:t> suosittelu on yhä selvästi vähäisintä kokemattomien keskuudessa. Kokemusta omaavien keskuudessa </a:t>
            </a:r>
            <a:r>
              <a:rPr lang="fi-FI" noProof="0" dirty="0" err="1"/>
              <a:t>Attendoa</a:t>
            </a:r>
            <a:r>
              <a:rPr lang="fi-FI" noProof="0" dirty="0"/>
              <a:t> suosittelevien osuus on noussut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E5318ED-2557-4CD6-0485-E63D90B497CE}"/>
              </a:ext>
            </a:extLst>
          </p:cNvPr>
          <p:cNvSpPr txBox="1">
            <a:spLocks/>
          </p:cNvSpPr>
          <p:nvPr/>
        </p:nvSpPr>
        <p:spPr>
          <a:xfrm>
            <a:off x="620487" y="1708608"/>
            <a:ext cx="9301162" cy="525829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1200" dirty="0"/>
              <a:t>Mitä alla olevista palveluntarjoajista voisit kuvitella valitsevasi itsellesi tai suosittelevasi läheisellesi? Valitse kaikki, joita voisit kuvitella valitsevasi tai suosittelevasi.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4C4C5D7-8869-70C7-9ACE-316351E40AAE}"/>
              </a:ext>
            </a:extLst>
          </p:cNvPr>
          <p:cNvSpPr txBox="1">
            <a:spLocks/>
          </p:cNvSpPr>
          <p:nvPr/>
        </p:nvSpPr>
        <p:spPr>
          <a:xfrm>
            <a:off x="6703426" y="2205243"/>
            <a:ext cx="1740921" cy="288764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noProof="0" dirty="0"/>
              <a:t>Toukokuu 2025</a:t>
            </a:r>
          </a:p>
        </p:txBody>
      </p:sp>
      <p:graphicFrame>
        <p:nvGraphicFramePr>
          <p:cNvPr id="14" name="Content Placeholder 8">
            <a:extLst>
              <a:ext uri="{FF2B5EF4-FFF2-40B4-BE49-F238E27FC236}">
                <a16:creationId xmlns:a16="http://schemas.microsoft.com/office/drawing/2014/main" id="{9294015D-FFA6-4EEB-AE83-29F8B07C4E5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128528"/>
              </p:ext>
            </p:extLst>
          </p:nvPr>
        </p:nvGraphicFramePr>
        <p:xfrm>
          <a:off x="8421565" y="2545438"/>
          <a:ext cx="4361905" cy="4036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Content Placeholder 8">
            <a:extLst>
              <a:ext uri="{FF2B5EF4-FFF2-40B4-BE49-F238E27FC236}">
                <a16:creationId xmlns:a16="http://schemas.microsoft.com/office/drawing/2014/main" id="{29F94A8B-6F0F-1479-68B4-438C496E77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4519256"/>
              </p:ext>
            </p:extLst>
          </p:nvPr>
        </p:nvGraphicFramePr>
        <p:xfrm>
          <a:off x="5768542" y="2469672"/>
          <a:ext cx="3902236" cy="4036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74181-624F-DDE4-E944-D52994BF7E1A}"/>
              </a:ext>
            </a:extLst>
          </p:cNvPr>
          <p:cNvSpPr txBox="1">
            <a:spLocks/>
          </p:cNvSpPr>
          <p:nvPr/>
        </p:nvSpPr>
        <p:spPr>
          <a:xfrm>
            <a:off x="9562436" y="2207190"/>
            <a:ext cx="1740921" cy="288764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sv-S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3400" indent="-2619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6450" indent="-2730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7913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−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9375" indent="-2714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i-FI" sz="1600" b="1" dirty="0"/>
              <a:t>Marraskuu</a:t>
            </a:r>
            <a:r>
              <a:rPr lang="fi-FI" sz="1600" b="1" noProof="0" dirty="0"/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4895371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EA602-CF31-2EED-AEAE-33D79ECC9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E37AC7-33D9-447F-B835-411F63F8169F}" type="slidenum">
              <a:rPr lang="fi-FI" noProof="0" smtClean="0"/>
              <a:pPr/>
              <a:t>55</a:t>
            </a:fld>
            <a:endParaRPr lang="fi-FI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EE0B7-D86E-CA23-EBE1-41CBBD4CBE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487" y="1704148"/>
            <a:ext cx="9301162" cy="323689"/>
          </a:xfrm>
        </p:spPr>
        <p:txBody>
          <a:bodyPr/>
          <a:lstStyle/>
          <a:p>
            <a:r>
              <a:rPr lang="fi-FI" sz="1200" noProof="0" dirty="0"/>
              <a:t>Kerroit työskenteleväsi tai työskennelleesi hoiva-alalla. Mitä alla olevista palveluntarjoajista voisit suositella työnantajana? Valitse kaikki, joita voisit kuvitella suosittelevasi. (</a:t>
            </a:r>
            <a:r>
              <a:rPr lang="fi-FI" sz="1200" i="1" noProof="0" dirty="0"/>
              <a:t>ammattilaiset</a:t>
            </a:r>
            <a:r>
              <a:rPr lang="fi-FI" sz="1200" noProof="0" dirty="0"/>
              <a:t>, n=</a:t>
            </a:r>
            <a:r>
              <a:rPr lang="fi-FI" sz="1200" dirty="0"/>
              <a:t>216</a:t>
            </a:r>
            <a:r>
              <a:rPr lang="fi-FI" sz="1200" noProof="0" dirty="0"/>
              <a:t>)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7FF1527-776D-E2F9-B0E0-FB81023269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635596"/>
              </p:ext>
            </p:extLst>
          </p:nvPr>
        </p:nvGraphicFramePr>
        <p:xfrm>
          <a:off x="566738" y="2090057"/>
          <a:ext cx="11074400" cy="43223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2">
            <a:extLst>
              <a:ext uri="{FF2B5EF4-FFF2-40B4-BE49-F238E27FC236}">
                <a16:creationId xmlns:a16="http://schemas.microsoft.com/office/drawing/2014/main" id="{D0764C6D-A03E-1344-51B0-83CCE737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81" y="655984"/>
            <a:ext cx="11437227" cy="868589"/>
          </a:xfrm>
        </p:spPr>
        <p:txBody>
          <a:bodyPr/>
          <a:lstStyle/>
          <a:p>
            <a:r>
              <a:rPr lang="fi-FI" noProof="0" dirty="0"/>
              <a:t>Ammattilaiset suosittelisivat edelleen todennäköisimmin julkisia hoivapalveluja. Yksityisistä palveluntarjoajista suositellaan </a:t>
            </a:r>
            <a:r>
              <a:rPr lang="fi-FI" noProof="0" dirty="0" err="1"/>
              <a:t>Attendoa</a:t>
            </a:r>
            <a:r>
              <a:rPr lang="fi-FI" dirty="0"/>
              <a:t> useimmin, monen muun kohdalla on laskua aiemmasta</a:t>
            </a:r>
            <a:endParaRPr lang="fi-FI" noProof="0" dirty="0"/>
          </a:p>
        </p:txBody>
      </p:sp>
    </p:spTree>
    <p:extLst>
      <p:ext uri="{BB962C8B-B14F-4D97-AF65-F5344CB8AC3E}">
        <p14:creationId xmlns:p14="http://schemas.microsoft.com/office/powerpoint/2010/main" val="27669652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732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083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-%m-%d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2&quot;&gt;&lt;elem m_fUsage=&quot;1.89999999999999991118E+00&quot;&gt;&lt;m_msothmcolidx val=&quot;0&quot;/&gt;&lt;m_rgb r=&quot;FD&quot; g=&quot;FB&quot; b=&quot;F9&quot;/&gt;&lt;/elem&gt;&lt;elem m_fUsage=&quot;1.53899999999999992362E+00&quot;&gt;&lt;m_msothmcolidx val=&quot;0&quot;/&gt;&lt;m_rgb r=&quot;F2&quot; g=&quot;EB&quot; b=&quot;E1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  <p:tag name="L1_COLOR1" val="15791609"/>
  <p:tag name="L1_COLOR2" val="16777215"/>
  <p:tag name="L2_COLOR1" val="4795666"/>
  <p:tag name="L2_COLOR2" val="4795666"/>
  <p:tag name="L3_COLOR1" val="11524090"/>
  <p:tag name="L3_COLOR2" val="16777215"/>
  <p:tag name="L4_COLOR1" val="9474300"/>
  <p:tag name="L4_COLOR2" val="16777215"/>
  <p:tag name="L5_COLOR1" val="15791609"/>
  <p:tag name="L5_COLOR2" val="16777215"/>
  <p:tag name="L6_COLOR1" val="15791609"/>
  <p:tag name="L6_COLOR2" val="16777215"/>
  <p:tag name="L7_COLOR1" val="15791609"/>
  <p:tag name="L7_COLOR2" val="16777215"/>
  <p:tag name="L8_COLOR1" val="15791609"/>
  <p:tag name="L8_COLOR2" val="16777215"/>
  <p:tag name="L9_COLOR1" val="15791609"/>
  <p:tag name="L9_COLOR2" val="16777215"/>
  <p:tag name="L10_COLOR1" val="15791609"/>
  <p:tag name="L10_COLOR2" val="16777215"/>
  <p:tag name="L11_COLOR1" val="15791609"/>
  <p:tag name="L11_COLOR2" val="16777215"/>
  <p:tag name="L12_COLOR1" val="15791609"/>
  <p:tag name="L12_COLOR2" val="16777215"/>
  <p:tag name="L13_COLOR1" val="15791609"/>
  <p:tag name="L13_COLOR2" val="16777215"/>
  <p:tag name="L14_COLOR1" val="15791609"/>
  <p:tag name="L14_COLOR2" val="16777215"/>
  <p:tag name="L15_COLOR1" val="15791609"/>
  <p:tag name="L15_COLOR2" val="16777215"/>
  <p:tag name="L16_COLOR1" val="15791609"/>
  <p:tag name="L16_COLOR2" val="16777215"/>
  <p:tag name="L17_COLOR1" val="4795666"/>
  <p:tag name="L17_COLOR2" val="4795666"/>
  <p:tag name="L18_COLOR1" val="4795666"/>
  <p:tag name="L18_COLOR2" val="4795666"/>
  <p:tag name="L19_COLOR1" val="4795666"/>
  <p:tag name="L19_COLOR2" val="4795666"/>
  <p:tag name="L20_COLOR1" val="4795666"/>
  <p:tag name="L20_COLOR2" val="4795666"/>
  <p:tag name="L21_COLOR1" val="4795666"/>
  <p:tag name="L21_COLOR2" val="4795666"/>
  <p:tag name="L22_COLOR1" val="10854485"/>
  <p:tag name="L22_COLOR2" val="16777215"/>
  <p:tag name="L23_COLOR1" val="11524090"/>
  <p:tag name="L23_COLOR2" val="16777215"/>
  <p:tag name="L24_COLOR1" val="9474300"/>
  <p:tag name="L24_COLOR2" val="16777215"/>
  <p:tag name="L25_COLOR1" val="15791609"/>
  <p:tag name="L25_COLOR2" val="16777215"/>
  <p:tag name="L26_COLOR1" val="10854485"/>
  <p:tag name="L26_COLOR2" val="16777215"/>
  <p:tag name="L27_COLOR1" val="11524090"/>
  <p:tag name="L27_COLOR2" val="16777215"/>
  <p:tag name="L28_COLOR1" val="9474300"/>
  <p:tag name="L28_COLOR2" val="167772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ttendo documentation">
  <a:themeElements>
    <a:clrScheme name="Attendo">
      <a:dk1>
        <a:sysClr val="windowText" lastClr="000000"/>
      </a:dk1>
      <a:lt1>
        <a:sysClr val="window" lastClr="FFFFFF"/>
      </a:lt1>
      <a:dk2>
        <a:srgbClr val="FC9090"/>
      </a:dk2>
      <a:lt2>
        <a:srgbClr val="F2EBE1"/>
      </a:lt2>
      <a:accent1>
        <a:srgbClr val="122D49"/>
      </a:accent1>
      <a:accent2>
        <a:srgbClr val="7EA96C"/>
      </a:accent2>
      <a:accent3>
        <a:srgbClr val="3D7098"/>
      </a:accent3>
      <a:accent4>
        <a:srgbClr val="F6B772"/>
      </a:accent4>
      <a:accent5>
        <a:srgbClr val="4E9398"/>
      </a:accent5>
      <a:accent6>
        <a:srgbClr val="C74F96"/>
      </a:accent6>
      <a:hlink>
        <a:srgbClr val="0563C1"/>
      </a:hlink>
      <a:folHlink>
        <a:srgbClr val="954F72"/>
      </a:folHlink>
    </a:clrScheme>
    <a:fontScheme name="Anpassat 2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2EBE1"/>
        </a:solidFill>
        <a:ln>
          <a:noFill/>
        </a:ln>
      </a:spPr>
      <a:bodyPr rtlCol="0" anchor="ctr"/>
      <a:lstStyle>
        <a:defPPr algn="ctr"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ttendo PPT-mall.potx" id="{B12762CB-11D3-4086-9F02-115B7AAC03CF}" vid="{43ECD7C9-5462-4EE3-8B60-3EAE65FD62C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BCBF2E9B84045944B26A8E3A0ABC61BD" ma:contentTypeVersion="19" ma:contentTypeDescription="Luo uusi asiakirja." ma:contentTypeScope="" ma:versionID="c0f7f95580c739fc4b1a9e984f1b28bc">
  <xsd:schema xmlns:xsd="http://www.w3.org/2001/XMLSchema" xmlns:xs="http://www.w3.org/2001/XMLSchema" xmlns:p="http://schemas.microsoft.com/office/2006/metadata/properties" xmlns:ns2="cff3abc3-7922-496b-9881-1425d844762e" xmlns:ns3="7a413d4a-fb3e-4051-9fe5-c791fc00ea27" targetNamespace="http://schemas.microsoft.com/office/2006/metadata/properties" ma:root="true" ma:fieldsID="b1d011c889049293564c5032979d9715" ns2:_="" ns3:_="">
    <xsd:import namespace="cff3abc3-7922-496b-9881-1425d844762e"/>
    <xsd:import namespace="7a413d4a-fb3e-4051-9fe5-c791fc00ea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f3abc3-7922-496b-9881-1425d84476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Kuvien tunnisteet" ma:readOnly="false" ma:fieldId="{5cf76f15-5ced-4ddc-b409-7134ff3c332f}" ma:taxonomyMulti="true" ma:sspId="20e0a3b5-f083-4546-a891-f0bda23325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13d4a-fb3e-4051-9fe5-c791fc00ea2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Jaettu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Jakamisen tiedot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484a9fb-79a7-4ec7-9dd9-a3cba4ee15a3}" ma:internalName="TaxCatchAll" ma:showField="CatchAllData" ma:web="7a413d4a-fb3e-4051-9fe5-c791fc00ea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a413d4a-fb3e-4051-9fe5-c791fc00ea27" xsi:nil="true"/>
    <lcf76f155ced4ddcb4097134ff3c332f xmlns="cff3abc3-7922-496b-9881-1425d844762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21F6A6-71FB-4E0F-B0B3-2AD3E9269F17}"/>
</file>

<file path=customXml/itemProps2.xml><?xml version="1.0" encoding="utf-8"?>
<ds:datastoreItem xmlns:ds="http://schemas.openxmlformats.org/officeDocument/2006/customXml" ds:itemID="{4B6F149E-6FFA-4655-96FD-865A0E019AE4}">
  <ds:schemaRefs>
    <ds:schemaRef ds:uri="http://www.w3.org/XML/1998/namespac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7a413d4a-fb3e-4051-9fe5-c791fc00ea27"/>
    <ds:schemaRef ds:uri="cff3abc3-7922-496b-9881-1425d844762e"/>
  </ds:schemaRefs>
</ds:datastoreItem>
</file>

<file path=customXml/itemProps3.xml><?xml version="1.0" encoding="utf-8"?>
<ds:datastoreItem xmlns:ds="http://schemas.openxmlformats.org/officeDocument/2006/customXml" ds:itemID="{8607F2C4-D7D5-4B2A-9584-B3237FB4BB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Attendo PPT-mall</Template>
  <TotalTime>39206</TotalTime>
  <Words>7121</Words>
  <Application>Microsoft Office PowerPoint</Application>
  <PresentationFormat>Widescreen</PresentationFormat>
  <Paragraphs>1855</Paragraphs>
  <Slides>56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Aptos Narrow</vt:lpstr>
      <vt:lpstr>Arial</vt:lpstr>
      <vt:lpstr>Calibri</vt:lpstr>
      <vt:lpstr>Century Gothic</vt:lpstr>
      <vt:lpstr>Georgia</vt:lpstr>
      <vt:lpstr>Lumios Marker</vt:lpstr>
      <vt:lpstr>MiloPro-Text</vt:lpstr>
      <vt:lpstr>Attendo documentation</vt:lpstr>
      <vt:lpstr>think-cell Slide</vt:lpstr>
      <vt:lpstr>Attendo BRÄNDISEURANTA</vt:lpstr>
      <vt:lpstr>PowerPoint Presentation</vt:lpstr>
      <vt:lpstr>Tavoitteet ja tiedonkeruu</vt:lpstr>
      <vt:lpstr>Taustatiedot ja rekrytointi</vt:lpstr>
      <vt:lpstr>Yhteenveto</vt:lpstr>
      <vt:lpstr>Yhteenveto</vt:lpstr>
      <vt:lpstr>Yhteenveto avainmittareista</vt:lpstr>
      <vt:lpstr>Tutkimustulokset</vt:lpstr>
      <vt:lpstr>Lisätietoa vastaajista</vt:lpstr>
      <vt:lpstr>Vastaajien demografiset tiedot</vt:lpstr>
      <vt:lpstr>Kohderyhmien demografiset tiedot</vt:lpstr>
      <vt:lpstr>Suurimmalla osalla on yhä kokemusta hoivapalveluista asiakkaan läheisenä, useimmiten ikäihmisten hoidosta, kunnan tuottamana</vt:lpstr>
      <vt:lpstr>Bränditietoisuus</vt:lpstr>
      <vt:lpstr>Attendo on yhä tunnetuin yksityisen puolen hoivapalvelujen tarjoaja, sen spontaani tunnettuus on laskenut 1% toukokuusta</vt:lpstr>
      <vt:lpstr>PowerPoint Presentation</vt:lpstr>
      <vt:lpstr>Attendon tunnettuus on pysynyt lähes ennallaan kokemusta omaavien ja ammattilaisten keskuudessa. Kokemattomat tuntevat hoivapalvelun tarjoajia aiempaa harvemmin</vt:lpstr>
      <vt:lpstr>Yleinen käsitys</vt:lpstr>
      <vt:lpstr>Yleinen käsitys yksityisistä palveluntarjoajista on kohentunut toukokuusta ja on nyt yhtä myönteinen kuin julkisista</vt:lpstr>
      <vt:lpstr>Kaikilla muilla kohderyhmillä paitsi kokemattomilla on yhä positiivinen käsitys julkisista palveluntarjoajista. Kokemattomien ja suosittelijoiden käsitys on hieman parantunut toukokuusta</vt:lpstr>
      <vt:lpstr>Käsitys yksityisistä palveluntarjoajista on parantunut kaikissa kohderyhmissä. Suhtautuminen on vähintään yhtä myönteistä kuin julkisiin palveluihin kaikkien ryhmien kohdalla</vt:lpstr>
      <vt:lpstr>Attendon mielikuvat ovat selvästi parantuneet toukokuusta, kuten myös Onnikotien ja Esperin. Humanan kohdalla mielikuvat ovat selvästi vähemmän positiivisia kuin toukokuussa</vt:lpstr>
      <vt:lpstr>Sekä kokemusta omaavien, suosittelijoiden että ammattilaisten keskuudessa mielikuvat Attendosta ovat kohentuneet. Kokemattomilla mielikuvat ovat pysyneet ennallaan</vt:lpstr>
      <vt:lpstr>Attendon suosittelijoiden mielikuvat ovat parantuneet monen palveluntarjoajan osalta, kokemusta omaavien ja ammattilaisten puolestaan heikentyneet monen muun kuin Attendon kohdalla</vt:lpstr>
      <vt:lpstr>Spontaanit brändimielikuvat</vt:lpstr>
      <vt:lpstr>Spontaanisti Attendoa kuvataan yhä tyypillisimmin kalliina, mutta myös luotettavana hieman useammin kuin aiemmin</vt:lpstr>
      <vt:lpstr>Kokemusta omaavat yhdistävät sanan kallis Attendoon yhä yleisimmin, mutta luotettavuus mainitaan aiempaa useammin</vt:lpstr>
      <vt:lpstr>Myös kokemattomien kohdalla sana kallis korostuu yhä selvästi yleisimmin</vt:lpstr>
      <vt:lpstr>Suosittelijat yhdistävät Attendoon yhä positiivisia sanoja, kuten luotettava, huolehtiva, välittävä ja laadukas</vt:lpstr>
      <vt:lpstr>Ammattilaisten keskuudessa korostuvat yhä hyvin samankaltaiset sanat kuin aiemmin, kuten kallis, huono ja kiireinen</vt:lpstr>
      <vt:lpstr>Autetut brändimielikuvat</vt:lpstr>
      <vt:lpstr>Hoivapalvelubrändien mielikuvat ovat profiililtaan jälleen hyvin samankaltaisia. Onnikodit yhdistetään lähes kaikkiin ominaisuuksiin muita palveluntarjoajia useammin</vt:lpstr>
      <vt:lpstr>Onnikoteihin liitetään positiivisia ominaisuuksia selvästi useammin kuin toukokuussa. Attendo koetaan melko samankaltaisena sekä Validian että Esperin kanssa</vt:lpstr>
      <vt:lpstr>Attendoon liitetään erilaisia positiivisia ominaisuuksia hieman useammin kuin aiemmin. Erityisesti ammattitaitoisuudessa, hyvän arjen mahdollistamisessa ja luotettavuudessa on selvää nousua</vt:lpstr>
      <vt:lpstr>Attendoon yhdistetään nyt yleisimmin ominaisuudet ahne, ammattitaitoinen ja mahdollistaa hyvän arjen</vt:lpstr>
      <vt:lpstr>Kaikki kohderyhmät yhdistävät Attendoon positiivisia ominaisuuksia hieman aiempaa useammin. Isoimmat muutokset näkyvät ammattilaisten keskuudessa</vt:lpstr>
      <vt:lpstr> Kun attribuutit ryhmitellään strategisten teemojen mukaan, mielikuvat ovat parantuneet joka ryhmän kohdalla. Attendo yhdistetään yhä vahvimmin Katsomme eteenpäin-teemaan</vt:lpstr>
      <vt:lpstr>Kokemusta omaavat, kokemattomat ja ammattilaiset yhdistävät Attendon yhä vahvimmin Katsomme eteenpäin -teemaan, kun taas suosittelijat liittävät sen Vahvistamme ihmisiä -teemaan</vt:lpstr>
      <vt:lpstr>Esperiin yhdistetään eri ominaisuuksia hieman harvemmin kuin Attendoon. Esperin kohdalla ei ole havaittavissa suuria muutoksia viime mittauskerrasta</vt:lpstr>
      <vt:lpstr>Kohderyhmät yhdistävät erilaisia attribuutteja Esperiin suunnilleen yhtä usein kuin toukokuussa. Kokemattomien kohdalla on havaittavissa pientä nousua viime mittauskerrasta</vt:lpstr>
      <vt:lpstr>Mainio-koteihin liitetään positiivisia attribuutteja hieman aiempaa harvemmin. Suurin muutos nähdään ammattitaitoisuuden kohdalla</vt:lpstr>
      <vt:lpstr>Ammattilaisten keskuudessa on havaittavissa laskua viime mittauskerrasta. Kokemusta omaavat ovat ammattilaisia positiivisempia Mainio-kotien suhteen</vt:lpstr>
      <vt:lpstr>Humanaan liitetyt mielikuvat ovat pääosin hyvin samankaltaisia kuin toukokuussa. Se nähdään kuitenkin luotettavampana ja vähemmän välinpitämättömänä kuin aiemmin</vt:lpstr>
      <vt:lpstr>Kokemusta omaavat liittävät Humanaan erilaisia attribuutteja yhä ammattilaisia yleisemmin, ja ammattilaisten kohdalla on havaittavissa pientä laskua toukokuusta</vt:lpstr>
      <vt:lpstr>Onnikoteihin liitetään positiivisia attribuutteja selvästi useammin kuin toukokuussa. Isoimmat muutokset nähdään monipuolisen ruoan, koetun ammattitaidon ja hyvän arjen mahdollistajana</vt:lpstr>
      <vt:lpstr>Kokemusta omaavat liittävät Onnikoteihin positiivisia attribuutteja yhä selvästi ammattilaisia useammin. Mielikuvat ammattitaitoisuudesta ovat vahvistuneet molemmilla</vt:lpstr>
      <vt:lpstr>Ykköskoteihin yhdistetään eri ominaisuuksiin lähes yhtä usein kuin toukokuussa. Kodikkuuden ja toimintatapojen kehittämisen kohdalla nähdään pientä nousua aiemmasta</vt:lpstr>
      <vt:lpstr>Erityisesti ammattilaisilla on Ykköskodeista hyvinkin positiivinen näkemys. He yhdistävät erilaisia positiivisia ominaisuuksia Ykköskoteihin aiempaa useammin</vt:lpstr>
      <vt:lpstr>Rinnekodit yhdistetään eri ominaisuuksiin yhtä usein kuin aiemminkin. Se nähdään erityisesti ammattitaitoisena ja ihmistä arvostavasti kohtelevana</vt:lpstr>
      <vt:lpstr>Kokemattomien kohdalla on havaittavissa pieniä positiivisia muutoksia toukokuusta, kun taas ammattilaiset yhdistävät Rinnekoteihin positiivisia attribuutteja hieman harvemmin</vt:lpstr>
      <vt:lpstr>Validiaan yhdistetyt mielikuvat ovat säilyneet samankaltaisina toukokuusta. Se nähdään yleisimmin ammattitaitoisena, välittävänä ja laadukkaita hoivapalveluita tarjoavana</vt:lpstr>
      <vt:lpstr>Validian kohdalla on yhä suuria eroja eri kohderyhmien välillä. Kokemusta omaavat yhdistävät siihen positiivisia ominaisuuksia yhä muita kohderyhmiä useammin</vt:lpstr>
      <vt:lpstr>Halukkuus valita/suositella</vt:lpstr>
      <vt:lpstr>Vastaajat suosittelisivat yhä erityisesti julkisia hoivapalveluita. Attendoa suositellaan aiempaa yleisemmin ja yhä todennäköisemmin kuin muita yksityisiä palveluntarjoajia</vt:lpstr>
      <vt:lpstr>Attendon suosittelu on yhä selvästi vähäisintä kokemattomien keskuudessa. Kokemusta omaavien keskuudessa Attendoa suosittelevien osuus on noussut</vt:lpstr>
      <vt:lpstr>Ammattilaiset suosittelisivat edelleen todennäköisimmin julkisia hoivapalveluja. Yksityisistä palveluntarjoajista suositellaan Attendoa useimmin, monen muun kohdalla on laskua aiemmasta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Linda Virtanen</dc:creator>
  <cp:lastModifiedBy>Vilma Nurmela</cp:lastModifiedBy>
  <cp:revision>3</cp:revision>
  <dcterms:created xsi:type="dcterms:W3CDTF">2023-05-23T05:46:22Z</dcterms:created>
  <dcterms:modified xsi:type="dcterms:W3CDTF">2025-12-11T12:35:07Z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0x010100BCBF2E9B84045944B26A8E3A0ABC61BD</vt:lpwstr>
  </property>
  <property fmtid="{D5CDD505-2E9C-101B-9397-08002B2CF9AE}" pid="3" name="MediaServiceImageTags">
    <vt:lpwstr/>
  </property>
</Properties>
</file>